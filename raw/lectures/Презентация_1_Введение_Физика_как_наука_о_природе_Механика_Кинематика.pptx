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1"/>
  </p:notesMasterIdLst>
  <p:handoutMasterIdLst>
    <p:handoutMasterId r:id="rId32"/>
  </p:handoutMasterIdLst>
  <p:sldIdLst>
    <p:sldId id="256" r:id="rId2"/>
    <p:sldId id="283" r:id="rId3"/>
    <p:sldId id="305" r:id="rId4"/>
    <p:sldId id="304" r:id="rId5"/>
    <p:sldId id="306" r:id="rId6"/>
    <p:sldId id="307" r:id="rId7"/>
    <p:sldId id="308" r:id="rId8"/>
    <p:sldId id="284" r:id="rId9"/>
    <p:sldId id="309" r:id="rId10"/>
    <p:sldId id="303" r:id="rId11"/>
    <p:sldId id="285" r:id="rId12"/>
    <p:sldId id="311" r:id="rId13"/>
    <p:sldId id="310" r:id="rId14"/>
    <p:sldId id="313" r:id="rId15"/>
    <p:sldId id="314" r:id="rId16"/>
    <p:sldId id="315" r:id="rId17"/>
    <p:sldId id="316" r:id="rId18"/>
    <p:sldId id="317" r:id="rId19"/>
    <p:sldId id="318" r:id="rId20"/>
    <p:sldId id="319" r:id="rId21"/>
    <p:sldId id="320" r:id="rId22"/>
    <p:sldId id="312" r:id="rId23"/>
    <p:sldId id="327" r:id="rId24"/>
    <p:sldId id="321" r:id="rId25"/>
    <p:sldId id="322" r:id="rId26"/>
    <p:sldId id="323" r:id="rId27"/>
    <p:sldId id="324" r:id="rId28"/>
    <p:sldId id="328" r:id="rId29"/>
    <p:sldId id="325" r:id="rId30"/>
  </p:sldIdLst>
  <p:sldSz cx="12192000" cy="6858000"/>
  <p:notesSz cx="6858000" cy="9144000"/>
  <p:embeddedFontLst>
    <p:embeddedFont>
      <p:font typeface="Calibri" panose="020F0502020204030204" pitchFamily="34" charset="0"/>
      <p:regular r:id="rId33"/>
      <p:bold r:id="rId34"/>
      <p:italic r:id="rId35"/>
      <p:boldItalic r:id="rId36"/>
    </p:embeddedFont>
    <p:embeddedFont>
      <p:font typeface="Cambria Math" panose="02040503050406030204" pitchFamily="18" charset="0"/>
      <p:regular r:id="rId37"/>
    </p:embeddedFont>
    <p:embeddedFont>
      <p:font typeface="Montserrat" panose="020B0604020202020204" charset="-52"/>
      <p:regular r:id="rId38"/>
      <p:bold r:id="rId39"/>
      <p:italic r:id="rId40"/>
      <p:boldItalic r:id="rId41"/>
    </p:embeddedFont>
    <p:embeddedFont>
      <p:font typeface="Montserrat SemiBold" panose="020B0604020202020204" charset="-52"/>
      <p:bold r:id="rId42"/>
      <p:boldItalic r:id="rId4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8" userDrawn="1">
          <p15:clr>
            <a:srgbClr val="A4A3A4"/>
          </p15:clr>
        </p15:guide>
        <p15:guide id="2" pos="3863" userDrawn="1">
          <p15:clr>
            <a:srgbClr val="A4A3A4"/>
          </p15:clr>
        </p15:guide>
        <p15:guide id="3" orient="horz" pos="1253"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2C80"/>
    <a:srgbClr val="8C64D8"/>
    <a:srgbClr val="47309C"/>
    <a:srgbClr val="AB337C"/>
    <a:srgbClr val="F4695C"/>
    <a:srgbClr val="E85362"/>
    <a:srgbClr val="E6E6E6"/>
    <a:srgbClr val="FEF134"/>
    <a:srgbClr val="762181"/>
    <a:srgbClr val="3725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2DE63D5-997A-4646-A377-4702673A728D}" styleName="Светлый стиль 2 — акцент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E3FDE45-AF77-4B5C-9715-49D594BDF05E}" styleName="Светлый стиль 1 — акцент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26" autoAdjust="0"/>
    <p:restoredTop sz="94660"/>
  </p:normalViewPr>
  <p:slideViewPr>
    <p:cSldViewPr snapToGrid="0" showGuides="1">
      <p:cViewPr varScale="1">
        <p:scale>
          <a:sx n="88" d="100"/>
          <a:sy n="88" d="100"/>
        </p:scale>
        <p:origin x="336" y="57"/>
      </p:cViewPr>
      <p:guideLst>
        <p:guide orient="horz" pos="4088"/>
        <p:guide pos="3863"/>
        <p:guide orient="horz" pos="1253"/>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23" d="100"/>
          <a:sy n="123" d="100"/>
        </p:scale>
        <p:origin x="-418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9.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8.wmf"/><Relationship Id="rId7" Type="http://schemas.openxmlformats.org/officeDocument/2006/relationships/image" Target="../media/image52.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4"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EB3800C-7CDF-C084-D90D-4408E013F9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05E17235-567C-2278-1D5D-01E2E3C66BB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84E396-A449-4F9D-BBB4-A1F1983412D7}" type="datetimeFigureOut">
              <a:rPr lang="ru-RU" smtClean="0"/>
              <a:t>16.09.2026</a:t>
            </a:fld>
            <a:endParaRPr lang="ru-RU"/>
          </a:p>
        </p:txBody>
      </p:sp>
      <p:sp>
        <p:nvSpPr>
          <p:cNvPr id="4" name="Нижний колонтитул 3">
            <a:extLst>
              <a:ext uri="{FF2B5EF4-FFF2-40B4-BE49-F238E27FC236}">
                <a16:creationId xmlns:a16="http://schemas.microsoft.com/office/drawing/2014/main" id="{DA70B9CB-206B-38A4-26C8-E766F41269D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66353022-ED74-0AD6-B314-ED6B96BD5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4CECA7-2D8D-4DF1-81C5-25E72EC4A7CA}" type="slidenum">
              <a:rPr lang="ru-RU" smtClean="0"/>
              <a:t>‹#›</a:t>
            </a:fld>
            <a:endParaRPr lang="ru-RU"/>
          </a:p>
        </p:txBody>
      </p:sp>
    </p:spTree>
    <p:extLst>
      <p:ext uri="{BB962C8B-B14F-4D97-AF65-F5344CB8AC3E}">
        <p14:creationId xmlns:p14="http://schemas.microsoft.com/office/powerpoint/2010/main" val="114155915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15C5E-BACC-4595-9A65-83767F798284}" type="datetimeFigureOut">
              <a:rPr lang="ru-RU" smtClean="0"/>
              <a:t>16.09.2026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1D740C-20B5-4E60-8754-CE728D546381}" type="slidenum">
              <a:rPr lang="ru-RU" smtClean="0"/>
              <a:t>‹#›</a:t>
            </a:fld>
            <a:endParaRPr lang="ru-RU"/>
          </a:p>
        </p:txBody>
      </p:sp>
    </p:spTree>
    <p:extLst>
      <p:ext uri="{BB962C8B-B14F-4D97-AF65-F5344CB8AC3E}">
        <p14:creationId xmlns:p14="http://schemas.microsoft.com/office/powerpoint/2010/main" val="848067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2</a:t>
            </a:fld>
            <a:endParaRPr lang="ru-RU"/>
          </a:p>
        </p:txBody>
      </p:sp>
    </p:spTree>
    <p:extLst>
      <p:ext uri="{BB962C8B-B14F-4D97-AF65-F5344CB8AC3E}">
        <p14:creationId xmlns:p14="http://schemas.microsoft.com/office/powerpoint/2010/main" val="2185614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3</a:t>
            </a:fld>
            <a:endParaRPr lang="ru-RU"/>
          </a:p>
        </p:txBody>
      </p:sp>
    </p:spTree>
    <p:extLst>
      <p:ext uri="{BB962C8B-B14F-4D97-AF65-F5344CB8AC3E}">
        <p14:creationId xmlns:p14="http://schemas.microsoft.com/office/powerpoint/2010/main" val="49922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4</a:t>
            </a:fld>
            <a:endParaRPr lang="ru-RU"/>
          </a:p>
        </p:txBody>
      </p:sp>
    </p:spTree>
    <p:extLst>
      <p:ext uri="{BB962C8B-B14F-4D97-AF65-F5344CB8AC3E}">
        <p14:creationId xmlns:p14="http://schemas.microsoft.com/office/powerpoint/2010/main" val="2136324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5</a:t>
            </a:fld>
            <a:endParaRPr lang="ru-RU"/>
          </a:p>
        </p:txBody>
      </p:sp>
    </p:spTree>
    <p:extLst>
      <p:ext uri="{BB962C8B-B14F-4D97-AF65-F5344CB8AC3E}">
        <p14:creationId xmlns:p14="http://schemas.microsoft.com/office/powerpoint/2010/main" val="3024610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6</a:t>
            </a:fld>
            <a:endParaRPr lang="ru-RU"/>
          </a:p>
        </p:txBody>
      </p:sp>
    </p:spTree>
    <p:extLst>
      <p:ext uri="{BB962C8B-B14F-4D97-AF65-F5344CB8AC3E}">
        <p14:creationId xmlns:p14="http://schemas.microsoft.com/office/powerpoint/2010/main" val="4180384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7</a:t>
            </a:fld>
            <a:endParaRPr lang="ru-RU"/>
          </a:p>
        </p:txBody>
      </p:sp>
    </p:spTree>
    <p:extLst>
      <p:ext uri="{BB962C8B-B14F-4D97-AF65-F5344CB8AC3E}">
        <p14:creationId xmlns:p14="http://schemas.microsoft.com/office/powerpoint/2010/main" val="3451870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8</a:t>
            </a:fld>
            <a:endParaRPr lang="ru-RU"/>
          </a:p>
        </p:txBody>
      </p:sp>
    </p:spTree>
    <p:extLst>
      <p:ext uri="{BB962C8B-B14F-4D97-AF65-F5344CB8AC3E}">
        <p14:creationId xmlns:p14="http://schemas.microsoft.com/office/powerpoint/2010/main" val="3581952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9</a:t>
            </a:fld>
            <a:endParaRPr lang="ru-RU"/>
          </a:p>
        </p:txBody>
      </p:sp>
    </p:spTree>
    <p:extLst>
      <p:ext uri="{BB962C8B-B14F-4D97-AF65-F5344CB8AC3E}">
        <p14:creationId xmlns:p14="http://schemas.microsoft.com/office/powerpoint/2010/main" val="2408994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10</a:t>
            </a:fld>
            <a:endParaRPr lang="ru-RU"/>
          </a:p>
        </p:txBody>
      </p:sp>
    </p:spTree>
    <p:extLst>
      <p:ext uri="{BB962C8B-B14F-4D97-AF65-F5344CB8AC3E}">
        <p14:creationId xmlns:p14="http://schemas.microsoft.com/office/powerpoint/2010/main" val="3313471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11</a:t>
            </a:fld>
            <a:endParaRPr lang="ru-RU"/>
          </a:p>
        </p:txBody>
      </p:sp>
    </p:spTree>
    <p:extLst>
      <p:ext uri="{BB962C8B-B14F-4D97-AF65-F5344CB8AC3E}">
        <p14:creationId xmlns:p14="http://schemas.microsoft.com/office/powerpoint/2010/main" val="1836624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12</a:t>
            </a:fld>
            <a:endParaRPr lang="ru-RU"/>
          </a:p>
        </p:txBody>
      </p:sp>
    </p:spTree>
    <p:extLst>
      <p:ext uri="{BB962C8B-B14F-4D97-AF65-F5344CB8AC3E}">
        <p14:creationId xmlns:p14="http://schemas.microsoft.com/office/powerpoint/2010/main" val="1961830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13</a:t>
            </a:fld>
            <a:endParaRPr lang="ru-RU"/>
          </a:p>
        </p:txBody>
      </p:sp>
    </p:spTree>
    <p:extLst>
      <p:ext uri="{BB962C8B-B14F-4D97-AF65-F5344CB8AC3E}">
        <p14:creationId xmlns:p14="http://schemas.microsoft.com/office/powerpoint/2010/main" val="2651350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14</a:t>
            </a:fld>
            <a:endParaRPr lang="ru-RU"/>
          </a:p>
        </p:txBody>
      </p:sp>
    </p:spTree>
    <p:extLst>
      <p:ext uri="{BB962C8B-B14F-4D97-AF65-F5344CB8AC3E}">
        <p14:creationId xmlns:p14="http://schemas.microsoft.com/office/powerpoint/2010/main" val="3868198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15</a:t>
            </a:fld>
            <a:endParaRPr lang="ru-RU"/>
          </a:p>
        </p:txBody>
      </p:sp>
    </p:spTree>
    <p:extLst>
      <p:ext uri="{BB962C8B-B14F-4D97-AF65-F5344CB8AC3E}">
        <p14:creationId xmlns:p14="http://schemas.microsoft.com/office/powerpoint/2010/main" val="100021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16</a:t>
            </a:fld>
            <a:endParaRPr lang="ru-RU"/>
          </a:p>
        </p:txBody>
      </p:sp>
    </p:spTree>
    <p:extLst>
      <p:ext uri="{BB962C8B-B14F-4D97-AF65-F5344CB8AC3E}">
        <p14:creationId xmlns:p14="http://schemas.microsoft.com/office/powerpoint/2010/main" val="3122528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17</a:t>
            </a:fld>
            <a:endParaRPr lang="ru-RU"/>
          </a:p>
        </p:txBody>
      </p:sp>
    </p:spTree>
    <p:extLst>
      <p:ext uri="{BB962C8B-B14F-4D97-AF65-F5344CB8AC3E}">
        <p14:creationId xmlns:p14="http://schemas.microsoft.com/office/powerpoint/2010/main" val="3795174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E91D740C-20B5-4E60-8754-CE728D546381}" type="slidenum">
              <a:rPr lang="ru-RU" smtClean="0"/>
              <a:t>18</a:t>
            </a:fld>
            <a:endParaRPr lang="ru-RU"/>
          </a:p>
        </p:txBody>
      </p:sp>
    </p:spTree>
    <p:extLst>
      <p:ext uri="{BB962C8B-B14F-4D97-AF65-F5344CB8AC3E}">
        <p14:creationId xmlns:p14="http://schemas.microsoft.com/office/powerpoint/2010/main" val="10100251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3F0BFAD1-6838-18A7-4A3E-16FF547A94A1}"/>
              </a:ext>
            </a:extLst>
          </p:cNvPr>
          <p:cNvSpPr/>
          <p:nvPr userDrawn="1"/>
        </p:nvSpPr>
        <p:spPr>
          <a:xfrm>
            <a:off x="3615054" y="-108997"/>
            <a:ext cx="8700771" cy="11394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2" name="Рисунок 11">
            <a:extLst>
              <a:ext uri="{FF2B5EF4-FFF2-40B4-BE49-F238E27FC236}">
                <a16:creationId xmlns:a16="http://schemas.microsoft.com/office/drawing/2014/main" id="{EB5D9CA4-CC67-0283-B71A-9674699B1F9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2573" b="2573"/>
          <a:stretch/>
        </p:blipFill>
        <p:spPr>
          <a:xfrm>
            <a:off x="-76200" y="-108997"/>
            <a:ext cx="3691255" cy="7002557"/>
          </a:xfrm>
          <a:prstGeom prst="rect">
            <a:avLst/>
          </a:prstGeom>
        </p:spPr>
      </p:pic>
      <p:sp>
        <p:nvSpPr>
          <p:cNvPr id="13" name="Прямоугольник 12">
            <a:extLst>
              <a:ext uri="{FF2B5EF4-FFF2-40B4-BE49-F238E27FC236}">
                <a16:creationId xmlns:a16="http://schemas.microsoft.com/office/drawing/2014/main" id="{89088690-BEAF-E34B-779B-AFAD201BB6BE}"/>
              </a:ext>
            </a:extLst>
          </p:cNvPr>
          <p:cNvSpPr/>
          <p:nvPr userDrawn="1"/>
        </p:nvSpPr>
        <p:spPr>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5" name="Текст 34">
            <a:extLst>
              <a:ext uri="{FF2B5EF4-FFF2-40B4-BE49-F238E27FC236}">
                <a16:creationId xmlns:a16="http://schemas.microsoft.com/office/drawing/2014/main" id="{870CE197-A0BD-10B7-6865-2E56D21A5220}"/>
              </a:ext>
            </a:extLst>
          </p:cNvPr>
          <p:cNvSpPr>
            <a:spLocks noGrp="1"/>
          </p:cNvSpPr>
          <p:nvPr>
            <p:ph type="body" sz="quarter" idx="12" hasCustomPrompt="1"/>
          </p:nvPr>
        </p:nvSpPr>
        <p:spPr>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r>
              <a:rPr lang="ru-RU" dirty="0"/>
              <a:t>Поле для дополнительной информации (16</a:t>
            </a:r>
            <a:r>
              <a:rPr lang="en-US" dirty="0"/>
              <a:t>pt</a:t>
            </a:r>
            <a:r>
              <a:rPr lang="ru-RU" dirty="0"/>
              <a:t>)</a:t>
            </a:r>
            <a:br>
              <a:rPr lang="ru-RU" dirty="0"/>
            </a:br>
            <a:r>
              <a:rPr lang="ru-RU" dirty="0"/>
              <a:t>(пример: Фамилия Имя Отчество; Должность; Место проведения)</a:t>
            </a:r>
          </a:p>
        </p:txBody>
      </p:sp>
      <p:sp>
        <p:nvSpPr>
          <p:cNvPr id="40" name="Текст 39">
            <a:extLst>
              <a:ext uri="{FF2B5EF4-FFF2-40B4-BE49-F238E27FC236}">
                <a16:creationId xmlns:a16="http://schemas.microsoft.com/office/drawing/2014/main" id="{D4F670BC-BED3-C18D-C539-F105837991CB}"/>
              </a:ext>
            </a:extLst>
          </p:cNvPr>
          <p:cNvSpPr>
            <a:spLocks noGrp="1"/>
          </p:cNvSpPr>
          <p:nvPr>
            <p:ph type="body" sz="quarter" idx="13" hasCustomPrompt="1"/>
          </p:nvPr>
        </p:nvSpPr>
        <p:spPr>
          <a:xfrm>
            <a:off x="3800791" y="4003199"/>
            <a:ext cx="8050849" cy="1655762"/>
          </a:xfrm>
        </p:spPr>
        <p:txBody>
          <a:bodyPr/>
          <a:lstStyle>
            <a:lvl1pPr marL="0" indent="0">
              <a:buNone/>
              <a:defRPr sz="2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dirty="0">
                <a:latin typeface="Montserrat" panose="00000500000000000000" pitchFamily="2" charset="-52"/>
              </a:rPr>
              <a:t>Если информации много, то</a:t>
            </a:r>
            <a:r>
              <a:rPr lang="en-US" dirty="0">
                <a:latin typeface="Montserrat" panose="00000500000000000000" pitchFamily="2" charset="-52"/>
              </a:rPr>
              <a:t> </a:t>
            </a:r>
            <a:r>
              <a:rPr lang="ru-RU" dirty="0">
                <a:latin typeface="Montserrat" panose="00000500000000000000" pitchFamily="2" charset="-52"/>
              </a:rPr>
              <a:t>рекомендуется </a:t>
            </a:r>
            <a:r>
              <a:rPr lang="en-US" dirty="0">
                <a:latin typeface="Montserrat" panose="00000500000000000000" pitchFamily="2" charset="-52"/>
              </a:rPr>
              <a:t> </a:t>
            </a:r>
            <a:r>
              <a:rPr lang="ru-RU" dirty="0">
                <a:latin typeface="Montserrat" panose="00000500000000000000" pitchFamily="2" charset="-52"/>
              </a:rPr>
              <a:t> использовать подзаголовок (24</a:t>
            </a:r>
            <a:r>
              <a:rPr lang="en-US" dirty="0">
                <a:latin typeface="Montserrat" panose="00000500000000000000" pitchFamily="2" charset="-52"/>
              </a:rPr>
              <a:t>pt</a:t>
            </a:r>
            <a:r>
              <a:rPr lang="ru-RU" dirty="0">
                <a:latin typeface="Montserrat" panose="00000500000000000000" pitchFamily="2" charset="-52"/>
              </a:rPr>
              <a:t>)</a:t>
            </a:r>
          </a:p>
          <a:p>
            <a:pPr lvl="0"/>
            <a:endParaRPr lang="ru-RU" dirty="0"/>
          </a:p>
        </p:txBody>
      </p:sp>
      <p:sp>
        <p:nvSpPr>
          <p:cNvPr id="42" name="Текст 41">
            <a:extLst>
              <a:ext uri="{FF2B5EF4-FFF2-40B4-BE49-F238E27FC236}">
                <a16:creationId xmlns:a16="http://schemas.microsoft.com/office/drawing/2014/main" id="{F32C7DD4-A4CB-9593-8EC7-9339A7C6FD25}"/>
              </a:ext>
            </a:extLst>
          </p:cNvPr>
          <p:cNvSpPr>
            <a:spLocks noGrp="1"/>
          </p:cNvSpPr>
          <p:nvPr>
            <p:ph type="body" sz="quarter" idx="14" hasCustomPrompt="1"/>
          </p:nvPr>
        </p:nvSpPr>
        <p:spPr>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ru-RU" dirty="0"/>
              <a:t>Дата (</a:t>
            </a:r>
            <a:r>
              <a:rPr lang="ru-RU" dirty="0" err="1"/>
              <a:t>хх.хх.хххх</a:t>
            </a:r>
            <a:r>
              <a:rPr lang="ru-RU" dirty="0"/>
              <a:t> г.)</a:t>
            </a:r>
          </a:p>
        </p:txBody>
      </p:sp>
      <p:sp>
        <p:nvSpPr>
          <p:cNvPr id="47" name="Заголовок 46">
            <a:extLst>
              <a:ext uri="{FF2B5EF4-FFF2-40B4-BE49-F238E27FC236}">
                <a16:creationId xmlns:a16="http://schemas.microsoft.com/office/drawing/2014/main" id="{23D1282C-B1D6-197F-CEAC-1B8E7D1A30C9}"/>
              </a:ext>
            </a:extLst>
          </p:cNvPr>
          <p:cNvSpPr>
            <a:spLocks noGrp="1"/>
          </p:cNvSpPr>
          <p:nvPr>
            <p:ph type="title" hasCustomPrompt="1"/>
          </p:nvPr>
        </p:nvSpPr>
        <p:spPr>
          <a:xfrm>
            <a:off x="3806188" y="1396366"/>
            <a:ext cx="8045451" cy="2032634"/>
          </a:xfrm>
        </p:spPr>
        <p:txBody>
          <a:bodyPr/>
          <a:lstStyle>
            <a:lvl1pPr>
              <a:defRPr sz="4000" b="0">
                <a:latin typeface="Montserrat SemiBold" panose="00000700000000000000" pitchFamily="2" charset="-52"/>
              </a:defRPr>
            </a:lvl1pPr>
          </a:lstStyle>
          <a:p>
            <a:r>
              <a:rPr lang="ru-RU" sz="4000" dirty="0">
                <a:latin typeface="Montserrat" panose="00000500000000000000" pitchFamily="2" charset="-52"/>
              </a:rPr>
              <a:t>Название презентации может быть набрано </a:t>
            </a:r>
            <a:br>
              <a:rPr lang="ru-RU" sz="4000" dirty="0">
                <a:latin typeface="Montserrat" panose="00000500000000000000" pitchFamily="2" charset="-52"/>
              </a:rPr>
            </a:br>
            <a:r>
              <a:rPr lang="ru-RU" sz="4000" dirty="0">
                <a:latin typeface="Montserrat" panose="00000500000000000000" pitchFamily="2" charset="-52"/>
              </a:rPr>
              <a:t>в две или три строки</a:t>
            </a:r>
            <a:r>
              <a:rPr lang="en-US" sz="4000" dirty="0">
                <a:latin typeface="Montserrat" panose="00000500000000000000" pitchFamily="2" charset="-52"/>
              </a:rPr>
              <a:t> (</a:t>
            </a:r>
            <a:r>
              <a:rPr lang="ru-RU" sz="4000" dirty="0">
                <a:latin typeface="Montserrat" panose="00000500000000000000" pitchFamily="2" charset="-52"/>
              </a:rPr>
              <a:t>40</a:t>
            </a:r>
            <a:r>
              <a:rPr lang="en-US" sz="4000" dirty="0">
                <a:latin typeface="Montserrat" panose="00000500000000000000" pitchFamily="2" charset="-52"/>
              </a:rPr>
              <a:t>pt)</a:t>
            </a:r>
            <a:endParaRPr lang="ru-RU" dirty="0"/>
          </a:p>
        </p:txBody>
      </p:sp>
      <p:pic>
        <p:nvPicPr>
          <p:cNvPr id="9" name="Рисунок 8">
            <a:extLst>
              <a:ext uri="{FF2B5EF4-FFF2-40B4-BE49-F238E27FC236}">
                <a16:creationId xmlns:a16="http://schemas.microsoft.com/office/drawing/2014/main" id="{E4DD5654-DB7B-ED69-AB91-B2AD0971C5CF}"/>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7047" y="404842"/>
            <a:ext cx="2185400" cy="673396"/>
          </a:xfrm>
          <a:prstGeom prst="rect">
            <a:avLst/>
          </a:prstGeom>
        </p:spPr>
      </p:pic>
    </p:spTree>
    <p:extLst>
      <p:ext uri="{BB962C8B-B14F-4D97-AF65-F5344CB8AC3E}">
        <p14:creationId xmlns:p14="http://schemas.microsoft.com/office/powerpoint/2010/main" val="35750308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02" userDrawn="1">
          <p15:clr>
            <a:srgbClr val="FBAE40"/>
          </p15:clr>
        </p15:guide>
        <p15:guide id="4" orient="horz" pos="709" userDrawn="1">
          <p15:clr>
            <a:srgbClr val="FBAE40"/>
          </p15:clr>
        </p15:guide>
        <p15:guide id="5" pos="746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МТУСИ_Графическое изображение_вид1">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a:xfrm>
            <a:off x="479424" y="6356350"/>
            <a:ext cx="7673976" cy="365125"/>
          </a:xfrm>
        </p:spPr>
        <p:txBody>
          <a:bodyPr/>
          <a:lstStyle>
            <a:lvl1pPr algn="l">
              <a:defRPr/>
            </a:lvl1p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4524375" y="1798320"/>
            <a:ext cx="7185025" cy="4373245"/>
          </a:xfrm>
          <a:solidFill>
            <a:schemeClr val="accent5">
              <a:lumMod val="20000"/>
              <a:lumOff val="80000"/>
            </a:schemeClr>
          </a:solidFill>
        </p:spPr>
        <p:txBody>
          <a:bodyPr anchor="ctr">
            <a:normAutofit/>
          </a:bodyPr>
          <a:lstStyle>
            <a:lvl1pPr algn="ctr">
              <a:lnSpc>
                <a:spcPct val="100000"/>
              </a:lnSpc>
              <a:spcBef>
                <a:spcPts val="0"/>
              </a:spcBef>
              <a:defRPr sz="14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5" name="Текст 14">
            <a:extLst>
              <a:ext uri="{FF2B5EF4-FFF2-40B4-BE49-F238E27FC236}">
                <a16:creationId xmlns:a16="http://schemas.microsoft.com/office/drawing/2014/main" id="{D7C05D74-10A8-943F-569A-4C8FC91EB38C}"/>
              </a:ext>
            </a:extLst>
          </p:cNvPr>
          <p:cNvSpPr>
            <a:spLocks noGrp="1"/>
          </p:cNvSpPr>
          <p:nvPr>
            <p:ph type="body" sz="quarter" idx="14" hasCustomPrompt="1"/>
          </p:nvPr>
        </p:nvSpPr>
        <p:spPr>
          <a:xfrm>
            <a:off x="479424" y="1798320"/>
            <a:ext cx="3892551" cy="853440"/>
          </a:xfrm>
        </p:spPr>
        <p:txBody>
          <a:bodyPr>
            <a:noAutofit/>
          </a:bodyPr>
          <a:lstStyle>
            <a:lvl1pPr>
              <a:defRPr sz="24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Важная информация (24</a:t>
            </a:r>
            <a:r>
              <a:rPr lang="en-US" dirty="0"/>
              <a:t>pt</a:t>
            </a:r>
            <a:r>
              <a:rPr lang="ru-RU" dirty="0"/>
              <a:t>)</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6" y="2763520"/>
            <a:ext cx="3892550" cy="2727959"/>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p>
          <a:p>
            <a:pPr lvl="0"/>
            <a:endParaRPr lang="ru-RU" dirty="0"/>
          </a:p>
        </p:txBody>
      </p:sp>
      <p:sp>
        <p:nvSpPr>
          <p:cNvPr id="24" name="Текст 23">
            <a:extLst>
              <a:ext uri="{FF2B5EF4-FFF2-40B4-BE49-F238E27FC236}">
                <a16:creationId xmlns:a16="http://schemas.microsoft.com/office/drawing/2014/main" id="{D61CE62C-94C7-E142-B424-38E9B193E88B}"/>
              </a:ext>
            </a:extLst>
          </p:cNvPr>
          <p:cNvSpPr>
            <a:spLocks noGrp="1"/>
          </p:cNvSpPr>
          <p:nvPr>
            <p:ph type="body" sz="quarter" idx="18" hasCustomPrompt="1"/>
          </p:nvPr>
        </p:nvSpPr>
        <p:spPr>
          <a:xfrm>
            <a:off x="479426" y="5603240"/>
            <a:ext cx="3892550" cy="568325"/>
          </a:xfrm>
        </p:spPr>
        <p:txBody>
          <a:bodyPr>
            <a:normAutofit/>
          </a:bodyPr>
          <a:lstStyle>
            <a:lvl1pPr>
              <a:defRPr sz="1200">
                <a:solidFill>
                  <a:schemeClr val="accent6"/>
                </a:solidFill>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Пояснительная или дополнительная информация (12 </a:t>
            </a:r>
            <a:r>
              <a:rPr lang="ru-RU" dirty="0" err="1"/>
              <a:t>pt</a:t>
            </a:r>
            <a:r>
              <a:rPr lang="ru-RU" dirty="0"/>
              <a:t>)</a:t>
            </a:r>
          </a:p>
          <a:p>
            <a:pPr lvl="0"/>
            <a:endParaRPr lang="ru-RU" dirty="0"/>
          </a:p>
        </p:txBody>
      </p:sp>
      <p:sp>
        <p:nvSpPr>
          <p:cNvPr id="4" name="Текст 3">
            <a:extLst>
              <a:ext uri="{FF2B5EF4-FFF2-40B4-BE49-F238E27FC236}">
                <a16:creationId xmlns:a16="http://schemas.microsoft.com/office/drawing/2014/main" id="{BB57668A-797C-342E-6122-46DF4DFC7C0F}"/>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16567897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14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МТУСИ_Графическое изображение_вид2">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6309042" y="1798320"/>
            <a:ext cx="5400358" cy="4373245"/>
          </a:xfrm>
          <a:solidFill>
            <a:schemeClr val="accent5">
              <a:lumMod val="20000"/>
              <a:lumOff val="80000"/>
            </a:schemeClr>
          </a:solidFill>
        </p:spPr>
        <p:txBody>
          <a:bodyPr anchor="ctr">
            <a:normAutofit/>
          </a:bodyPr>
          <a:lstStyle>
            <a:lvl1pPr algn="ctr">
              <a:lnSpc>
                <a:spcPct val="100000"/>
              </a:lnSpc>
              <a:spcBef>
                <a:spcPts val="0"/>
              </a:spcBef>
              <a:defRPr sz="14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5" name="Текст 14">
            <a:extLst>
              <a:ext uri="{FF2B5EF4-FFF2-40B4-BE49-F238E27FC236}">
                <a16:creationId xmlns:a16="http://schemas.microsoft.com/office/drawing/2014/main" id="{D7C05D74-10A8-943F-569A-4C8FC91EB38C}"/>
              </a:ext>
            </a:extLst>
          </p:cNvPr>
          <p:cNvSpPr>
            <a:spLocks noGrp="1"/>
          </p:cNvSpPr>
          <p:nvPr>
            <p:ph type="body" sz="quarter" idx="14" hasCustomPrompt="1"/>
          </p:nvPr>
        </p:nvSpPr>
        <p:spPr>
          <a:xfrm>
            <a:off x="479424" y="1798320"/>
            <a:ext cx="5616576" cy="853440"/>
          </a:xfrm>
        </p:spPr>
        <p:txBody>
          <a:bodyPr>
            <a:noAutofit/>
          </a:bodyPr>
          <a:lstStyle>
            <a:lvl1pPr algn="l">
              <a:defRPr sz="24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Важная информация (24</a:t>
            </a:r>
            <a:r>
              <a:rPr lang="en-US" dirty="0" err="1"/>
              <a:t>pt</a:t>
            </a:r>
            <a:r>
              <a:rPr lang="ru-RU" dirty="0"/>
              <a:t>)</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2763520"/>
            <a:ext cx="5616575" cy="272795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p>
          <a:p>
            <a:pPr lvl="0"/>
            <a:endParaRPr lang="ru-RU" dirty="0"/>
          </a:p>
        </p:txBody>
      </p:sp>
      <p:sp>
        <p:nvSpPr>
          <p:cNvPr id="24" name="Текст 23">
            <a:extLst>
              <a:ext uri="{FF2B5EF4-FFF2-40B4-BE49-F238E27FC236}">
                <a16:creationId xmlns:a16="http://schemas.microsoft.com/office/drawing/2014/main" id="{D61CE62C-94C7-E142-B424-38E9B193E88B}"/>
              </a:ext>
            </a:extLst>
          </p:cNvPr>
          <p:cNvSpPr>
            <a:spLocks noGrp="1"/>
          </p:cNvSpPr>
          <p:nvPr>
            <p:ph type="body" sz="quarter" idx="18" hasCustomPrompt="1"/>
          </p:nvPr>
        </p:nvSpPr>
        <p:spPr>
          <a:xfrm>
            <a:off x="479425" y="5603240"/>
            <a:ext cx="5616575" cy="568325"/>
          </a:xfrm>
        </p:spPr>
        <p:txBody>
          <a:bodyPr>
            <a:normAutofit/>
          </a:bodyPr>
          <a:lstStyle>
            <a:lvl1pPr>
              <a:defRPr sz="1200">
                <a:solidFill>
                  <a:schemeClr val="accent6"/>
                </a:solidFill>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Пояснительная или дополнительная информация (12 </a:t>
            </a:r>
            <a:r>
              <a:rPr lang="ru-RU" dirty="0" err="1"/>
              <a:t>pt</a:t>
            </a:r>
            <a:r>
              <a:rPr lang="ru-RU" dirty="0"/>
              <a:t>)</a:t>
            </a:r>
          </a:p>
          <a:p>
            <a:pPr lvl="0"/>
            <a:endParaRPr lang="ru-RU" dirty="0"/>
          </a:p>
        </p:txBody>
      </p:sp>
      <p:sp>
        <p:nvSpPr>
          <p:cNvPr id="12" name="Текст 3">
            <a:extLst>
              <a:ext uri="{FF2B5EF4-FFF2-40B4-BE49-F238E27FC236}">
                <a16:creationId xmlns:a16="http://schemas.microsoft.com/office/drawing/2014/main" id="{10D3793E-B7C2-98D5-207E-B0D6139BAA8E}"/>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3840373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МТУСИ_Графическое изображение_вид3">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7781926" y="1798320"/>
            <a:ext cx="3927474" cy="2114233"/>
          </a:xfrm>
          <a:solidFill>
            <a:schemeClr val="accent5">
              <a:lumMod val="20000"/>
              <a:lumOff val="80000"/>
            </a:schemeClr>
          </a:solidFill>
        </p:spPr>
        <p:txBody>
          <a:bodyPr anchor="ctr">
            <a:normAutofit/>
          </a:bodyPr>
          <a:lstStyle>
            <a:lvl1pPr algn="ctr">
              <a:lnSpc>
                <a:spcPct val="100000"/>
              </a:lnSpc>
              <a:spcBef>
                <a:spcPts val="0"/>
              </a:spcBef>
              <a:defRPr sz="14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5" name="Текст 14">
            <a:extLst>
              <a:ext uri="{FF2B5EF4-FFF2-40B4-BE49-F238E27FC236}">
                <a16:creationId xmlns:a16="http://schemas.microsoft.com/office/drawing/2014/main" id="{D7C05D74-10A8-943F-569A-4C8FC91EB38C}"/>
              </a:ext>
            </a:extLst>
          </p:cNvPr>
          <p:cNvSpPr>
            <a:spLocks noGrp="1"/>
          </p:cNvSpPr>
          <p:nvPr>
            <p:ph type="body" sz="quarter" idx="14" hasCustomPrompt="1"/>
          </p:nvPr>
        </p:nvSpPr>
        <p:spPr>
          <a:xfrm>
            <a:off x="479423" y="1798320"/>
            <a:ext cx="7054851" cy="853440"/>
          </a:xfrm>
        </p:spPr>
        <p:txBody>
          <a:bodyPr>
            <a:noAutofit/>
          </a:bodyPr>
          <a:lstStyle>
            <a:lvl1pPr>
              <a:defRPr sz="24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Важная информация (24</a:t>
            </a:r>
            <a:r>
              <a:rPr lang="en-US" dirty="0"/>
              <a:t>pt</a:t>
            </a:r>
            <a:r>
              <a:rPr lang="ru-RU" dirty="0"/>
              <a:t>)</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2763520"/>
            <a:ext cx="7054850" cy="272795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p>
          <a:p>
            <a:pPr lvl="0"/>
            <a:endParaRPr lang="ru-RU" dirty="0"/>
          </a:p>
        </p:txBody>
      </p:sp>
      <p:sp>
        <p:nvSpPr>
          <p:cNvPr id="24" name="Текст 23">
            <a:extLst>
              <a:ext uri="{FF2B5EF4-FFF2-40B4-BE49-F238E27FC236}">
                <a16:creationId xmlns:a16="http://schemas.microsoft.com/office/drawing/2014/main" id="{D61CE62C-94C7-E142-B424-38E9B193E88B}"/>
              </a:ext>
            </a:extLst>
          </p:cNvPr>
          <p:cNvSpPr>
            <a:spLocks noGrp="1"/>
          </p:cNvSpPr>
          <p:nvPr>
            <p:ph type="body" sz="quarter" idx="18" hasCustomPrompt="1"/>
          </p:nvPr>
        </p:nvSpPr>
        <p:spPr>
          <a:xfrm>
            <a:off x="479425" y="5603240"/>
            <a:ext cx="7054849" cy="568325"/>
          </a:xfrm>
        </p:spPr>
        <p:txBody>
          <a:bodyPr>
            <a:normAutofit/>
          </a:bodyPr>
          <a:lstStyle>
            <a:lvl1pPr>
              <a:defRPr sz="1200">
                <a:solidFill>
                  <a:schemeClr val="accent6"/>
                </a:solidFill>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Пояснительная или дополнительная информация (12 </a:t>
            </a:r>
            <a:r>
              <a:rPr lang="ru-RU" dirty="0" err="1"/>
              <a:t>pt</a:t>
            </a:r>
            <a:r>
              <a:rPr lang="ru-RU" dirty="0"/>
              <a:t>)</a:t>
            </a:r>
          </a:p>
          <a:p>
            <a:pPr lvl="0"/>
            <a:endParaRPr lang="ru-RU" dirty="0"/>
          </a:p>
        </p:txBody>
      </p:sp>
      <p:sp>
        <p:nvSpPr>
          <p:cNvPr id="9" name="Рисунок 12">
            <a:extLst>
              <a:ext uri="{FF2B5EF4-FFF2-40B4-BE49-F238E27FC236}">
                <a16:creationId xmlns:a16="http://schemas.microsoft.com/office/drawing/2014/main" id="{3E3F5029-157D-973F-66C3-D916DD6CD668}"/>
              </a:ext>
            </a:extLst>
          </p:cNvPr>
          <p:cNvSpPr>
            <a:spLocks noGrp="1"/>
          </p:cNvSpPr>
          <p:nvPr>
            <p:ph type="pic" sz="quarter" idx="19" hasCustomPrompt="1"/>
          </p:nvPr>
        </p:nvSpPr>
        <p:spPr>
          <a:xfrm>
            <a:off x="7781926" y="4057332"/>
            <a:ext cx="3927474" cy="2114233"/>
          </a:xfrm>
          <a:solidFill>
            <a:schemeClr val="accent5">
              <a:lumMod val="20000"/>
              <a:lumOff val="80000"/>
            </a:schemeClr>
          </a:solidFill>
        </p:spPr>
        <p:txBody>
          <a:bodyPr anchor="ctr">
            <a:normAutofit/>
          </a:bodyPr>
          <a:lstStyle>
            <a:lvl1pPr algn="ctr">
              <a:lnSpc>
                <a:spcPct val="100000"/>
              </a:lnSpc>
              <a:spcBef>
                <a:spcPts val="0"/>
              </a:spcBef>
              <a:defRPr sz="14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6" name="Текст 3">
            <a:extLst>
              <a:ext uri="{FF2B5EF4-FFF2-40B4-BE49-F238E27FC236}">
                <a16:creationId xmlns:a16="http://schemas.microsoft.com/office/drawing/2014/main" id="{18F295A2-F6D1-1E02-7F9C-C0E42D0CE935}"/>
              </a:ext>
            </a:extLst>
          </p:cNvPr>
          <p:cNvSpPr>
            <a:spLocks noGrp="1"/>
          </p:cNvSpPr>
          <p:nvPr>
            <p:ph type="body" sz="quarter" idx="20"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664100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МТУСИ_Графическое изображение_вид4">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479425" y="1686558"/>
            <a:ext cx="5433695" cy="1742441"/>
          </a:xfrm>
          <a:solidFill>
            <a:schemeClr val="accent5">
              <a:lumMod val="40000"/>
              <a:lumOff val="6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3510280"/>
            <a:ext cx="5433695" cy="272795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4</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dirty="0"/>
          </a:p>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3" name="Рисунок 12">
            <a:extLst>
              <a:ext uri="{FF2B5EF4-FFF2-40B4-BE49-F238E27FC236}">
                <a16:creationId xmlns:a16="http://schemas.microsoft.com/office/drawing/2014/main" id="{2BB329D7-02A8-1E80-0035-B49F0724B4C4}"/>
              </a:ext>
            </a:extLst>
          </p:cNvPr>
          <p:cNvSpPr>
            <a:spLocks noGrp="1"/>
          </p:cNvSpPr>
          <p:nvPr>
            <p:ph type="pic" sz="quarter" idx="18" hasCustomPrompt="1"/>
          </p:nvPr>
        </p:nvSpPr>
        <p:spPr>
          <a:xfrm>
            <a:off x="6280470" y="1686558"/>
            <a:ext cx="5433695" cy="1742441"/>
          </a:xfrm>
          <a:solidFill>
            <a:schemeClr val="accent5">
              <a:lumMod val="40000"/>
              <a:lumOff val="6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4" name="Текст 21">
            <a:extLst>
              <a:ext uri="{FF2B5EF4-FFF2-40B4-BE49-F238E27FC236}">
                <a16:creationId xmlns:a16="http://schemas.microsoft.com/office/drawing/2014/main" id="{6E5AEAD8-EA07-882B-E97B-CE9D2BECA870}"/>
              </a:ext>
            </a:extLst>
          </p:cNvPr>
          <p:cNvSpPr>
            <a:spLocks noGrp="1"/>
          </p:cNvSpPr>
          <p:nvPr>
            <p:ph type="body" sz="quarter" idx="19" hasCustomPrompt="1"/>
          </p:nvPr>
        </p:nvSpPr>
        <p:spPr>
          <a:xfrm>
            <a:off x="6280470" y="3510280"/>
            <a:ext cx="5433695" cy="272795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4</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dirty="0"/>
          </a:p>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15" name="Текст 3">
            <a:extLst>
              <a:ext uri="{FF2B5EF4-FFF2-40B4-BE49-F238E27FC236}">
                <a16:creationId xmlns:a16="http://schemas.microsoft.com/office/drawing/2014/main" id="{D53CAFB4-D005-E76B-FA93-A3D16CE15FC2}"/>
              </a:ext>
            </a:extLst>
          </p:cNvPr>
          <p:cNvSpPr>
            <a:spLocks noGrp="1"/>
          </p:cNvSpPr>
          <p:nvPr>
            <p:ph type="body" sz="quarter" idx="20"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1305272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МТУСИ_Графическое изображение_вид5">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479426" y="1686557"/>
            <a:ext cx="3544250" cy="1742441"/>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3510280"/>
            <a:ext cx="3544247" cy="2727959"/>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dirty="0"/>
          </a:p>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p:txBody>
      </p:sp>
      <p:sp>
        <p:nvSpPr>
          <p:cNvPr id="3" name="Рисунок 12">
            <a:extLst>
              <a:ext uri="{FF2B5EF4-FFF2-40B4-BE49-F238E27FC236}">
                <a16:creationId xmlns:a16="http://schemas.microsoft.com/office/drawing/2014/main" id="{2BB329D7-02A8-1E80-0035-B49F0724B4C4}"/>
              </a:ext>
            </a:extLst>
          </p:cNvPr>
          <p:cNvSpPr>
            <a:spLocks noGrp="1"/>
          </p:cNvSpPr>
          <p:nvPr>
            <p:ph type="pic" sz="quarter" idx="18" hasCustomPrompt="1"/>
          </p:nvPr>
        </p:nvSpPr>
        <p:spPr>
          <a:xfrm>
            <a:off x="4316413" y="1686557"/>
            <a:ext cx="3544250" cy="1742441"/>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4" name="Текст 21">
            <a:extLst>
              <a:ext uri="{FF2B5EF4-FFF2-40B4-BE49-F238E27FC236}">
                <a16:creationId xmlns:a16="http://schemas.microsoft.com/office/drawing/2014/main" id="{6E5AEAD8-EA07-882B-E97B-CE9D2BECA870}"/>
              </a:ext>
            </a:extLst>
          </p:cNvPr>
          <p:cNvSpPr>
            <a:spLocks noGrp="1"/>
          </p:cNvSpPr>
          <p:nvPr>
            <p:ph type="body" sz="quarter" idx="19" hasCustomPrompt="1"/>
          </p:nvPr>
        </p:nvSpPr>
        <p:spPr>
          <a:xfrm>
            <a:off x="4316412" y="3510280"/>
            <a:ext cx="3544249" cy="2727959"/>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dirty="0"/>
          </a:p>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5" name="Рисунок 12">
            <a:extLst>
              <a:ext uri="{FF2B5EF4-FFF2-40B4-BE49-F238E27FC236}">
                <a16:creationId xmlns:a16="http://schemas.microsoft.com/office/drawing/2014/main" id="{E96D5AAF-4272-2782-947E-0FAF4E128B1F}"/>
              </a:ext>
            </a:extLst>
          </p:cNvPr>
          <p:cNvSpPr>
            <a:spLocks noGrp="1"/>
          </p:cNvSpPr>
          <p:nvPr>
            <p:ph type="pic" sz="quarter" idx="20" hasCustomPrompt="1"/>
          </p:nvPr>
        </p:nvSpPr>
        <p:spPr>
          <a:xfrm>
            <a:off x="8153400" y="1686557"/>
            <a:ext cx="3544250" cy="1742441"/>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6" name="Текст 21">
            <a:extLst>
              <a:ext uri="{FF2B5EF4-FFF2-40B4-BE49-F238E27FC236}">
                <a16:creationId xmlns:a16="http://schemas.microsoft.com/office/drawing/2014/main" id="{140D3FD4-620D-1BC8-10A0-CB1CB1F3CB8C}"/>
              </a:ext>
            </a:extLst>
          </p:cNvPr>
          <p:cNvSpPr>
            <a:spLocks noGrp="1"/>
          </p:cNvSpPr>
          <p:nvPr>
            <p:ph type="body" sz="quarter" idx="21" hasCustomPrompt="1"/>
          </p:nvPr>
        </p:nvSpPr>
        <p:spPr>
          <a:xfrm>
            <a:off x="8153400" y="3510280"/>
            <a:ext cx="3556000" cy="2727959"/>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dirty="0"/>
          </a:p>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15" name="Текст 3">
            <a:extLst>
              <a:ext uri="{FF2B5EF4-FFF2-40B4-BE49-F238E27FC236}">
                <a16:creationId xmlns:a16="http://schemas.microsoft.com/office/drawing/2014/main" id="{8C4FEF29-AF03-3140-0FDB-E0F5E47880FA}"/>
              </a:ext>
            </a:extLst>
          </p:cNvPr>
          <p:cNvSpPr>
            <a:spLocks noGrp="1"/>
          </p:cNvSpPr>
          <p:nvPr>
            <p:ph type="body" sz="quarter" idx="22"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1649308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МТУСИ_Графическое изображение_вид6">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088701"/>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479426" y="1686557"/>
            <a:ext cx="3544250" cy="2727959"/>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4495798"/>
            <a:ext cx="3544247" cy="1742441"/>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p>
        </p:txBody>
      </p:sp>
      <p:sp>
        <p:nvSpPr>
          <p:cNvPr id="3" name="Рисунок 12">
            <a:extLst>
              <a:ext uri="{FF2B5EF4-FFF2-40B4-BE49-F238E27FC236}">
                <a16:creationId xmlns:a16="http://schemas.microsoft.com/office/drawing/2014/main" id="{2BB329D7-02A8-1E80-0035-B49F0724B4C4}"/>
              </a:ext>
            </a:extLst>
          </p:cNvPr>
          <p:cNvSpPr>
            <a:spLocks noGrp="1"/>
          </p:cNvSpPr>
          <p:nvPr>
            <p:ph type="pic" sz="quarter" idx="18" hasCustomPrompt="1"/>
          </p:nvPr>
        </p:nvSpPr>
        <p:spPr>
          <a:xfrm>
            <a:off x="4316413" y="1686557"/>
            <a:ext cx="3544250" cy="2727959"/>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4" name="Текст 21">
            <a:extLst>
              <a:ext uri="{FF2B5EF4-FFF2-40B4-BE49-F238E27FC236}">
                <a16:creationId xmlns:a16="http://schemas.microsoft.com/office/drawing/2014/main" id="{6E5AEAD8-EA07-882B-E97B-CE9D2BECA870}"/>
              </a:ext>
            </a:extLst>
          </p:cNvPr>
          <p:cNvSpPr>
            <a:spLocks noGrp="1"/>
          </p:cNvSpPr>
          <p:nvPr>
            <p:ph type="body" sz="quarter" idx="19" hasCustomPrompt="1"/>
          </p:nvPr>
        </p:nvSpPr>
        <p:spPr>
          <a:xfrm>
            <a:off x="4316412" y="4495798"/>
            <a:ext cx="3544249" cy="1742441"/>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p>
        </p:txBody>
      </p:sp>
      <p:sp>
        <p:nvSpPr>
          <p:cNvPr id="5" name="Рисунок 12">
            <a:extLst>
              <a:ext uri="{FF2B5EF4-FFF2-40B4-BE49-F238E27FC236}">
                <a16:creationId xmlns:a16="http://schemas.microsoft.com/office/drawing/2014/main" id="{E96D5AAF-4272-2782-947E-0FAF4E128B1F}"/>
              </a:ext>
            </a:extLst>
          </p:cNvPr>
          <p:cNvSpPr>
            <a:spLocks noGrp="1"/>
          </p:cNvSpPr>
          <p:nvPr>
            <p:ph type="pic" sz="quarter" idx="20" hasCustomPrompt="1"/>
          </p:nvPr>
        </p:nvSpPr>
        <p:spPr>
          <a:xfrm>
            <a:off x="8153400" y="1686558"/>
            <a:ext cx="3544250" cy="2718756"/>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6" name="Текст 21">
            <a:extLst>
              <a:ext uri="{FF2B5EF4-FFF2-40B4-BE49-F238E27FC236}">
                <a16:creationId xmlns:a16="http://schemas.microsoft.com/office/drawing/2014/main" id="{140D3FD4-620D-1BC8-10A0-CB1CB1F3CB8C}"/>
              </a:ext>
            </a:extLst>
          </p:cNvPr>
          <p:cNvSpPr>
            <a:spLocks noGrp="1"/>
          </p:cNvSpPr>
          <p:nvPr>
            <p:ph type="body" sz="quarter" idx="21" hasCustomPrompt="1"/>
          </p:nvPr>
        </p:nvSpPr>
        <p:spPr>
          <a:xfrm>
            <a:off x="8153400" y="4495798"/>
            <a:ext cx="3556000" cy="1742441"/>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p>
          <a:p>
            <a:pPr lvl="0"/>
            <a:endParaRPr lang="ru-RU" dirty="0"/>
          </a:p>
        </p:txBody>
      </p:sp>
      <p:sp>
        <p:nvSpPr>
          <p:cNvPr id="15" name="Текст 3">
            <a:extLst>
              <a:ext uri="{FF2B5EF4-FFF2-40B4-BE49-F238E27FC236}">
                <a16:creationId xmlns:a16="http://schemas.microsoft.com/office/drawing/2014/main" id="{AED79EC4-286A-C435-0E13-143ECEDA71F4}"/>
              </a:ext>
            </a:extLst>
          </p:cNvPr>
          <p:cNvSpPr>
            <a:spLocks noGrp="1"/>
          </p:cNvSpPr>
          <p:nvPr>
            <p:ph type="body" sz="quarter" idx="22"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145662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МТУСИ_Графическое изображение_вид7">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088701"/>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479426" y="1686557"/>
            <a:ext cx="3544250" cy="2216786"/>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2" name="Рисунок 12">
            <a:extLst>
              <a:ext uri="{FF2B5EF4-FFF2-40B4-BE49-F238E27FC236}">
                <a16:creationId xmlns:a16="http://schemas.microsoft.com/office/drawing/2014/main" id="{DFD616E2-B09D-07BB-9AB3-A1AA68C1B91D}"/>
              </a:ext>
            </a:extLst>
          </p:cNvPr>
          <p:cNvSpPr>
            <a:spLocks noGrp="1"/>
          </p:cNvSpPr>
          <p:nvPr>
            <p:ph type="pic" sz="quarter" idx="22" hasCustomPrompt="1"/>
          </p:nvPr>
        </p:nvSpPr>
        <p:spPr>
          <a:xfrm>
            <a:off x="479426" y="4021453"/>
            <a:ext cx="3544250" cy="2216786"/>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4" name="Рисунок 12">
            <a:extLst>
              <a:ext uri="{FF2B5EF4-FFF2-40B4-BE49-F238E27FC236}">
                <a16:creationId xmlns:a16="http://schemas.microsoft.com/office/drawing/2014/main" id="{56BAD0C4-03D0-852D-6EAE-BAE24A369905}"/>
              </a:ext>
            </a:extLst>
          </p:cNvPr>
          <p:cNvSpPr>
            <a:spLocks noGrp="1"/>
          </p:cNvSpPr>
          <p:nvPr>
            <p:ph type="pic" sz="quarter" idx="23" hasCustomPrompt="1"/>
          </p:nvPr>
        </p:nvSpPr>
        <p:spPr>
          <a:xfrm>
            <a:off x="4323875" y="1686557"/>
            <a:ext cx="3544250" cy="2216786"/>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5" name="Рисунок 12">
            <a:extLst>
              <a:ext uri="{FF2B5EF4-FFF2-40B4-BE49-F238E27FC236}">
                <a16:creationId xmlns:a16="http://schemas.microsoft.com/office/drawing/2014/main" id="{2E78ECF4-3A28-D61E-1246-69E975A363CB}"/>
              </a:ext>
            </a:extLst>
          </p:cNvPr>
          <p:cNvSpPr>
            <a:spLocks noGrp="1"/>
          </p:cNvSpPr>
          <p:nvPr>
            <p:ph type="pic" sz="quarter" idx="24" hasCustomPrompt="1"/>
          </p:nvPr>
        </p:nvSpPr>
        <p:spPr>
          <a:xfrm>
            <a:off x="4323875" y="4021453"/>
            <a:ext cx="3544250" cy="2216786"/>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6" name="Рисунок 12">
            <a:extLst>
              <a:ext uri="{FF2B5EF4-FFF2-40B4-BE49-F238E27FC236}">
                <a16:creationId xmlns:a16="http://schemas.microsoft.com/office/drawing/2014/main" id="{AD342940-D32A-9086-7B9E-97741210107C}"/>
              </a:ext>
            </a:extLst>
          </p:cNvPr>
          <p:cNvSpPr>
            <a:spLocks noGrp="1"/>
          </p:cNvSpPr>
          <p:nvPr>
            <p:ph type="pic" sz="quarter" idx="25" hasCustomPrompt="1"/>
          </p:nvPr>
        </p:nvSpPr>
        <p:spPr>
          <a:xfrm>
            <a:off x="8165150" y="1686557"/>
            <a:ext cx="3544250" cy="2216786"/>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7" name="Рисунок 12">
            <a:extLst>
              <a:ext uri="{FF2B5EF4-FFF2-40B4-BE49-F238E27FC236}">
                <a16:creationId xmlns:a16="http://schemas.microsoft.com/office/drawing/2014/main" id="{A4442316-233E-A645-D6B3-A58BB6F1456B}"/>
              </a:ext>
            </a:extLst>
          </p:cNvPr>
          <p:cNvSpPr>
            <a:spLocks noGrp="1"/>
          </p:cNvSpPr>
          <p:nvPr>
            <p:ph type="pic" sz="quarter" idx="26" hasCustomPrompt="1"/>
          </p:nvPr>
        </p:nvSpPr>
        <p:spPr>
          <a:xfrm>
            <a:off x="8165150" y="4021453"/>
            <a:ext cx="3544250" cy="2216786"/>
          </a:xfrm>
          <a:solidFill>
            <a:schemeClr val="accent5">
              <a:lumMod val="20000"/>
              <a:lumOff val="80000"/>
            </a:schemeClr>
          </a:solidFill>
        </p:spPr>
        <p:txBody>
          <a:bodyPr anchor="ctr">
            <a:noAutofit/>
          </a:bodyPr>
          <a:lstStyle>
            <a:lvl1pPr algn="ctr">
              <a:lnSpc>
                <a:spcPct val="100000"/>
              </a:lnSpc>
              <a:spcBef>
                <a:spcPts val="0"/>
              </a:spcBef>
              <a:defRPr sz="1200"/>
            </a:lvl1pPr>
          </a:lstStyle>
          <a:p>
            <a:r>
              <a:rPr lang="ru-RU" dirty="0"/>
              <a:t>Для того, чтобы заполнить слайд </a:t>
            </a:r>
            <a:br>
              <a:rPr lang="ru-RU" dirty="0"/>
            </a:br>
            <a:r>
              <a:rPr lang="ru-RU" dirty="0"/>
              <a:t>и не оставлять его пустым, рекомендуется </a:t>
            </a:r>
            <a:br>
              <a:rPr lang="ru-RU" dirty="0"/>
            </a:br>
            <a:r>
              <a:rPr lang="ru-RU" dirty="0"/>
              <a:t>в это поле добавить иллюстрацию </a:t>
            </a:r>
            <a:br>
              <a:rPr lang="ru-RU" dirty="0"/>
            </a:br>
            <a:r>
              <a:rPr lang="ru-RU" dirty="0"/>
              <a:t>или фотографию.</a:t>
            </a:r>
          </a:p>
        </p:txBody>
      </p:sp>
      <p:sp>
        <p:nvSpPr>
          <p:cNvPr id="19" name="Текст 3">
            <a:extLst>
              <a:ext uri="{FF2B5EF4-FFF2-40B4-BE49-F238E27FC236}">
                <a16:creationId xmlns:a16="http://schemas.microsoft.com/office/drawing/2014/main" id="{7A9D9443-1F0A-B57F-F3D6-41873D65597F}"/>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128637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МТУСИ_Иллюстрация процесс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13" name="Рисунок 12">
            <a:extLst>
              <a:ext uri="{FF2B5EF4-FFF2-40B4-BE49-F238E27FC236}">
                <a16:creationId xmlns:a16="http://schemas.microsoft.com/office/drawing/2014/main" id="{2FB426DD-0E45-856E-57DC-41F909CCD8C9}"/>
              </a:ext>
            </a:extLst>
          </p:cNvPr>
          <p:cNvSpPr>
            <a:spLocks noGrp="1"/>
          </p:cNvSpPr>
          <p:nvPr>
            <p:ph type="pic" sz="quarter" idx="13" hasCustomPrompt="1"/>
          </p:nvPr>
        </p:nvSpPr>
        <p:spPr>
          <a:xfrm>
            <a:off x="479423" y="2735265"/>
            <a:ext cx="1296038" cy="853440"/>
          </a:xfrm>
          <a:solidFill>
            <a:schemeClr val="accent5">
              <a:lumMod val="20000"/>
              <a:lumOff val="80000"/>
            </a:schemeClr>
          </a:solidFill>
        </p:spPr>
        <p:txBody>
          <a:bodyPr anchor="ctr">
            <a:noAutofit/>
          </a:bodyPr>
          <a:lstStyle>
            <a:lvl1pPr algn="ctr">
              <a:lnSpc>
                <a:spcPct val="100000"/>
              </a:lnSpc>
              <a:spcBef>
                <a:spcPts val="0"/>
              </a:spcBef>
              <a:defRPr sz="1000"/>
            </a:lvl1pPr>
          </a:lstStyle>
          <a:p>
            <a:r>
              <a:rPr lang="ru-RU" dirty="0"/>
              <a:t>Рекомендуется </a:t>
            </a:r>
            <a:br>
              <a:rPr lang="ru-RU" dirty="0"/>
            </a:br>
            <a:r>
              <a:rPr lang="ru-RU" dirty="0"/>
              <a:t>в это поле добавить иконку</a:t>
            </a:r>
          </a:p>
        </p:txBody>
      </p:sp>
      <p:sp>
        <p:nvSpPr>
          <p:cNvPr id="15" name="Текст 14">
            <a:extLst>
              <a:ext uri="{FF2B5EF4-FFF2-40B4-BE49-F238E27FC236}">
                <a16:creationId xmlns:a16="http://schemas.microsoft.com/office/drawing/2014/main" id="{D7C05D74-10A8-943F-569A-4C8FC91EB38C}"/>
              </a:ext>
            </a:extLst>
          </p:cNvPr>
          <p:cNvSpPr>
            <a:spLocks noGrp="1"/>
          </p:cNvSpPr>
          <p:nvPr>
            <p:ph type="body" sz="quarter" idx="14" hasCustomPrompt="1"/>
          </p:nvPr>
        </p:nvSpPr>
        <p:spPr>
          <a:xfrm>
            <a:off x="479423" y="1798320"/>
            <a:ext cx="11233152" cy="853440"/>
          </a:xfrm>
        </p:spPr>
        <p:txBody>
          <a:bodyPr>
            <a:noAutofit/>
          </a:bodyPr>
          <a:lstStyle>
            <a:lvl1pPr>
              <a:defRPr sz="24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Важная информация (24</a:t>
            </a:r>
            <a:r>
              <a:rPr lang="en-US" dirty="0"/>
              <a:t>pt</a:t>
            </a:r>
            <a:r>
              <a:rPr lang="ru-RU" dirty="0"/>
              <a:t>)</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1971675" y="2735266"/>
            <a:ext cx="9726839" cy="85343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a:t>
            </a:r>
          </a:p>
          <a:p>
            <a:pPr lvl="0"/>
            <a:endParaRPr lang="ru-RU" dirty="0"/>
          </a:p>
        </p:txBody>
      </p:sp>
      <p:sp>
        <p:nvSpPr>
          <p:cNvPr id="24" name="Текст 23">
            <a:extLst>
              <a:ext uri="{FF2B5EF4-FFF2-40B4-BE49-F238E27FC236}">
                <a16:creationId xmlns:a16="http://schemas.microsoft.com/office/drawing/2014/main" id="{D61CE62C-94C7-E142-B424-38E9B193E88B}"/>
              </a:ext>
            </a:extLst>
          </p:cNvPr>
          <p:cNvSpPr>
            <a:spLocks noGrp="1"/>
          </p:cNvSpPr>
          <p:nvPr>
            <p:ph type="body" sz="quarter" idx="18" hasCustomPrompt="1"/>
          </p:nvPr>
        </p:nvSpPr>
        <p:spPr>
          <a:xfrm>
            <a:off x="479425" y="5603240"/>
            <a:ext cx="11229974" cy="568325"/>
          </a:xfrm>
        </p:spPr>
        <p:txBody>
          <a:bodyPr>
            <a:normAutofit/>
          </a:bodyPr>
          <a:lstStyle>
            <a:lvl1pPr>
              <a:defRPr sz="1200">
                <a:solidFill>
                  <a:schemeClr val="accent6"/>
                </a:solidFill>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Пояснительная или дополнительная информация (12 </a:t>
            </a:r>
            <a:r>
              <a:rPr lang="ru-RU" dirty="0" err="1"/>
              <a:t>pt</a:t>
            </a:r>
            <a:r>
              <a:rPr lang="ru-RU" dirty="0"/>
              <a:t>)</a:t>
            </a:r>
          </a:p>
          <a:p>
            <a:pPr lvl="0"/>
            <a:endParaRPr lang="ru-RU" dirty="0"/>
          </a:p>
        </p:txBody>
      </p:sp>
      <p:sp>
        <p:nvSpPr>
          <p:cNvPr id="12" name="Рисунок 12">
            <a:extLst>
              <a:ext uri="{FF2B5EF4-FFF2-40B4-BE49-F238E27FC236}">
                <a16:creationId xmlns:a16="http://schemas.microsoft.com/office/drawing/2014/main" id="{89F4BD4E-F62F-7E74-EC7A-EEA805412A1F}"/>
              </a:ext>
            </a:extLst>
          </p:cNvPr>
          <p:cNvSpPr>
            <a:spLocks noGrp="1"/>
          </p:cNvSpPr>
          <p:nvPr>
            <p:ph type="pic" sz="quarter" idx="19" hasCustomPrompt="1"/>
          </p:nvPr>
        </p:nvSpPr>
        <p:spPr>
          <a:xfrm>
            <a:off x="479423" y="3702060"/>
            <a:ext cx="1296038" cy="853440"/>
          </a:xfrm>
          <a:solidFill>
            <a:schemeClr val="accent5">
              <a:lumMod val="20000"/>
              <a:lumOff val="80000"/>
            </a:schemeClr>
          </a:solidFill>
        </p:spPr>
        <p:txBody>
          <a:bodyPr anchor="ctr">
            <a:noAutofit/>
          </a:bodyPr>
          <a:lstStyle>
            <a:lvl1pPr algn="ctr">
              <a:lnSpc>
                <a:spcPct val="100000"/>
              </a:lnSpc>
              <a:spcBef>
                <a:spcPts val="0"/>
              </a:spcBef>
              <a:defRPr sz="1000"/>
            </a:lvl1pPr>
          </a:lstStyle>
          <a:p>
            <a:r>
              <a:rPr lang="ru-RU" dirty="0"/>
              <a:t>Рекомендуется </a:t>
            </a:r>
            <a:br>
              <a:rPr lang="ru-RU" dirty="0"/>
            </a:br>
            <a:r>
              <a:rPr lang="ru-RU" dirty="0"/>
              <a:t>в это поле добавить иконку</a:t>
            </a:r>
          </a:p>
        </p:txBody>
      </p:sp>
      <p:sp>
        <p:nvSpPr>
          <p:cNvPr id="14" name="Рисунок 12">
            <a:extLst>
              <a:ext uri="{FF2B5EF4-FFF2-40B4-BE49-F238E27FC236}">
                <a16:creationId xmlns:a16="http://schemas.microsoft.com/office/drawing/2014/main" id="{CD2A586D-D016-B5F8-60E2-1AD08E3AB329}"/>
              </a:ext>
            </a:extLst>
          </p:cNvPr>
          <p:cNvSpPr>
            <a:spLocks noGrp="1"/>
          </p:cNvSpPr>
          <p:nvPr>
            <p:ph type="pic" sz="quarter" idx="20" hasCustomPrompt="1"/>
          </p:nvPr>
        </p:nvSpPr>
        <p:spPr>
          <a:xfrm>
            <a:off x="479423" y="4638039"/>
            <a:ext cx="1296038" cy="853440"/>
          </a:xfrm>
          <a:solidFill>
            <a:schemeClr val="accent5">
              <a:lumMod val="20000"/>
              <a:lumOff val="80000"/>
            </a:schemeClr>
          </a:solidFill>
        </p:spPr>
        <p:txBody>
          <a:bodyPr anchor="ctr">
            <a:noAutofit/>
          </a:bodyPr>
          <a:lstStyle>
            <a:lvl1pPr algn="ctr">
              <a:lnSpc>
                <a:spcPct val="100000"/>
              </a:lnSpc>
              <a:spcBef>
                <a:spcPts val="0"/>
              </a:spcBef>
              <a:defRPr sz="1000"/>
            </a:lvl1pPr>
          </a:lstStyle>
          <a:p>
            <a:r>
              <a:rPr lang="ru-RU" dirty="0"/>
              <a:t>Рекомендуется </a:t>
            </a:r>
            <a:br>
              <a:rPr lang="ru-RU" dirty="0"/>
            </a:br>
            <a:r>
              <a:rPr lang="ru-RU" dirty="0"/>
              <a:t>в это поле добавить иконку</a:t>
            </a:r>
          </a:p>
        </p:txBody>
      </p:sp>
      <p:sp>
        <p:nvSpPr>
          <p:cNvPr id="17" name="Текст 21">
            <a:extLst>
              <a:ext uri="{FF2B5EF4-FFF2-40B4-BE49-F238E27FC236}">
                <a16:creationId xmlns:a16="http://schemas.microsoft.com/office/drawing/2014/main" id="{326B7287-8C4A-B0DB-6C77-B6BB80FC6E17}"/>
              </a:ext>
            </a:extLst>
          </p:cNvPr>
          <p:cNvSpPr>
            <a:spLocks noGrp="1"/>
          </p:cNvSpPr>
          <p:nvPr>
            <p:ph type="body" sz="quarter" idx="21" hasCustomPrompt="1"/>
          </p:nvPr>
        </p:nvSpPr>
        <p:spPr>
          <a:xfrm>
            <a:off x="1971674" y="3699500"/>
            <a:ext cx="9726839" cy="85343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a:t>
            </a:r>
          </a:p>
          <a:p>
            <a:pPr lvl="0"/>
            <a:endParaRPr lang="ru-RU" dirty="0"/>
          </a:p>
        </p:txBody>
      </p:sp>
      <p:sp>
        <p:nvSpPr>
          <p:cNvPr id="18" name="Текст 21">
            <a:extLst>
              <a:ext uri="{FF2B5EF4-FFF2-40B4-BE49-F238E27FC236}">
                <a16:creationId xmlns:a16="http://schemas.microsoft.com/office/drawing/2014/main" id="{FB90DDBF-9D28-C179-C924-4165C72D5383}"/>
              </a:ext>
            </a:extLst>
          </p:cNvPr>
          <p:cNvSpPr>
            <a:spLocks noGrp="1"/>
          </p:cNvSpPr>
          <p:nvPr>
            <p:ph type="body" sz="quarter" idx="22" hasCustomPrompt="1"/>
          </p:nvPr>
        </p:nvSpPr>
        <p:spPr>
          <a:xfrm>
            <a:off x="1971673" y="4636445"/>
            <a:ext cx="9726839" cy="85343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a:t>
            </a:r>
          </a:p>
          <a:p>
            <a:pPr lvl="0"/>
            <a:endParaRPr lang="ru-RU" dirty="0"/>
          </a:p>
        </p:txBody>
      </p:sp>
      <p:sp>
        <p:nvSpPr>
          <p:cNvPr id="19" name="Текст 3">
            <a:extLst>
              <a:ext uri="{FF2B5EF4-FFF2-40B4-BE49-F238E27FC236}">
                <a16:creationId xmlns:a16="http://schemas.microsoft.com/office/drawing/2014/main" id="{225C9EA2-D6FE-4FDF-6F8C-67F3137CB4FA}"/>
              </a:ext>
            </a:extLst>
          </p:cNvPr>
          <p:cNvSpPr>
            <a:spLocks noGrp="1"/>
          </p:cNvSpPr>
          <p:nvPr>
            <p:ph type="body" sz="quarter" idx="23"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815465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МТУСИ_График_вид1">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6375" cy="365125"/>
          </a:xfrm>
        </p:spPr>
        <p:txBody>
          <a:bodyPr/>
          <a:lstStyle/>
          <a:p>
            <a:fld id="{56DCE2C9-06B9-4058-BEBD-6FDE8D61F8A0}" type="slidenum">
              <a:rPr lang="ru-RU" smtClean="0"/>
              <a:pPr/>
              <a:t>‹#›</a:t>
            </a:fld>
            <a:endParaRPr lang="ru-RU" dirty="0"/>
          </a:p>
        </p:txBody>
      </p:sp>
      <p:sp>
        <p:nvSpPr>
          <p:cNvPr id="15" name="Текст 14">
            <a:extLst>
              <a:ext uri="{FF2B5EF4-FFF2-40B4-BE49-F238E27FC236}">
                <a16:creationId xmlns:a16="http://schemas.microsoft.com/office/drawing/2014/main" id="{D7C05D74-10A8-943F-569A-4C8FC91EB38C}"/>
              </a:ext>
            </a:extLst>
          </p:cNvPr>
          <p:cNvSpPr>
            <a:spLocks noGrp="1"/>
          </p:cNvSpPr>
          <p:nvPr>
            <p:ph type="body" sz="quarter" idx="14" hasCustomPrompt="1"/>
          </p:nvPr>
        </p:nvSpPr>
        <p:spPr>
          <a:xfrm>
            <a:off x="479424" y="1922465"/>
            <a:ext cx="5616576" cy="729294"/>
          </a:xfrm>
        </p:spPr>
        <p:txBody>
          <a:bodyPr>
            <a:noAutofit/>
          </a:bodyPr>
          <a:lstStyle>
            <a:lvl1pPr>
              <a:lnSpc>
                <a:spcPct val="100000"/>
              </a:lnSpc>
              <a:spcBef>
                <a:spcPts val="0"/>
              </a:spcBef>
              <a:defRPr lang="ru-RU" sz="1600" kern="1200" dirty="0">
                <a:solidFill>
                  <a:schemeClr val="tx1"/>
                </a:solidFill>
                <a:latin typeface="+mj-lt"/>
                <a:ea typeface="+mn-ea"/>
                <a:cs typeface="+mn-cs"/>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Название графика может быть набрано в две или три строки</a:t>
            </a:r>
            <a:r>
              <a:rPr lang="ru-RU" sz="1600" dirty="0">
                <a:latin typeface="Montserrat" panose="00000500000000000000" pitchFamily="2" charset="-52"/>
              </a:rPr>
              <a:t> </a:t>
            </a:r>
            <a:r>
              <a:rPr lang="ru-RU" dirty="0"/>
              <a:t>(16</a:t>
            </a:r>
            <a:r>
              <a:rPr lang="en-US" dirty="0" err="1"/>
              <a:t>pt</a:t>
            </a:r>
            <a:r>
              <a:rPr lang="ru-RU" dirty="0"/>
              <a:t>)</a:t>
            </a:r>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2763520"/>
            <a:ext cx="5616575" cy="272795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p>
          <a:p>
            <a:pPr lvl="0"/>
            <a:endParaRPr lang="ru-RU" dirty="0"/>
          </a:p>
        </p:txBody>
      </p:sp>
      <p:sp>
        <p:nvSpPr>
          <p:cNvPr id="24" name="Текст 23">
            <a:extLst>
              <a:ext uri="{FF2B5EF4-FFF2-40B4-BE49-F238E27FC236}">
                <a16:creationId xmlns:a16="http://schemas.microsoft.com/office/drawing/2014/main" id="{D61CE62C-94C7-E142-B424-38E9B193E88B}"/>
              </a:ext>
            </a:extLst>
          </p:cNvPr>
          <p:cNvSpPr>
            <a:spLocks noGrp="1"/>
          </p:cNvSpPr>
          <p:nvPr>
            <p:ph type="body" sz="quarter" idx="18" hasCustomPrompt="1"/>
          </p:nvPr>
        </p:nvSpPr>
        <p:spPr>
          <a:xfrm>
            <a:off x="479425" y="5603240"/>
            <a:ext cx="5616575" cy="568325"/>
          </a:xfrm>
        </p:spPr>
        <p:txBody>
          <a:bodyPr>
            <a:normAutofit/>
          </a:bodyPr>
          <a:lstStyle>
            <a:lvl1pPr>
              <a:defRPr sz="1200">
                <a:solidFill>
                  <a:schemeClr val="accent6"/>
                </a:solidFill>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Пояснительная или дополнительная информация (12 </a:t>
            </a:r>
            <a:r>
              <a:rPr lang="ru-RU" dirty="0" err="1"/>
              <a:t>pt</a:t>
            </a:r>
            <a:r>
              <a:rPr lang="ru-RU" dirty="0"/>
              <a:t>)</a:t>
            </a:r>
          </a:p>
          <a:p>
            <a:pPr lvl="0"/>
            <a:endParaRPr lang="ru-RU" dirty="0"/>
          </a:p>
        </p:txBody>
      </p:sp>
      <p:sp>
        <p:nvSpPr>
          <p:cNvPr id="33" name="Диаграмма 32">
            <a:extLst>
              <a:ext uri="{FF2B5EF4-FFF2-40B4-BE49-F238E27FC236}">
                <a16:creationId xmlns:a16="http://schemas.microsoft.com/office/drawing/2014/main" id="{34FF752D-EB11-0D3F-5A7B-07989ADD3CAC}"/>
              </a:ext>
            </a:extLst>
          </p:cNvPr>
          <p:cNvSpPr>
            <a:spLocks noGrp="1"/>
          </p:cNvSpPr>
          <p:nvPr>
            <p:ph type="chart" sz="quarter" idx="19" hasCustomPrompt="1"/>
          </p:nvPr>
        </p:nvSpPr>
        <p:spPr>
          <a:xfrm>
            <a:off x="6356350" y="1923100"/>
            <a:ext cx="5353050" cy="4249100"/>
          </a:xfrm>
        </p:spPr>
        <p:txBody>
          <a:bodyPr anchor="ctr"/>
          <a:lstStyle>
            <a:lvl1pPr algn="ctr">
              <a:defRPr sz="2400">
                <a:solidFill>
                  <a:schemeClr val="tx1"/>
                </a:solidFill>
              </a:defRPr>
            </a:lvl1pPr>
          </a:lstStyle>
          <a:p>
            <a:r>
              <a:rPr lang="ru-RU" dirty="0"/>
              <a:t>График / диаграмма</a:t>
            </a:r>
          </a:p>
        </p:txBody>
      </p:sp>
      <p:sp>
        <p:nvSpPr>
          <p:cNvPr id="13" name="Текст 3">
            <a:extLst>
              <a:ext uri="{FF2B5EF4-FFF2-40B4-BE49-F238E27FC236}">
                <a16:creationId xmlns:a16="http://schemas.microsoft.com/office/drawing/2014/main" id="{7A86F1BA-D514-B01D-3E48-A88D59AD96B2}"/>
              </a:ext>
            </a:extLst>
          </p:cNvPr>
          <p:cNvSpPr>
            <a:spLocks noGrp="1"/>
          </p:cNvSpPr>
          <p:nvPr>
            <p:ph type="body" sz="quarter" idx="20"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2032362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МТУСИ_График_вид2">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4152900"/>
            <a:ext cx="5433695" cy="208533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4</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4" name="Текст 21">
            <a:extLst>
              <a:ext uri="{FF2B5EF4-FFF2-40B4-BE49-F238E27FC236}">
                <a16:creationId xmlns:a16="http://schemas.microsoft.com/office/drawing/2014/main" id="{6E5AEAD8-EA07-882B-E97B-CE9D2BECA870}"/>
              </a:ext>
            </a:extLst>
          </p:cNvPr>
          <p:cNvSpPr>
            <a:spLocks noGrp="1"/>
          </p:cNvSpPr>
          <p:nvPr>
            <p:ph type="body" sz="quarter" idx="19" hasCustomPrompt="1"/>
          </p:nvPr>
        </p:nvSpPr>
        <p:spPr>
          <a:xfrm>
            <a:off x="6280470" y="4152900"/>
            <a:ext cx="5433695" cy="2085339"/>
          </a:xfrm>
        </p:spPr>
        <p:txBody>
          <a:bodyPr/>
          <a:lstStyle>
            <a:lvl1pPr algn="l">
              <a:defRPr sz="14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4</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9" name="Диаграмма 32">
            <a:extLst>
              <a:ext uri="{FF2B5EF4-FFF2-40B4-BE49-F238E27FC236}">
                <a16:creationId xmlns:a16="http://schemas.microsoft.com/office/drawing/2014/main" id="{65AD59FA-9F74-23F5-549D-EA85FC943DB9}"/>
              </a:ext>
            </a:extLst>
          </p:cNvPr>
          <p:cNvSpPr>
            <a:spLocks noGrp="1"/>
          </p:cNvSpPr>
          <p:nvPr>
            <p:ph type="chart" sz="quarter" idx="22" hasCustomPrompt="1"/>
          </p:nvPr>
        </p:nvSpPr>
        <p:spPr>
          <a:xfrm>
            <a:off x="482600" y="1746941"/>
            <a:ext cx="5430520" cy="2290760"/>
          </a:xfrm>
        </p:spPr>
        <p:txBody>
          <a:bodyPr anchor="ctr"/>
          <a:lstStyle>
            <a:lvl1pPr algn="ctr">
              <a:defRPr sz="2400">
                <a:solidFill>
                  <a:schemeClr val="tx1"/>
                </a:solidFill>
              </a:defRPr>
            </a:lvl1pPr>
          </a:lstStyle>
          <a:p>
            <a:r>
              <a:rPr lang="ru-RU" dirty="0"/>
              <a:t>График / диаграмма</a:t>
            </a:r>
          </a:p>
        </p:txBody>
      </p:sp>
      <p:sp>
        <p:nvSpPr>
          <p:cNvPr id="12" name="Диаграмма 32">
            <a:extLst>
              <a:ext uri="{FF2B5EF4-FFF2-40B4-BE49-F238E27FC236}">
                <a16:creationId xmlns:a16="http://schemas.microsoft.com/office/drawing/2014/main" id="{DFB4F0F5-AF0A-4AB9-B9D1-405B6F5C9427}"/>
              </a:ext>
            </a:extLst>
          </p:cNvPr>
          <p:cNvSpPr>
            <a:spLocks noGrp="1"/>
          </p:cNvSpPr>
          <p:nvPr>
            <p:ph type="chart" sz="quarter" idx="23" hasCustomPrompt="1"/>
          </p:nvPr>
        </p:nvSpPr>
        <p:spPr>
          <a:xfrm>
            <a:off x="6275704" y="1746941"/>
            <a:ext cx="5433695" cy="2290760"/>
          </a:xfrm>
        </p:spPr>
        <p:txBody>
          <a:bodyPr anchor="ctr"/>
          <a:lstStyle>
            <a:lvl1pPr algn="ctr">
              <a:defRPr sz="2400">
                <a:solidFill>
                  <a:schemeClr val="tx1"/>
                </a:solidFill>
              </a:defRPr>
            </a:lvl1pPr>
          </a:lstStyle>
          <a:p>
            <a:r>
              <a:rPr lang="ru-RU" dirty="0"/>
              <a:t>График / диаграмма</a:t>
            </a:r>
          </a:p>
        </p:txBody>
      </p:sp>
      <p:sp>
        <p:nvSpPr>
          <p:cNvPr id="14" name="Текст 3">
            <a:extLst>
              <a:ext uri="{FF2B5EF4-FFF2-40B4-BE49-F238E27FC236}">
                <a16:creationId xmlns:a16="http://schemas.microsoft.com/office/drawing/2014/main" id="{5F195BF5-07E3-4009-9D70-244E59E087A8}"/>
              </a:ext>
            </a:extLst>
          </p:cNvPr>
          <p:cNvSpPr>
            <a:spLocks noGrp="1"/>
          </p:cNvSpPr>
          <p:nvPr>
            <p:ph type="body" sz="quarter" idx="24"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3674021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МТУСИ_График_вид3">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088701"/>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6" name="Текст 21">
            <a:extLst>
              <a:ext uri="{FF2B5EF4-FFF2-40B4-BE49-F238E27FC236}">
                <a16:creationId xmlns:a16="http://schemas.microsoft.com/office/drawing/2014/main" id="{140D3FD4-620D-1BC8-10A0-CB1CB1F3CB8C}"/>
              </a:ext>
            </a:extLst>
          </p:cNvPr>
          <p:cNvSpPr>
            <a:spLocks noGrp="1"/>
          </p:cNvSpPr>
          <p:nvPr>
            <p:ph type="body" sz="quarter" idx="21" hasCustomPrompt="1"/>
          </p:nvPr>
        </p:nvSpPr>
        <p:spPr>
          <a:xfrm>
            <a:off x="8153400" y="1705608"/>
            <a:ext cx="3544246" cy="4532632"/>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p>
        </p:txBody>
      </p:sp>
      <p:sp>
        <p:nvSpPr>
          <p:cNvPr id="12" name="Диаграмма 32">
            <a:extLst>
              <a:ext uri="{FF2B5EF4-FFF2-40B4-BE49-F238E27FC236}">
                <a16:creationId xmlns:a16="http://schemas.microsoft.com/office/drawing/2014/main" id="{B48E30F1-A5A6-FBD4-7672-90D1E12F921F}"/>
              </a:ext>
            </a:extLst>
          </p:cNvPr>
          <p:cNvSpPr>
            <a:spLocks noGrp="1"/>
          </p:cNvSpPr>
          <p:nvPr>
            <p:ph type="chart" sz="quarter" idx="22" hasCustomPrompt="1"/>
          </p:nvPr>
        </p:nvSpPr>
        <p:spPr>
          <a:xfrm>
            <a:off x="479425" y="1705607"/>
            <a:ext cx="3544247" cy="3475993"/>
          </a:xfrm>
        </p:spPr>
        <p:txBody>
          <a:bodyPr anchor="ctr"/>
          <a:lstStyle>
            <a:lvl1pPr algn="ctr">
              <a:defRPr sz="2400">
                <a:solidFill>
                  <a:schemeClr val="tx1"/>
                </a:solidFill>
              </a:defRPr>
            </a:lvl1pPr>
          </a:lstStyle>
          <a:p>
            <a:r>
              <a:rPr lang="ru-RU" dirty="0"/>
              <a:t>График / диаграмма</a:t>
            </a:r>
          </a:p>
        </p:txBody>
      </p:sp>
      <p:sp>
        <p:nvSpPr>
          <p:cNvPr id="14" name="Диаграмма 32">
            <a:extLst>
              <a:ext uri="{FF2B5EF4-FFF2-40B4-BE49-F238E27FC236}">
                <a16:creationId xmlns:a16="http://schemas.microsoft.com/office/drawing/2014/main" id="{56B737D7-47BD-12D9-0845-DA0A21592B3F}"/>
              </a:ext>
            </a:extLst>
          </p:cNvPr>
          <p:cNvSpPr>
            <a:spLocks noGrp="1"/>
          </p:cNvSpPr>
          <p:nvPr>
            <p:ph type="chart" sz="quarter" idx="23" hasCustomPrompt="1"/>
          </p:nvPr>
        </p:nvSpPr>
        <p:spPr>
          <a:xfrm>
            <a:off x="4316412" y="1705607"/>
            <a:ext cx="3544247" cy="3475993"/>
          </a:xfrm>
        </p:spPr>
        <p:txBody>
          <a:bodyPr anchor="ctr"/>
          <a:lstStyle>
            <a:lvl1pPr algn="ctr">
              <a:defRPr sz="2400">
                <a:solidFill>
                  <a:schemeClr val="tx1"/>
                </a:solidFill>
              </a:defRPr>
            </a:lvl1pPr>
          </a:lstStyle>
          <a:p>
            <a:r>
              <a:rPr lang="ru-RU" dirty="0"/>
              <a:t>График / диаграмма</a:t>
            </a:r>
          </a:p>
        </p:txBody>
      </p:sp>
      <p:sp>
        <p:nvSpPr>
          <p:cNvPr id="13" name="Текст 21">
            <a:extLst>
              <a:ext uri="{FF2B5EF4-FFF2-40B4-BE49-F238E27FC236}">
                <a16:creationId xmlns:a16="http://schemas.microsoft.com/office/drawing/2014/main" id="{237EF31C-FE7F-B95E-D840-828DE89B087C}"/>
              </a:ext>
            </a:extLst>
          </p:cNvPr>
          <p:cNvSpPr>
            <a:spLocks noGrp="1"/>
          </p:cNvSpPr>
          <p:nvPr>
            <p:ph type="body" sz="quarter" idx="24" hasCustomPrompt="1"/>
          </p:nvPr>
        </p:nvSpPr>
        <p:spPr>
          <a:xfrm>
            <a:off x="479425" y="5296534"/>
            <a:ext cx="3544245" cy="951232"/>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Изучите диаграмму, чтобы дать ее точное описание.</a:t>
            </a:r>
          </a:p>
        </p:txBody>
      </p:sp>
      <p:sp>
        <p:nvSpPr>
          <p:cNvPr id="16" name="Текст 21">
            <a:extLst>
              <a:ext uri="{FF2B5EF4-FFF2-40B4-BE49-F238E27FC236}">
                <a16:creationId xmlns:a16="http://schemas.microsoft.com/office/drawing/2014/main" id="{C641A085-1C91-A131-D215-98ABE94E0ECF}"/>
              </a:ext>
            </a:extLst>
          </p:cNvPr>
          <p:cNvSpPr>
            <a:spLocks noGrp="1"/>
          </p:cNvSpPr>
          <p:nvPr>
            <p:ph type="body" sz="quarter" idx="25" hasCustomPrompt="1"/>
          </p:nvPr>
        </p:nvSpPr>
        <p:spPr>
          <a:xfrm>
            <a:off x="4316412" y="5290183"/>
            <a:ext cx="3544247" cy="951232"/>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Изучите диаграмму, чтобы дать ее точное описание.</a:t>
            </a:r>
          </a:p>
        </p:txBody>
      </p:sp>
      <p:sp>
        <p:nvSpPr>
          <p:cNvPr id="17" name="Текст 3">
            <a:extLst>
              <a:ext uri="{FF2B5EF4-FFF2-40B4-BE49-F238E27FC236}">
                <a16:creationId xmlns:a16="http://schemas.microsoft.com/office/drawing/2014/main" id="{505E8E21-DFEB-A2F5-08E0-0812113182EF}"/>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1809082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МТУСИ_График_вид4">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088701"/>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4495798"/>
            <a:ext cx="3544247" cy="1742441"/>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p>
        </p:txBody>
      </p:sp>
      <p:sp>
        <p:nvSpPr>
          <p:cNvPr id="4" name="Текст 21">
            <a:extLst>
              <a:ext uri="{FF2B5EF4-FFF2-40B4-BE49-F238E27FC236}">
                <a16:creationId xmlns:a16="http://schemas.microsoft.com/office/drawing/2014/main" id="{6E5AEAD8-EA07-882B-E97B-CE9D2BECA870}"/>
              </a:ext>
            </a:extLst>
          </p:cNvPr>
          <p:cNvSpPr>
            <a:spLocks noGrp="1"/>
          </p:cNvSpPr>
          <p:nvPr>
            <p:ph type="body" sz="quarter" idx="19" hasCustomPrompt="1"/>
          </p:nvPr>
        </p:nvSpPr>
        <p:spPr>
          <a:xfrm>
            <a:off x="4316412" y="4495798"/>
            <a:ext cx="3544249" cy="1742441"/>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p>
        </p:txBody>
      </p:sp>
      <p:sp>
        <p:nvSpPr>
          <p:cNvPr id="6" name="Текст 21">
            <a:extLst>
              <a:ext uri="{FF2B5EF4-FFF2-40B4-BE49-F238E27FC236}">
                <a16:creationId xmlns:a16="http://schemas.microsoft.com/office/drawing/2014/main" id="{140D3FD4-620D-1BC8-10A0-CB1CB1F3CB8C}"/>
              </a:ext>
            </a:extLst>
          </p:cNvPr>
          <p:cNvSpPr>
            <a:spLocks noGrp="1"/>
          </p:cNvSpPr>
          <p:nvPr>
            <p:ph type="body" sz="quarter" idx="21" hasCustomPrompt="1"/>
          </p:nvPr>
        </p:nvSpPr>
        <p:spPr>
          <a:xfrm>
            <a:off x="8153400" y="4495798"/>
            <a:ext cx="3556000" cy="1742441"/>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p>
          <a:p>
            <a:pPr lvl="0"/>
            <a:endParaRPr lang="ru-RU" dirty="0"/>
          </a:p>
        </p:txBody>
      </p:sp>
      <p:sp>
        <p:nvSpPr>
          <p:cNvPr id="12" name="Диаграмма 32">
            <a:extLst>
              <a:ext uri="{FF2B5EF4-FFF2-40B4-BE49-F238E27FC236}">
                <a16:creationId xmlns:a16="http://schemas.microsoft.com/office/drawing/2014/main" id="{B48E30F1-A5A6-FBD4-7672-90D1E12F921F}"/>
              </a:ext>
            </a:extLst>
          </p:cNvPr>
          <p:cNvSpPr>
            <a:spLocks noGrp="1"/>
          </p:cNvSpPr>
          <p:nvPr>
            <p:ph type="chart" sz="quarter" idx="22" hasCustomPrompt="1"/>
          </p:nvPr>
        </p:nvSpPr>
        <p:spPr>
          <a:xfrm>
            <a:off x="479425" y="1705607"/>
            <a:ext cx="3544247" cy="2718757"/>
          </a:xfrm>
        </p:spPr>
        <p:txBody>
          <a:bodyPr anchor="ctr"/>
          <a:lstStyle>
            <a:lvl1pPr algn="ctr">
              <a:defRPr sz="2400">
                <a:solidFill>
                  <a:schemeClr val="tx1"/>
                </a:solidFill>
              </a:defRPr>
            </a:lvl1pPr>
          </a:lstStyle>
          <a:p>
            <a:r>
              <a:rPr lang="ru-RU" dirty="0"/>
              <a:t>График / диаграмма</a:t>
            </a:r>
          </a:p>
        </p:txBody>
      </p:sp>
      <p:sp>
        <p:nvSpPr>
          <p:cNvPr id="14" name="Диаграмма 32">
            <a:extLst>
              <a:ext uri="{FF2B5EF4-FFF2-40B4-BE49-F238E27FC236}">
                <a16:creationId xmlns:a16="http://schemas.microsoft.com/office/drawing/2014/main" id="{56B737D7-47BD-12D9-0845-DA0A21592B3F}"/>
              </a:ext>
            </a:extLst>
          </p:cNvPr>
          <p:cNvSpPr>
            <a:spLocks noGrp="1"/>
          </p:cNvSpPr>
          <p:nvPr>
            <p:ph type="chart" sz="quarter" idx="23" hasCustomPrompt="1"/>
          </p:nvPr>
        </p:nvSpPr>
        <p:spPr>
          <a:xfrm>
            <a:off x="4316412" y="1705607"/>
            <a:ext cx="3544247" cy="2718757"/>
          </a:xfrm>
        </p:spPr>
        <p:txBody>
          <a:bodyPr anchor="ctr"/>
          <a:lstStyle>
            <a:lvl1pPr algn="ctr">
              <a:defRPr sz="2400">
                <a:solidFill>
                  <a:schemeClr val="tx1"/>
                </a:solidFill>
              </a:defRPr>
            </a:lvl1pPr>
          </a:lstStyle>
          <a:p>
            <a:r>
              <a:rPr lang="ru-RU" dirty="0"/>
              <a:t>График / диаграмма</a:t>
            </a:r>
          </a:p>
        </p:txBody>
      </p:sp>
      <p:sp>
        <p:nvSpPr>
          <p:cNvPr id="15" name="Диаграмма 32">
            <a:extLst>
              <a:ext uri="{FF2B5EF4-FFF2-40B4-BE49-F238E27FC236}">
                <a16:creationId xmlns:a16="http://schemas.microsoft.com/office/drawing/2014/main" id="{DF6B2A1F-5565-46D0-EB48-18A9D454BE01}"/>
              </a:ext>
            </a:extLst>
          </p:cNvPr>
          <p:cNvSpPr>
            <a:spLocks noGrp="1"/>
          </p:cNvSpPr>
          <p:nvPr>
            <p:ph type="chart" sz="quarter" idx="24" hasCustomPrompt="1"/>
          </p:nvPr>
        </p:nvSpPr>
        <p:spPr>
          <a:xfrm>
            <a:off x="8153399" y="1705607"/>
            <a:ext cx="3544247" cy="2718757"/>
          </a:xfrm>
        </p:spPr>
        <p:txBody>
          <a:bodyPr anchor="ctr"/>
          <a:lstStyle>
            <a:lvl1pPr algn="ctr">
              <a:defRPr sz="2400">
                <a:solidFill>
                  <a:schemeClr val="tx1"/>
                </a:solidFill>
              </a:defRPr>
            </a:lvl1pPr>
          </a:lstStyle>
          <a:p>
            <a:r>
              <a:rPr lang="ru-RU" dirty="0"/>
              <a:t>График / диаграмма</a:t>
            </a:r>
          </a:p>
        </p:txBody>
      </p:sp>
      <p:sp>
        <p:nvSpPr>
          <p:cNvPr id="16" name="Текст 3">
            <a:extLst>
              <a:ext uri="{FF2B5EF4-FFF2-40B4-BE49-F238E27FC236}">
                <a16:creationId xmlns:a16="http://schemas.microsoft.com/office/drawing/2014/main" id="{F1DE3520-86A9-2B08-A917-786C7A9A78F2}"/>
              </a:ext>
            </a:extLst>
          </p:cNvPr>
          <p:cNvSpPr>
            <a:spLocks noGrp="1"/>
          </p:cNvSpPr>
          <p:nvPr>
            <p:ph type="body" sz="quarter" idx="25"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4183965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МТУСИ_Цифры для определения_вид1">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84506" y="2691130"/>
            <a:ext cx="3544247" cy="114046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8" name="Текст 21">
            <a:extLst>
              <a:ext uri="{FF2B5EF4-FFF2-40B4-BE49-F238E27FC236}">
                <a16:creationId xmlns:a16="http://schemas.microsoft.com/office/drawing/2014/main" id="{802F1FED-4D9A-249E-C957-97C692A0456A}"/>
              </a:ext>
            </a:extLst>
          </p:cNvPr>
          <p:cNvSpPr>
            <a:spLocks noGrp="1"/>
          </p:cNvSpPr>
          <p:nvPr>
            <p:ph type="body" sz="quarter" idx="22" hasCustomPrompt="1"/>
          </p:nvPr>
        </p:nvSpPr>
        <p:spPr>
          <a:xfrm>
            <a:off x="484505" y="2076449"/>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1000</a:t>
            </a:r>
          </a:p>
        </p:txBody>
      </p:sp>
      <p:sp>
        <p:nvSpPr>
          <p:cNvPr id="9" name="Текст 21">
            <a:extLst>
              <a:ext uri="{FF2B5EF4-FFF2-40B4-BE49-F238E27FC236}">
                <a16:creationId xmlns:a16="http://schemas.microsoft.com/office/drawing/2014/main" id="{56E7A273-4BF1-8B26-0D48-A7448DF7D406}"/>
              </a:ext>
            </a:extLst>
          </p:cNvPr>
          <p:cNvSpPr>
            <a:spLocks noGrp="1"/>
          </p:cNvSpPr>
          <p:nvPr>
            <p:ph type="body" sz="quarter" idx="23" hasCustomPrompt="1"/>
          </p:nvPr>
        </p:nvSpPr>
        <p:spPr>
          <a:xfrm>
            <a:off x="4328957" y="2691130"/>
            <a:ext cx="3544247" cy="114046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12" name="Текст 21">
            <a:extLst>
              <a:ext uri="{FF2B5EF4-FFF2-40B4-BE49-F238E27FC236}">
                <a16:creationId xmlns:a16="http://schemas.microsoft.com/office/drawing/2014/main" id="{660A341E-8503-763D-DE3D-CDC7313D272C}"/>
              </a:ext>
            </a:extLst>
          </p:cNvPr>
          <p:cNvSpPr>
            <a:spLocks noGrp="1"/>
          </p:cNvSpPr>
          <p:nvPr>
            <p:ph type="body" sz="quarter" idx="24" hasCustomPrompt="1"/>
          </p:nvPr>
        </p:nvSpPr>
        <p:spPr>
          <a:xfrm>
            <a:off x="4328956" y="2076449"/>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&gt;1800</a:t>
            </a:r>
          </a:p>
        </p:txBody>
      </p:sp>
      <p:sp>
        <p:nvSpPr>
          <p:cNvPr id="14" name="Текст 21">
            <a:extLst>
              <a:ext uri="{FF2B5EF4-FFF2-40B4-BE49-F238E27FC236}">
                <a16:creationId xmlns:a16="http://schemas.microsoft.com/office/drawing/2014/main" id="{B4AD0440-BE36-3C05-15B1-8756B73C5E7E}"/>
              </a:ext>
            </a:extLst>
          </p:cNvPr>
          <p:cNvSpPr>
            <a:spLocks noGrp="1"/>
          </p:cNvSpPr>
          <p:nvPr>
            <p:ph type="body" sz="quarter" idx="25" hasCustomPrompt="1"/>
          </p:nvPr>
        </p:nvSpPr>
        <p:spPr>
          <a:xfrm>
            <a:off x="8170233" y="2691130"/>
            <a:ext cx="3544247" cy="114046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15" name="Текст 21">
            <a:extLst>
              <a:ext uri="{FF2B5EF4-FFF2-40B4-BE49-F238E27FC236}">
                <a16:creationId xmlns:a16="http://schemas.microsoft.com/office/drawing/2014/main" id="{AE1AB696-E2CB-BF1D-47E4-99320D10C3CC}"/>
              </a:ext>
            </a:extLst>
          </p:cNvPr>
          <p:cNvSpPr>
            <a:spLocks noGrp="1"/>
          </p:cNvSpPr>
          <p:nvPr>
            <p:ph type="body" sz="quarter" idx="26" hasCustomPrompt="1"/>
          </p:nvPr>
        </p:nvSpPr>
        <p:spPr>
          <a:xfrm>
            <a:off x="8170232" y="2076449"/>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19000</a:t>
            </a:r>
          </a:p>
        </p:txBody>
      </p:sp>
      <p:sp>
        <p:nvSpPr>
          <p:cNvPr id="16" name="Текст 21">
            <a:extLst>
              <a:ext uri="{FF2B5EF4-FFF2-40B4-BE49-F238E27FC236}">
                <a16:creationId xmlns:a16="http://schemas.microsoft.com/office/drawing/2014/main" id="{0CDBF0B5-FD72-B306-CF28-B2762B862CD5}"/>
              </a:ext>
            </a:extLst>
          </p:cNvPr>
          <p:cNvSpPr>
            <a:spLocks noGrp="1"/>
          </p:cNvSpPr>
          <p:nvPr>
            <p:ph type="body" sz="quarter" idx="27" hasCustomPrompt="1"/>
          </p:nvPr>
        </p:nvSpPr>
        <p:spPr>
          <a:xfrm>
            <a:off x="482601" y="4765041"/>
            <a:ext cx="3544247" cy="114046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17" name="Текст 21">
            <a:extLst>
              <a:ext uri="{FF2B5EF4-FFF2-40B4-BE49-F238E27FC236}">
                <a16:creationId xmlns:a16="http://schemas.microsoft.com/office/drawing/2014/main" id="{3D102FF6-1B83-3CAA-888A-D9BEC96C448D}"/>
              </a:ext>
            </a:extLst>
          </p:cNvPr>
          <p:cNvSpPr>
            <a:spLocks noGrp="1"/>
          </p:cNvSpPr>
          <p:nvPr>
            <p:ph type="body" sz="quarter" idx="28" hasCustomPrompt="1"/>
          </p:nvPr>
        </p:nvSpPr>
        <p:spPr>
          <a:xfrm>
            <a:off x="482600" y="4150360"/>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1000</a:t>
            </a:r>
          </a:p>
        </p:txBody>
      </p:sp>
      <p:sp>
        <p:nvSpPr>
          <p:cNvPr id="18" name="Текст 21">
            <a:extLst>
              <a:ext uri="{FF2B5EF4-FFF2-40B4-BE49-F238E27FC236}">
                <a16:creationId xmlns:a16="http://schemas.microsoft.com/office/drawing/2014/main" id="{BD174C1E-F29F-B824-ADAD-5ABC45396863}"/>
              </a:ext>
            </a:extLst>
          </p:cNvPr>
          <p:cNvSpPr>
            <a:spLocks noGrp="1"/>
          </p:cNvSpPr>
          <p:nvPr>
            <p:ph type="body" sz="quarter" idx="29" hasCustomPrompt="1"/>
          </p:nvPr>
        </p:nvSpPr>
        <p:spPr>
          <a:xfrm>
            <a:off x="4327052" y="4765041"/>
            <a:ext cx="3544247" cy="114046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19" name="Текст 21">
            <a:extLst>
              <a:ext uri="{FF2B5EF4-FFF2-40B4-BE49-F238E27FC236}">
                <a16:creationId xmlns:a16="http://schemas.microsoft.com/office/drawing/2014/main" id="{D943059A-93BC-DBCE-E4CE-88F67BD81D51}"/>
              </a:ext>
            </a:extLst>
          </p:cNvPr>
          <p:cNvSpPr>
            <a:spLocks noGrp="1"/>
          </p:cNvSpPr>
          <p:nvPr>
            <p:ph type="body" sz="quarter" idx="30" hasCustomPrompt="1"/>
          </p:nvPr>
        </p:nvSpPr>
        <p:spPr>
          <a:xfrm>
            <a:off x="4327051" y="4150360"/>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&gt;1800</a:t>
            </a:r>
          </a:p>
        </p:txBody>
      </p:sp>
      <p:sp>
        <p:nvSpPr>
          <p:cNvPr id="20" name="Текст 21">
            <a:extLst>
              <a:ext uri="{FF2B5EF4-FFF2-40B4-BE49-F238E27FC236}">
                <a16:creationId xmlns:a16="http://schemas.microsoft.com/office/drawing/2014/main" id="{8E5D85F6-AE41-EFFB-F4C8-D328F114EF75}"/>
              </a:ext>
            </a:extLst>
          </p:cNvPr>
          <p:cNvSpPr>
            <a:spLocks noGrp="1"/>
          </p:cNvSpPr>
          <p:nvPr>
            <p:ph type="body" sz="quarter" idx="31" hasCustomPrompt="1"/>
          </p:nvPr>
        </p:nvSpPr>
        <p:spPr>
          <a:xfrm>
            <a:off x="8168328" y="4765041"/>
            <a:ext cx="3544247" cy="114046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21" name="Текст 21">
            <a:extLst>
              <a:ext uri="{FF2B5EF4-FFF2-40B4-BE49-F238E27FC236}">
                <a16:creationId xmlns:a16="http://schemas.microsoft.com/office/drawing/2014/main" id="{0CE8800E-CF98-ADF9-E2B4-401CFFAFD28C}"/>
              </a:ext>
            </a:extLst>
          </p:cNvPr>
          <p:cNvSpPr>
            <a:spLocks noGrp="1"/>
          </p:cNvSpPr>
          <p:nvPr>
            <p:ph type="body" sz="quarter" idx="32" hasCustomPrompt="1"/>
          </p:nvPr>
        </p:nvSpPr>
        <p:spPr>
          <a:xfrm>
            <a:off x="8168327" y="4150360"/>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19000</a:t>
            </a:r>
          </a:p>
        </p:txBody>
      </p:sp>
      <p:sp>
        <p:nvSpPr>
          <p:cNvPr id="23" name="Текст 3">
            <a:extLst>
              <a:ext uri="{FF2B5EF4-FFF2-40B4-BE49-F238E27FC236}">
                <a16:creationId xmlns:a16="http://schemas.microsoft.com/office/drawing/2014/main" id="{37B31548-195B-1ACD-6E18-9AE3CCB496F0}"/>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253127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МТУСИ_Цифры для определения_вид2">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84506" y="2691130"/>
            <a:ext cx="3544247" cy="340487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8" name="Текст 21">
            <a:extLst>
              <a:ext uri="{FF2B5EF4-FFF2-40B4-BE49-F238E27FC236}">
                <a16:creationId xmlns:a16="http://schemas.microsoft.com/office/drawing/2014/main" id="{802F1FED-4D9A-249E-C957-97C692A0456A}"/>
              </a:ext>
            </a:extLst>
          </p:cNvPr>
          <p:cNvSpPr>
            <a:spLocks noGrp="1"/>
          </p:cNvSpPr>
          <p:nvPr>
            <p:ph type="body" sz="quarter" idx="22" hasCustomPrompt="1"/>
          </p:nvPr>
        </p:nvSpPr>
        <p:spPr>
          <a:xfrm>
            <a:off x="484505" y="2076449"/>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1000</a:t>
            </a:r>
          </a:p>
        </p:txBody>
      </p:sp>
      <p:sp>
        <p:nvSpPr>
          <p:cNvPr id="9" name="Текст 21">
            <a:extLst>
              <a:ext uri="{FF2B5EF4-FFF2-40B4-BE49-F238E27FC236}">
                <a16:creationId xmlns:a16="http://schemas.microsoft.com/office/drawing/2014/main" id="{56E7A273-4BF1-8B26-0D48-A7448DF7D406}"/>
              </a:ext>
            </a:extLst>
          </p:cNvPr>
          <p:cNvSpPr>
            <a:spLocks noGrp="1"/>
          </p:cNvSpPr>
          <p:nvPr>
            <p:ph type="body" sz="quarter" idx="23" hasCustomPrompt="1"/>
          </p:nvPr>
        </p:nvSpPr>
        <p:spPr>
          <a:xfrm>
            <a:off x="4328957" y="2691130"/>
            <a:ext cx="3544247" cy="340487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12" name="Текст 21">
            <a:extLst>
              <a:ext uri="{FF2B5EF4-FFF2-40B4-BE49-F238E27FC236}">
                <a16:creationId xmlns:a16="http://schemas.microsoft.com/office/drawing/2014/main" id="{660A341E-8503-763D-DE3D-CDC7313D272C}"/>
              </a:ext>
            </a:extLst>
          </p:cNvPr>
          <p:cNvSpPr>
            <a:spLocks noGrp="1"/>
          </p:cNvSpPr>
          <p:nvPr>
            <p:ph type="body" sz="quarter" idx="24" hasCustomPrompt="1"/>
          </p:nvPr>
        </p:nvSpPr>
        <p:spPr>
          <a:xfrm>
            <a:off x="4328956" y="2076449"/>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&gt;1800</a:t>
            </a:r>
          </a:p>
        </p:txBody>
      </p:sp>
      <p:sp>
        <p:nvSpPr>
          <p:cNvPr id="14" name="Текст 21">
            <a:extLst>
              <a:ext uri="{FF2B5EF4-FFF2-40B4-BE49-F238E27FC236}">
                <a16:creationId xmlns:a16="http://schemas.microsoft.com/office/drawing/2014/main" id="{B4AD0440-BE36-3C05-15B1-8756B73C5E7E}"/>
              </a:ext>
            </a:extLst>
          </p:cNvPr>
          <p:cNvSpPr>
            <a:spLocks noGrp="1"/>
          </p:cNvSpPr>
          <p:nvPr>
            <p:ph type="body" sz="quarter" idx="25" hasCustomPrompt="1"/>
          </p:nvPr>
        </p:nvSpPr>
        <p:spPr>
          <a:xfrm>
            <a:off x="8170233" y="2691130"/>
            <a:ext cx="3544247" cy="3404870"/>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Не беспокойтесь</a:t>
            </a:r>
            <a:r>
              <a:rPr lang="en-US" dirty="0"/>
              <a:t> </a:t>
            </a:r>
            <a:r>
              <a:rPr lang="ru-RU" dirty="0"/>
              <a:t>(1</a:t>
            </a:r>
            <a:r>
              <a:rPr lang="en-US" dirty="0"/>
              <a:t>2</a:t>
            </a:r>
            <a:r>
              <a:rPr lang="ru-RU" dirty="0" err="1"/>
              <a:t>pt</a:t>
            </a:r>
            <a:r>
              <a:rPr lang="ru-RU" dirty="0"/>
              <a: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dirty="0"/>
          </a:p>
        </p:txBody>
      </p:sp>
      <p:sp>
        <p:nvSpPr>
          <p:cNvPr id="15" name="Текст 21">
            <a:extLst>
              <a:ext uri="{FF2B5EF4-FFF2-40B4-BE49-F238E27FC236}">
                <a16:creationId xmlns:a16="http://schemas.microsoft.com/office/drawing/2014/main" id="{AE1AB696-E2CB-BF1D-47E4-99320D10C3CC}"/>
              </a:ext>
            </a:extLst>
          </p:cNvPr>
          <p:cNvSpPr>
            <a:spLocks noGrp="1"/>
          </p:cNvSpPr>
          <p:nvPr>
            <p:ph type="body" sz="quarter" idx="26" hasCustomPrompt="1"/>
          </p:nvPr>
        </p:nvSpPr>
        <p:spPr>
          <a:xfrm>
            <a:off x="8170232" y="2076449"/>
            <a:ext cx="3544247" cy="533400"/>
          </a:xfrm>
        </p:spPr>
        <p:txBody>
          <a:bodyPr>
            <a:normAutofit/>
          </a:bodyPr>
          <a:lstStyle>
            <a:lvl1pPr algn="l">
              <a:defRPr sz="4000">
                <a:latin typeface="+mj-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en-US" dirty="0"/>
              <a:t>19000</a:t>
            </a:r>
          </a:p>
        </p:txBody>
      </p:sp>
      <p:sp>
        <p:nvSpPr>
          <p:cNvPr id="16" name="Текст 3">
            <a:extLst>
              <a:ext uri="{FF2B5EF4-FFF2-40B4-BE49-F238E27FC236}">
                <a16:creationId xmlns:a16="http://schemas.microsoft.com/office/drawing/2014/main" id="{E093D719-1D82-D66E-9E95-BD80140B12A5}"/>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1316469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МТУСИ_Текст_вид1">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1828799"/>
            <a:ext cx="3544247" cy="4409439"/>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dirty="0"/>
              <a:t> </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marL="0" marR="0" lvl="0" indent="0" algn="just" defTabSz="914400" rtl="0" eaLnBrk="1" fontAlgn="auto" latinLnBrk="0" hangingPunct="1">
              <a:lnSpc>
                <a:spcPct val="90000"/>
              </a:lnSpc>
              <a:spcBef>
                <a:spcPts val="1000"/>
              </a:spcBef>
              <a:spcAft>
                <a:spcPts val="0"/>
              </a:spcAft>
              <a:buClrTx/>
              <a:buSzTx/>
              <a:buFontTx/>
              <a:buNone/>
              <a:tabLst/>
              <a:defRPr/>
            </a:pPr>
            <a:endParaRPr lang="ru-RU" dirty="0"/>
          </a:p>
        </p:txBody>
      </p:sp>
      <p:sp>
        <p:nvSpPr>
          <p:cNvPr id="4" name="Текст 21">
            <a:extLst>
              <a:ext uri="{FF2B5EF4-FFF2-40B4-BE49-F238E27FC236}">
                <a16:creationId xmlns:a16="http://schemas.microsoft.com/office/drawing/2014/main" id="{6E5AEAD8-EA07-882B-E97B-CE9D2BECA870}"/>
              </a:ext>
            </a:extLst>
          </p:cNvPr>
          <p:cNvSpPr>
            <a:spLocks noGrp="1"/>
          </p:cNvSpPr>
          <p:nvPr>
            <p:ph type="body" sz="quarter" idx="19" hasCustomPrompt="1"/>
          </p:nvPr>
        </p:nvSpPr>
        <p:spPr>
          <a:xfrm>
            <a:off x="4316412" y="1828637"/>
            <a:ext cx="3544249" cy="4404521"/>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6" name="Текст 21">
            <a:extLst>
              <a:ext uri="{FF2B5EF4-FFF2-40B4-BE49-F238E27FC236}">
                <a16:creationId xmlns:a16="http://schemas.microsoft.com/office/drawing/2014/main" id="{140D3FD4-620D-1BC8-10A0-CB1CB1F3CB8C}"/>
              </a:ext>
            </a:extLst>
          </p:cNvPr>
          <p:cNvSpPr>
            <a:spLocks noGrp="1"/>
          </p:cNvSpPr>
          <p:nvPr>
            <p:ph type="body" sz="quarter" idx="21" hasCustomPrompt="1"/>
          </p:nvPr>
        </p:nvSpPr>
        <p:spPr>
          <a:xfrm>
            <a:off x="8153400" y="1828799"/>
            <a:ext cx="3556000" cy="4409439"/>
          </a:xfrm>
        </p:spPr>
        <p:txBody>
          <a:bodyPr/>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lvl="0"/>
            <a:endParaRPr lang="ru-RU" dirty="0"/>
          </a:p>
          <a:p>
            <a:pPr lvl="0"/>
            <a:endParaRPr lang="ru-RU" dirty="0"/>
          </a:p>
        </p:txBody>
      </p:sp>
      <p:sp>
        <p:nvSpPr>
          <p:cNvPr id="9" name="Текст 3">
            <a:extLst>
              <a:ext uri="{FF2B5EF4-FFF2-40B4-BE49-F238E27FC236}">
                <a16:creationId xmlns:a16="http://schemas.microsoft.com/office/drawing/2014/main" id="{51E03B25-0490-CFB3-BF28-99F32F219D39}"/>
              </a:ext>
            </a:extLst>
          </p:cNvPr>
          <p:cNvSpPr>
            <a:spLocks noGrp="1"/>
          </p:cNvSpPr>
          <p:nvPr>
            <p:ph type="body" sz="quarter" idx="22"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20917272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МТУСИ_Текст_вид2">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DB568-565C-4131-B256-954D8136C5D3}"/>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0" name="Нижний колонтитул 9">
            <a:extLst>
              <a:ext uri="{FF2B5EF4-FFF2-40B4-BE49-F238E27FC236}">
                <a16:creationId xmlns:a16="http://schemas.microsoft.com/office/drawing/2014/main" id="{592DA0A4-3E35-9FCB-5C58-C207AA33891A}"/>
              </a:ext>
            </a:extLst>
          </p:cNvPr>
          <p:cNvSpPr>
            <a:spLocks noGrp="1"/>
          </p:cNvSpPr>
          <p:nvPr>
            <p:ph type="ftr" sz="quarter" idx="11"/>
          </p:nvPr>
        </p:nvSpPr>
        <p:spPr/>
        <p:txBody>
          <a:bodyPr/>
          <a:lstStyle/>
          <a:p>
            <a:endParaRPr lang="ru-RU" dirty="0"/>
          </a:p>
        </p:txBody>
      </p:sp>
      <p:sp>
        <p:nvSpPr>
          <p:cNvPr id="11" name="Номер слайда 10">
            <a:extLst>
              <a:ext uri="{FF2B5EF4-FFF2-40B4-BE49-F238E27FC236}">
                <a16:creationId xmlns:a16="http://schemas.microsoft.com/office/drawing/2014/main" id="{A350E6A6-02F1-5CE8-2BF5-823ED0C859F6}"/>
              </a:ext>
            </a:extLst>
          </p:cNvPr>
          <p:cNvSpPr>
            <a:spLocks noGrp="1"/>
          </p:cNvSpPr>
          <p:nvPr>
            <p:ph type="sldNum" sz="quarter" idx="12"/>
          </p:nvPr>
        </p:nvSpPr>
        <p:spPr>
          <a:xfrm>
            <a:off x="8966200" y="6352540"/>
            <a:ext cx="2743200" cy="365125"/>
          </a:xfrm>
        </p:spPr>
        <p:txBody>
          <a:bodyPr/>
          <a:lstStyle/>
          <a:p>
            <a:fld id="{56DCE2C9-06B9-4058-BEBD-6FDE8D61F8A0}" type="slidenum">
              <a:rPr lang="ru-RU" smtClean="0"/>
              <a:pPr/>
              <a:t>‹#›</a:t>
            </a:fld>
            <a:endParaRPr lang="ru-RU" dirty="0"/>
          </a:p>
        </p:txBody>
      </p:sp>
      <p:sp>
        <p:nvSpPr>
          <p:cNvPr id="22" name="Текст 21">
            <a:extLst>
              <a:ext uri="{FF2B5EF4-FFF2-40B4-BE49-F238E27FC236}">
                <a16:creationId xmlns:a16="http://schemas.microsoft.com/office/drawing/2014/main" id="{947E01EF-939F-5B58-C50B-3852DAF5CC1A}"/>
              </a:ext>
            </a:extLst>
          </p:cNvPr>
          <p:cNvSpPr>
            <a:spLocks noGrp="1"/>
          </p:cNvSpPr>
          <p:nvPr>
            <p:ph type="body" sz="quarter" idx="17" hasCustomPrompt="1"/>
          </p:nvPr>
        </p:nvSpPr>
        <p:spPr>
          <a:xfrm>
            <a:off x="479425" y="1738315"/>
            <a:ext cx="11233150" cy="4499924"/>
          </a:xfrm>
        </p:spPr>
        <p:txBody>
          <a:bodyPr numCol="3" spcCol="360000"/>
          <a:lstStyle>
            <a:lvl1pPr algn="l">
              <a:defRPr sz="1200"/>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dirty="0"/>
              <a:t> </a:t>
            </a:r>
            <a:br>
              <a:rPr lang="ru-RU"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dirty="0"/>
            </a:br>
            <a:br>
              <a:rPr lang="ru-RU" dirty="0"/>
            </a:br>
            <a:br>
              <a:rPr lang="ru-RU" dirty="0"/>
            </a:b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dirty="0"/>
              <a:t> </a:t>
            </a:r>
            <a:br>
              <a:rPr lang="ru-RU"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marL="0" marR="0" lvl="0" indent="0" algn="just" defTabSz="914400" rtl="0" eaLnBrk="1" fontAlgn="auto" latinLnBrk="0" hangingPunct="1">
              <a:lnSpc>
                <a:spcPct val="90000"/>
              </a:lnSpc>
              <a:spcBef>
                <a:spcPts val="1000"/>
              </a:spcBef>
              <a:spcAft>
                <a:spcPts val="0"/>
              </a:spcAft>
              <a:buClrTx/>
              <a:buSzTx/>
              <a:buFontTx/>
              <a:buNone/>
              <a:tabLst/>
              <a:defRPr/>
            </a:pPr>
            <a:br>
              <a:rPr lang="ru-RU" dirty="0"/>
            </a:br>
            <a:br>
              <a:rPr lang="ru-RU" dirty="0"/>
            </a:br>
            <a:r>
              <a:rPr lang="ru-RU" dirty="0"/>
              <a:t>Рекомендуется разбивать большой объем текста (1</a:t>
            </a:r>
            <a:r>
              <a:rPr lang="en-US" dirty="0"/>
              <a:t>2</a:t>
            </a:r>
            <a:r>
              <a:rPr lang="ru-RU" dirty="0" err="1"/>
              <a:t>pt</a:t>
            </a:r>
            <a:r>
              <a:rPr lang="ru-RU" dirty="0"/>
              <a: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dirty="0"/>
              <a:t> </a:t>
            </a:r>
            <a:br>
              <a:rPr lang="ru-RU"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dirty="0"/>
            </a:br>
            <a:r>
              <a:rPr lang="ru-RU" dirty="0"/>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p>
          <a:p>
            <a:pPr marL="0" marR="0" lvl="0" indent="0" algn="just" defTabSz="914400" rtl="0" eaLnBrk="1" fontAlgn="auto" latinLnBrk="0" hangingPunct="1">
              <a:lnSpc>
                <a:spcPct val="90000"/>
              </a:lnSpc>
              <a:spcBef>
                <a:spcPts val="1000"/>
              </a:spcBef>
              <a:spcAft>
                <a:spcPts val="0"/>
              </a:spcAft>
              <a:buClrTx/>
              <a:buSzTx/>
              <a:buFontTx/>
              <a:buNone/>
              <a:tabLst/>
              <a:defRPr/>
            </a:pPr>
            <a:endParaRPr lang="ru-RU" dirty="0"/>
          </a:p>
        </p:txBody>
      </p:sp>
      <p:sp>
        <p:nvSpPr>
          <p:cNvPr id="8" name="Текст 3">
            <a:extLst>
              <a:ext uri="{FF2B5EF4-FFF2-40B4-BE49-F238E27FC236}">
                <a16:creationId xmlns:a16="http://schemas.microsoft.com/office/drawing/2014/main" id="{EFA69F7D-23BC-552A-F450-5503DE9EBBC6}"/>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20744556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МТУСИ_Таблица_вид1">
    <p:spTree>
      <p:nvGrpSpPr>
        <p:cNvPr id="1" name=""/>
        <p:cNvGrpSpPr/>
        <p:nvPr/>
      </p:nvGrpSpPr>
      <p:grpSpPr>
        <a:xfrm>
          <a:off x="0" y="0"/>
          <a:ext cx="0" cy="0"/>
          <a:chOff x="0" y="0"/>
          <a:chExt cx="0" cy="0"/>
        </a:xfrm>
      </p:grpSpPr>
      <p:sp>
        <p:nvSpPr>
          <p:cNvPr id="4" name="Нижний колонтитул 3">
            <a:extLst>
              <a:ext uri="{FF2B5EF4-FFF2-40B4-BE49-F238E27FC236}">
                <a16:creationId xmlns:a16="http://schemas.microsoft.com/office/drawing/2014/main" id="{01746CC5-BF58-3317-D13D-80AB4B8769B8}"/>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8F69B92D-65DC-B632-E9DC-CDB019B3EC38}"/>
              </a:ext>
            </a:extLst>
          </p:cNvPr>
          <p:cNvSpPr>
            <a:spLocks noGrp="1"/>
          </p:cNvSpPr>
          <p:nvPr>
            <p:ph type="sldNum" sz="quarter" idx="12"/>
          </p:nvPr>
        </p:nvSpPr>
        <p:spPr/>
        <p:txBody>
          <a:bodyPr/>
          <a:lstStyle/>
          <a:p>
            <a:fld id="{56DCE2C9-06B9-4058-BEBD-6FDE8D61F8A0}" type="slidenum">
              <a:rPr lang="ru-RU" smtClean="0"/>
              <a:pPr/>
              <a:t>‹#›</a:t>
            </a:fld>
            <a:endParaRPr lang="ru-RU" dirty="0"/>
          </a:p>
        </p:txBody>
      </p:sp>
      <p:sp>
        <p:nvSpPr>
          <p:cNvPr id="10" name="Заголовок 1">
            <a:extLst>
              <a:ext uri="{FF2B5EF4-FFF2-40B4-BE49-F238E27FC236}">
                <a16:creationId xmlns:a16="http://schemas.microsoft.com/office/drawing/2014/main" id="{F5649485-E525-C6FD-C725-BE7F87616BC0}"/>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1" name="Текст 14">
            <a:extLst>
              <a:ext uri="{FF2B5EF4-FFF2-40B4-BE49-F238E27FC236}">
                <a16:creationId xmlns:a16="http://schemas.microsoft.com/office/drawing/2014/main" id="{AAE3523F-DA85-8D99-3AAE-EDEA089CDDB9}"/>
              </a:ext>
            </a:extLst>
          </p:cNvPr>
          <p:cNvSpPr>
            <a:spLocks noGrp="1"/>
          </p:cNvSpPr>
          <p:nvPr>
            <p:ph type="body" sz="quarter" idx="14" hasCustomPrompt="1"/>
          </p:nvPr>
        </p:nvSpPr>
        <p:spPr>
          <a:xfrm>
            <a:off x="477835" y="1819118"/>
            <a:ext cx="11229975" cy="532548"/>
          </a:xfrm>
        </p:spPr>
        <p:txBody>
          <a:bodyPr>
            <a:noAutofit/>
          </a:bodyPr>
          <a:lstStyle>
            <a:lvl1pPr>
              <a:lnSpc>
                <a:spcPct val="100000"/>
              </a:lnSpc>
              <a:spcBef>
                <a:spcPts val="0"/>
              </a:spcBef>
              <a:defRPr lang="ru-RU" sz="1600" kern="1200" dirty="0">
                <a:solidFill>
                  <a:schemeClr val="tx1"/>
                </a:solidFill>
                <a:latin typeface="+mj-lt"/>
                <a:ea typeface="+mn-ea"/>
                <a:cs typeface="+mn-cs"/>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Название таблицы может быть набрано в одну или две строки</a:t>
            </a:r>
            <a:r>
              <a:rPr lang="ru-RU" sz="1600" dirty="0">
                <a:latin typeface="Montserrat" panose="00000500000000000000" pitchFamily="2" charset="-52"/>
              </a:rPr>
              <a:t> </a:t>
            </a:r>
            <a:r>
              <a:rPr lang="ru-RU" dirty="0"/>
              <a:t>(16</a:t>
            </a:r>
            <a:r>
              <a:rPr lang="en-US" dirty="0" err="1"/>
              <a:t>pt</a:t>
            </a:r>
            <a:r>
              <a:rPr lang="ru-RU" dirty="0"/>
              <a:t>)</a:t>
            </a:r>
          </a:p>
        </p:txBody>
      </p:sp>
      <p:sp>
        <p:nvSpPr>
          <p:cNvPr id="12" name="Текст 21">
            <a:extLst>
              <a:ext uri="{FF2B5EF4-FFF2-40B4-BE49-F238E27FC236}">
                <a16:creationId xmlns:a16="http://schemas.microsoft.com/office/drawing/2014/main" id="{5D1C71AE-3927-5E90-C17E-F0411B9E5C65}"/>
              </a:ext>
            </a:extLst>
          </p:cNvPr>
          <p:cNvSpPr>
            <a:spLocks noGrp="1"/>
          </p:cNvSpPr>
          <p:nvPr>
            <p:ph type="body" sz="quarter" idx="21" hasCustomPrompt="1"/>
          </p:nvPr>
        </p:nvSpPr>
        <p:spPr>
          <a:xfrm>
            <a:off x="8255479" y="2440089"/>
            <a:ext cx="3457096" cy="3123949"/>
          </a:xfrm>
        </p:spPr>
        <p:txBody>
          <a:bodyPr/>
          <a:lstStyle>
            <a:lvl1pPr algn="l">
              <a:defRPr sz="1200" b="0">
                <a:latin typeface="+mn-lt"/>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Рекомендуется располагать небольшие фрагменты текста (12pt). Несколько рекомендаций для описания таблицы:</a:t>
            </a:r>
            <a:br>
              <a:rPr lang="ru-RU" dirty="0"/>
            </a:br>
            <a:r>
              <a:rPr lang="ru-RU" dirty="0"/>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dirty="0"/>
            </a:br>
            <a:r>
              <a:rPr lang="ru-RU" dirty="0"/>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dirty="0"/>
            </a:br>
            <a:r>
              <a:rPr lang="ru-RU" dirty="0"/>
              <a:t>3. Используйте ясный и простой язык, чтобы ваше описание было понятно всем пользователям.</a:t>
            </a:r>
          </a:p>
          <a:p>
            <a:pPr marL="0" marR="0" lvl="0" indent="0" algn="just" defTabSz="914400" rtl="0" eaLnBrk="1" fontAlgn="auto" latinLnBrk="0" hangingPunct="1">
              <a:lnSpc>
                <a:spcPct val="90000"/>
              </a:lnSpc>
              <a:spcBef>
                <a:spcPts val="1000"/>
              </a:spcBef>
              <a:spcAft>
                <a:spcPts val="0"/>
              </a:spcAft>
              <a:buClrTx/>
              <a:buSzTx/>
              <a:buFontTx/>
              <a:buNone/>
              <a:tabLst/>
              <a:defRPr/>
            </a:pPr>
            <a:endParaRPr lang="ru-RU" dirty="0"/>
          </a:p>
        </p:txBody>
      </p:sp>
      <p:sp>
        <p:nvSpPr>
          <p:cNvPr id="14" name="Текст 23">
            <a:extLst>
              <a:ext uri="{FF2B5EF4-FFF2-40B4-BE49-F238E27FC236}">
                <a16:creationId xmlns:a16="http://schemas.microsoft.com/office/drawing/2014/main" id="{F247A538-AD56-F757-8BB8-8135CAF33CCE}"/>
              </a:ext>
            </a:extLst>
          </p:cNvPr>
          <p:cNvSpPr>
            <a:spLocks noGrp="1"/>
          </p:cNvSpPr>
          <p:nvPr>
            <p:ph type="body" sz="quarter" idx="23" hasCustomPrompt="1"/>
          </p:nvPr>
        </p:nvSpPr>
        <p:spPr>
          <a:xfrm>
            <a:off x="479425" y="5670369"/>
            <a:ext cx="11233150" cy="568325"/>
          </a:xfrm>
        </p:spPr>
        <p:txBody>
          <a:bodyPr>
            <a:normAutofit/>
          </a:bodyPr>
          <a:lstStyle>
            <a:lvl1pPr marL="0" marR="0" indent="0" algn="just" defTabSz="914400" rtl="0" eaLnBrk="1" fontAlgn="auto" latinLnBrk="0" hangingPunct="1">
              <a:lnSpc>
                <a:spcPct val="90000"/>
              </a:lnSpc>
              <a:spcBef>
                <a:spcPts val="1000"/>
              </a:spcBef>
              <a:spcAft>
                <a:spcPts val="0"/>
              </a:spcAft>
              <a:buClrTx/>
              <a:buSzTx/>
              <a:buFontTx/>
              <a:buNone/>
              <a:tabLst/>
              <a:defRPr sz="1200">
                <a:solidFill>
                  <a:schemeClr val="accent6"/>
                </a:solidFill>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Пояснительная или дополнительная информация (12 </a:t>
            </a:r>
            <a:r>
              <a:rPr lang="ru-RU" dirty="0" err="1"/>
              <a:t>pt</a:t>
            </a:r>
            <a:r>
              <a:rPr lang="ru-RU" dirty="0"/>
              <a: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p>
          <a:p>
            <a:pPr lvl="0"/>
            <a:endParaRPr lang="ru-RU" dirty="0"/>
          </a:p>
        </p:txBody>
      </p:sp>
      <p:sp>
        <p:nvSpPr>
          <p:cNvPr id="18" name="Таблица 17">
            <a:extLst>
              <a:ext uri="{FF2B5EF4-FFF2-40B4-BE49-F238E27FC236}">
                <a16:creationId xmlns:a16="http://schemas.microsoft.com/office/drawing/2014/main" id="{AF437919-77CF-350F-50A4-FAA5D541D504}"/>
              </a:ext>
            </a:extLst>
          </p:cNvPr>
          <p:cNvSpPr>
            <a:spLocks noGrp="1"/>
          </p:cNvSpPr>
          <p:nvPr>
            <p:ph type="tbl" sz="quarter" idx="24" hasCustomPrompt="1"/>
          </p:nvPr>
        </p:nvSpPr>
        <p:spPr>
          <a:xfrm>
            <a:off x="479425" y="2429126"/>
            <a:ext cx="7673975" cy="3123949"/>
          </a:xfrm>
        </p:spPr>
        <p:txBody>
          <a:bodyPr anchor="ctr"/>
          <a:lstStyle>
            <a:lvl1pPr algn="ctr">
              <a:defRPr/>
            </a:lvl1pPr>
          </a:lstStyle>
          <a:p>
            <a:r>
              <a:rPr lang="ru-RU" dirty="0"/>
              <a:t>Таблица</a:t>
            </a:r>
          </a:p>
        </p:txBody>
      </p:sp>
      <p:sp>
        <p:nvSpPr>
          <p:cNvPr id="15" name="Текст 3">
            <a:extLst>
              <a:ext uri="{FF2B5EF4-FFF2-40B4-BE49-F238E27FC236}">
                <a16:creationId xmlns:a16="http://schemas.microsoft.com/office/drawing/2014/main" id="{2C31B11D-14AD-C91A-84AA-2CAB251C657F}"/>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7712875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МТУСИ_Таблица_вид2">
    <p:spTree>
      <p:nvGrpSpPr>
        <p:cNvPr id="1" name=""/>
        <p:cNvGrpSpPr/>
        <p:nvPr/>
      </p:nvGrpSpPr>
      <p:grpSpPr>
        <a:xfrm>
          <a:off x="0" y="0"/>
          <a:ext cx="0" cy="0"/>
          <a:chOff x="0" y="0"/>
          <a:chExt cx="0" cy="0"/>
        </a:xfrm>
      </p:grpSpPr>
      <p:sp>
        <p:nvSpPr>
          <p:cNvPr id="4" name="Нижний колонтитул 3">
            <a:extLst>
              <a:ext uri="{FF2B5EF4-FFF2-40B4-BE49-F238E27FC236}">
                <a16:creationId xmlns:a16="http://schemas.microsoft.com/office/drawing/2014/main" id="{01746CC5-BF58-3317-D13D-80AB4B8769B8}"/>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8F69B92D-65DC-B632-E9DC-CDB019B3EC38}"/>
              </a:ext>
            </a:extLst>
          </p:cNvPr>
          <p:cNvSpPr>
            <a:spLocks noGrp="1"/>
          </p:cNvSpPr>
          <p:nvPr>
            <p:ph type="sldNum" sz="quarter" idx="12"/>
          </p:nvPr>
        </p:nvSpPr>
        <p:spPr/>
        <p:txBody>
          <a:bodyPr/>
          <a:lstStyle/>
          <a:p>
            <a:fld id="{56DCE2C9-06B9-4058-BEBD-6FDE8D61F8A0}" type="slidenum">
              <a:rPr lang="ru-RU" smtClean="0"/>
              <a:pPr/>
              <a:t>‹#›</a:t>
            </a:fld>
            <a:endParaRPr lang="ru-RU" dirty="0"/>
          </a:p>
        </p:txBody>
      </p:sp>
      <p:sp>
        <p:nvSpPr>
          <p:cNvPr id="10" name="Заголовок 1">
            <a:extLst>
              <a:ext uri="{FF2B5EF4-FFF2-40B4-BE49-F238E27FC236}">
                <a16:creationId xmlns:a16="http://schemas.microsoft.com/office/drawing/2014/main" id="{F5649485-E525-C6FD-C725-BE7F87616BC0}"/>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11" name="Текст 14">
            <a:extLst>
              <a:ext uri="{FF2B5EF4-FFF2-40B4-BE49-F238E27FC236}">
                <a16:creationId xmlns:a16="http://schemas.microsoft.com/office/drawing/2014/main" id="{AAE3523F-DA85-8D99-3AAE-EDEA089CDDB9}"/>
              </a:ext>
            </a:extLst>
          </p:cNvPr>
          <p:cNvSpPr>
            <a:spLocks noGrp="1"/>
          </p:cNvSpPr>
          <p:nvPr>
            <p:ph type="body" sz="quarter" idx="14" hasCustomPrompt="1"/>
          </p:nvPr>
        </p:nvSpPr>
        <p:spPr>
          <a:xfrm>
            <a:off x="477835" y="1819118"/>
            <a:ext cx="11229975" cy="532548"/>
          </a:xfrm>
        </p:spPr>
        <p:txBody>
          <a:bodyPr>
            <a:noAutofit/>
          </a:bodyPr>
          <a:lstStyle>
            <a:lvl1pPr>
              <a:lnSpc>
                <a:spcPct val="100000"/>
              </a:lnSpc>
              <a:spcBef>
                <a:spcPts val="0"/>
              </a:spcBef>
              <a:defRPr lang="ru-RU" sz="1600" kern="1200" dirty="0">
                <a:solidFill>
                  <a:schemeClr val="tx1"/>
                </a:solidFill>
                <a:latin typeface="+mj-lt"/>
                <a:ea typeface="+mn-ea"/>
                <a:cs typeface="+mn-cs"/>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Название таблицы может быть набрано в одну или две строки</a:t>
            </a:r>
            <a:r>
              <a:rPr lang="ru-RU" sz="1600" dirty="0">
                <a:latin typeface="Montserrat" panose="00000500000000000000" pitchFamily="2" charset="-52"/>
              </a:rPr>
              <a:t> </a:t>
            </a:r>
            <a:r>
              <a:rPr lang="ru-RU" dirty="0"/>
              <a:t>(16</a:t>
            </a:r>
            <a:r>
              <a:rPr lang="en-US" dirty="0" err="1"/>
              <a:t>pt</a:t>
            </a:r>
            <a:r>
              <a:rPr lang="ru-RU" dirty="0"/>
              <a:t>)</a:t>
            </a:r>
          </a:p>
        </p:txBody>
      </p:sp>
      <p:sp>
        <p:nvSpPr>
          <p:cNvPr id="14" name="Текст 23">
            <a:extLst>
              <a:ext uri="{FF2B5EF4-FFF2-40B4-BE49-F238E27FC236}">
                <a16:creationId xmlns:a16="http://schemas.microsoft.com/office/drawing/2014/main" id="{F247A538-AD56-F757-8BB8-8135CAF33CCE}"/>
              </a:ext>
            </a:extLst>
          </p:cNvPr>
          <p:cNvSpPr>
            <a:spLocks noGrp="1"/>
          </p:cNvSpPr>
          <p:nvPr>
            <p:ph type="body" sz="quarter" idx="23" hasCustomPrompt="1"/>
          </p:nvPr>
        </p:nvSpPr>
        <p:spPr>
          <a:xfrm>
            <a:off x="479425" y="5670369"/>
            <a:ext cx="11233150" cy="568325"/>
          </a:xfrm>
        </p:spPr>
        <p:txBody>
          <a:bodyPr>
            <a:normAutofit/>
          </a:bodyPr>
          <a:lstStyle>
            <a:lvl1pPr marL="0" marR="0" indent="0" algn="just" defTabSz="914400" rtl="0" eaLnBrk="1" fontAlgn="auto" latinLnBrk="0" hangingPunct="1">
              <a:lnSpc>
                <a:spcPct val="90000"/>
              </a:lnSpc>
              <a:spcBef>
                <a:spcPts val="1000"/>
              </a:spcBef>
              <a:spcAft>
                <a:spcPts val="0"/>
              </a:spcAft>
              <a:buClrTx/>
              <a:buSzTx/>
              <a:buFontTx/>
              <a:buNone/>
              <a:tabLst/>
              <a:defRPr sz="1200">
                <a:solidFill>
                  <a:schemeClr val="accent6"/>
                </a:solidFill>
              </a:defRPr>
            </a:lvl1pPr>
          </a:lstStyle>
          <a:p>
            <a:pPr marL="0" marR="0" lvl="0" indent="0" algn="just" defTabSz="914400" rtl="0" eaLnBrk="1" fontAlgn="auto" latinLnBrk="0" hangingPunct="1">
              <a:lnSpc>
                <a:spcPct val="90000"/>
              </a:lnSpc>
              <a:spcBef>
                <a:spcPts val="1000"/>
              </a:spcBef>
              <a:spcAft>
                <a:spcPts val="0"/>
              </a:spcAft>
              <a:buClrTx/>
              <a:buSzTx/>
              <a:buFontTx/>
              <a:buNone/>
              <a:tabLst/>
              <a:defRPr/>
            </a:pPr>
            <a:r>
              <a:rPr lang="ru-RU" dirty="0"/>
              <a:t>Пояснительная или дополнительная информация (12 </a:t>
            </a:r>
            <a:r>
              <a:rPr lang="ru-RU" dirty="0" err="1"/>
              <a:t>pt</a:t>
            </a:r>
            <a:r>
              <a:rPr lang="ru-RU" dirty="0"/>
              <a: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p>
          <a:p>
            <a:pPr lvl="0"/>
            <a:endParaRPr lang="ru-RU" dirty="0"/>
          </a:p>
        </p:txBody>
      </p:sp>
      <p:sp>
        <p:nvSpPr>
          <p:cNvPr id="18" name="Таблица 17">
            <a:extLst>
              <a:ext uri="{FF2B5EF4-FFF2-40B4-BE49-F238E27FC236}">
                <a16:creationId xmlns:a16="http://schemas.microsoft.com/office/drawing/2014/main" id="{AF437919-77CF-350F-50A4-FAA5D541D504}"/>
              </a:ext>
            </a:extLst>
          </p:cNvPr>
          <p:cNvSpPr>
            <a:spLocks noGrp="1"/>
          </p:cNvSpPr>
          <p:nvPr>
            <p:ph type="tbl" sz="quarter" idx="24" hasCustomPrompt="1"/>
          </p:nvPr>
        </p:nvSpPr>
        <p:spPr>
          <a:xfrm>
            <a:off x="479425" y="2429126"/>
            <a:ext cx="11228385" cy="3123949"/>
          </a:xfrm>
        </p:spPr>
        <p:txBody>
          <a:bodyPr anchor="ctr"/>
          <a:lstStyle>
            <a:lvl1pPr algn="ctr">
              <a:defRPr/>
            </a:lvl1pPr>
          </a:lstStyle>
          <a:p>
            <a:r>
              <a:rPr lang="ru-RU" dirty="0"/>
              <a:t>Таблица</a:t>
            </a:r>
          </a:p>
        </p:txBody>
      </p:sp>
      <p:sp>
        <p:nvSpPr>
          <p:cNvPr id="12" name="Текст 3">
            <a:extLst>
              <a:ext uri="{FF2B5EF4-FFF2-40B4-BE49-F238E27FC236}">
                <a16:creationId xmlns:a16="http://schemas.microsoft.com/office/drawing/2014/main" id="{524A5193-F19F-5395-293C-86DB1CA8011E}"/>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96021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МТУСИ_вид1">
    <p:spTree>
      <p:nvGrpSpPr>
        <p:cNvPr id="1" name=""/>
        <p:cNvGrpSpPr/>
        <p:nvPr/>
      </p:nvGrpSpPr>
      <p:grpSpPr>
        <a:xfrm>
          <a:off x="0" y="0"/>
          <a:ext cx="0" cy="0"/>
          <a:chOff x="0" y="0"/>
          <a:chExt cx="0" cy="0"/>
        </a:xfrm>
      </p:grpSpPr>
      <p:sp>
        <p:nvSpPr>
          <p:cNvPr id="4" name="Нижний колонтитул 3">
            <a:extLst>
              <a:ext uri="{FF2B5EF4-FFF2-40B4-BE49-F238E27FC236}">
                <a16:creationId xmlns:a16="http://schemas.microsoft.com/office/drawing/2014/main" id="{01746CC5-BF58-3317-D13D-80AB4B8769B8}"/>
              </a:ext>
            </a:extLst>
          </p:cNvPr>
          <p:cNvSpPr>
            <a:spLocks noGrp="1"/>
          </p:cNvSpPr>
          <p:nvPr>
            <p:ph type="ftr" sz="quarter" idx="11"/>
          </p:nvPr>
        </p:nvSpPr>
        <p:spPr/>
        <p:txBody>
          <a:bodyPr/>
          <a:lstStyle/>
          <a:p>
            <a:endParaRPr lang="ru-RU" dirty="0"/>
          </a:p>
        </p:txBody>
      </p:sp>
      <p:sp>
        <p:nvSpPr>
          <p:cNvPr id="5" name="Номер слайда 4">
            <a:extLst>
              <a:ext uri="{FF2B5EF4-FFF2-40B4-BE49-F238E27FC236}">
                <a16:creationId xmlns:a16="http://schemas.microsoft.com/office/drawing/2014/main" id="{8F69B92D-65DC-B632-E9DC-CDB019B3EC38}"/>
              </a:ext>
            </a:extLst>
          </p:cNvPr>
          <p:cNvSpPr>
            <a:spLocks noGrp="1"/>
          </p:cNvSpPr>
          <p:nvPr>
            <p:ph type="sldNum" sz="quarter" idx="12"/>
          </p:nvPr>
        </p:nvSpPr>
        <p:spPr/>
        <p:txBody>
          <a:bodyPr/>
          <a:lstStyle/>
          <a:p>
            <a:fld id="{56DCE2C9-06B9-4058-BEBD-6FDE8D61F8A0}" type="slidenum">
              <a:rPr lang="ru-RU" smtClean="0"/>
              <a:pPr/>
              <a:t>‹#›</a:t>
            </a:fld>
            <a:endParaRPr lang="ru-RU" dirty="0"/>
          </a:p>
        </p:txBody>
      </p:sp>
      <p:sp>
        <p:nvSpPr>
          <p:cNvPr id="10" name="Заголовок 1">
            <a:extLst>
              <a:ext uri="{FF2B5EF4-FFF2-40B4-BE49-F238E27FC236}">
                <a16:creationId xmlns:a16="http://schemas.microsoft.com/office/drawing/2014/main" id="{F5649485-E525-C6FD-C725-BE7F87616BC0}"/>
              </a:ext>
            </a:extLst>
          </p:cNvPr>
          <p:cNvSpPr>
            <a:spLocks noGrp="1"/>
          </p:cNvSpPr>
          <p:nvPr>
            <p:ph type="title" hasCustomPrompt="1"/>
          </p:nvPr>
        </p:nvSpPr>
        <p:spPr>
          <a:xfrm>
            <a:off x="479425" y="597856"/>
            <a:ext cx="11229975" cy="1140459"/>
          </a:xfrm>
        </p:spPr>
        <p:txBody>
          <a:bodyPr/>
          <a:lstStyle>
            <a:lvl1pPr algn="l">
              <a:defRPr lang="ru-RU" sz="3200" b="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ru-RU" dirty="0"/>
              <a:t>Заголовок слайда (32 </a:t>
            </a:r>
            <a:r>
              <a:rPr lang="en-US" dirty="0"/>
              <a:t>pt)</a:t>
            </a:r>
            <a:r>
              <a:rPr lang="ru-RU" dirty="0"/>
              <a:t>, старайтесь уместить заголовок в одну-две строки </a:t>
            </a:r>
          </a:p>
        </p:txBody>
      </p:sp>
      <p:sp>
        <p:nvSpPr>
          <p:cNvPr id="7" name="Текст 3">
            <a:extLst>
              <a:ext uri="{FF2B5EF4-FFF2-40B4-BE49-F238E27FC236}">
                <a16:creationId xmlns:a16="http://schemas.microsoft.com/office/drawing/2014/main" id="{AB7681CA-0CF1-ABBE-C1D9-B73D75C63CAD}"/>
              </a:ext>
            </a:extLst>
          </p:cNvPr>
          <p:cNvSpPr>
            <a:spLocks noGrp="1"/>
          </p:cNvSpPr>
          <p:nvPr>
            <p:ph type="body" sz="quarter" idx="19" hasCustomPrompt="1"/>
          </p:nvPr>
        </p:nvSpPr>
        <p:spPr>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ru-RU" dirty="0">
                <a:latin typeface="Montserrat SemiBold" panose="00000700000000000000" pitchFamily="2" charset="-52"/>
              </a:rPr>
              <a:t>Пояснительная или дополнительная информация (16 </a:t>
            </a:r>
            <a:r>
              <a:rPr lang="ru-RU" dirty="0" err="1">
                <a:latin typeface="Montserrat SemiBold" panose="00000700000000000000" pitchFamily="2" charset="-52"/>
              </a:rPr>
              <a:t>pt</a:t>
            </a:r>
            <a:r>
              <a:rPr lang="ru-RU" dirty="0">
                <a:latin typeface="Montserrat SemiBold" panose="00000700000000000000" pitchFamily="2" charset="-52"/>
              </a:rPr>
              <a:t>) </a:t>
            </a:r>
          </a:p>
        </p:txBody>
      </p:sp>
    </p:spTree>
    <p:extLst>
      <p:ext uri="{BB962C8B-B14F-4D97-AF65-F5344CB8AC3E}">
        <p14:creationId xmlns:p14="http://schemas.microsoft.com/office/powerpoint/2010/main" val="3978158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sv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2709790-54CC-2B39-F2F3-88B6469FEA1D}"/>
              </a:ext>
            </a:extLst>
          </p:cNvPr>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96520" y="0"/>
            <a:ext cx="12038470" cy="6771640"/>
          </a:xfrm>
          <a:prstGeom prst="rect">
            <a:avLst/>
          </a:prstGeom>
        </p:spPr>
      </p:pic>
      <p:pic>
        <p:nvPicPr>
          <p:cNvPr id="12" name="Рисунок 11">
            <a:extLst>
              <a:ext uri="{FF2B5EF4-FFF2-40B4-BE49-F238E27FC236}">
                <a16:creationId xmlns:a16="http://schemas.microsoft.com/office/drawing/2014/main" id="{D180A947-D25F-8FF2-3942-6E7029D0F328}"/>
              </a:ext>
            </a:extLst>
          </p:cNvPr>
          <p:cNvPicPr>
            <a:picLocks noChangeAspect="1"/>
          </p:cNvPicPr>
          <p:nvPr userDrawn="1"/>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6675" y="-55829"/>
            <a:ext cx="12344400" cy="641969"/>
          </a:xfrm>
          <a:prstGeom prst="rect">
            <a:avLst/>
          </a:prstGeom>
        </p:spPr>
      </p:pic>
      <p:sp>
        <p:nvSpPr>
          <p:cNvPr id="2" name="Заголовок 1">
            <a:extLst>
              <a:ext uri="{FF2B5EF4-FFF2-40B4-BE49-F238E27FC236}">
                <a16:creationId xmlns:a16="http://schemas.microsoft.com/office/drawing/2014/main" id="{8C4DF0CA-C5DD-DBD2-A2DF-28B65F22C5BA}"/>
              </a:ext>
            </a:extLst>
          </p:cNvPr>
          <p:cNvSpPr>
            <a:spLocks noGrp="1"/>
          </p:cNvSpPr>
          <p:nvPr>
            <p:ph type="title"/>
          </p:nvPr>
        </p:nvSpPr>
        <p:spPr>
          <a:xfrm>
            <a:off x="952500" y="2425748"/>
            <a:ext cx="10899140" cy="1003252"/>
          </a:xfrm>
          <a:prstGeom prst="rect">
            <a:avLst/>
          </a:prstGeom>
        </p:spPr>
        <p:txBody>
          <a:bodyPr vert="horz" lIns="91440" tIns="45720" rIns="91440" bIns="45720" rtlCol="0" anchor="t">
            <a:noAutofit/>
          </a:bodyPr>
          <a:lstStyle/>
          <a:p>
            <a:r>
              <a:rPr lang="ru-RU" sz="4400" dirty="0">
                <a:latin typeface="Montserrat" panose="00000500000000000000" pitchFamily="2" charset="-52"/>
              </a:rPr>
              <a:t>Название </a:t>
            </a:r>
            <a:r>
              <a:rPr lang="en-US" sz="4400" dirty="0">
                <a:latin typeface="Montserrat" panose="00000500000000000000" pitchFamily="2" charset="-52"/>
              </a:rPr>
              <a:t>(</a:t>
            </a:r>
            <a:r>
              <a:rPr lang="ru-RU" sz="4400" dirty="0">
                <a:latin typeface="Montserrat" panose="00000500000000000000" pitchFamily="2" charset="-52"/>
              </a:rPr>
              <a:t>44</a:t>
            </a:r>
            <a:r>
              <a:rPr lang="en-US" sz="4400" dirty="0">
                <a:latin typeface="Montserrat" panose="00000500000000000000" pitchFamily="2" charset="-52"/>
              </a:rPr>
              <a:t>pt)</a:t>
            </a:r>
            <a:endParaRPr lang="ru-RU" dirty="0"/>
          </a:p>
        </p:txBody>
      </p:sp>
      <p:sp>
        <p:nvSpPr>
          <p:cNvPr id="3" name="Текст 2">
            <a:extLst>
              <a:ext uri="{FF2B5EF4-FFF2-40B4-BE49-F238E27FC236}">
                <a16:creationId xmlns:a16="http://schemas.microsoft.com/office/drawing/2014/main" id="{B85B724D-EDC2-F127-C765-AA39A61CDDE9}"/>
              </a:ext>
            </a:extLst>
          </p:cNvPr>
          <p:cNvSpPr>
            <a:spLocks noGrp="1"/>
          </p:cNvSpPr>
          <p:nvPr>
            <p:ph type="body" idx="1"/>
          </p:nvPr>
        </p:nvSpPr>
        <p:spPr>
          <a:xfrm>
            <a:off x="952500" y="3676650"/>
            <a:ext cx="10401300" cy="2679700"/>
          </a:xfrm>
          <a:prstGeom prst="rect">
            <a:avLst/>
          </a:prstGeom>
        </p:spPr>
        <p:txBody>
          <a:bodyPr vert="horz" lIns="91440" tIns="45720" rIns="91440" bIns="45720" rtlCol="0" anchor="t">
            <a:normAutofit/>
          </a:bodyPr>
          <a:lstStyle/>
          <a:p>
            <a:pPr lvl="0"/>
            <a:r>
              <a:rPr lang="ru-RU" dirty="0"/>
              <a:t>Образец текст40</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 </a:t>
            </a:r>
          </a:p>
          <a:p>
            <a:pPr lvl="4"/>
            <a:endParaRPr lang="ru-RU" dirty="0"/>
          </a:p>
          <a:p>
            <a:pPr lvl="4"/>
            <a:endParaRPr lang="ru-RU" dirty="0"/>
          </a:p>
        </p:txBody>
      </p:sp>
      <p:sp>
        <p:nvSpPr>
          <p:cNvPr id="4" name="Дата 3">
            <a:extLst>
              <a:ext uri="{FF2B5EF4-FFF2-40B4-BE49-F238E27FC236}">
                <a16:creationId xmlns:a16="http://schemas.microsoft.com/office/drawing/2014/main" id="{FD80F104-1849-84A0-53C2-455F0379615A}"/>
              </a:ext>
            </a:extLst>
          </p:cNvPr>
          <p:cNvSpPr>
            <a:spLocks noGrp="1"/>
          </p:cNvSpPr>
          <p:nvPr>
            <p:ph type="dt" sz="half" idx="2"/>
          </p:nvPr>
        </p:nvSpPr>
        <p:spPr>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D2412498-5A2D-41B1-86A5-AAA3110F9D9B}" type="datetimeFigureOut">
              <a:rPr lang="ru-RU" smtClean="0"/>
              <a:pPr/>
              <a:t>16.09.2026</a:t>
            </a:fld>
            <a:endParaRPr lang="ru-RU" dirty="0"/>
          </a:p>
        </p:txBody>
      </p:sp>
      <p:sp>
        <p:nvSpPr>
          <p:cNvPr id="5" name="Нижний колонтитул 4">
            <a:extLst>
              <a:ext uri="{FF2B5EF4-FFF2-40B4-BE49-F238E27FC236}">
                <a16:creationId xmlns:a16="http://schemas.microsoft.com/office/drawing/2014/main" id="{20597989-BC0B-63B3-D32A-F18B05554199}"/>
              </a:ext>
            </a:extLst>
          </p:cNvPr>
          <p:cNvSpPr>
            <a:spLocks noGrp="1"/>
          </p:cNvSpPr>
          <p:nvPr>
            <p:ph type="ftr" sz="quarter" idx="3"/>
          </p:nvPr>
        </p:nvSpPr>
        <p:spPr>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ru-RU" dirty="0"/>
          </a:p>
        </p:txBody>
      </p:sp>
      <p:sp>
        <p:nvSpPr>
          <p:cNvPr id="6" name="Номер слайда 5">
            <a:extLst>
              <a:ext uri="{FF2B5EF4-FFF2-40B4-BE49-F238E27FC236}">
                <a16:creationId xmlns:a16="http://schemas.microsoft.com/office/drawing/2014/main" id="{4D120002-8305-C38D-49B1-D46638FEC009}"/>
              </a:ext>
            </a:extLst>
          </p:cNvPr>
          <p:cNvSpPr>
            <a:spLocks noGrp="1"/>
          </p:cNvSpPr>
          <p:nvPr>
            <p:ph type="sldNum" sz="quarter" idx="4"/>
          </p:nvPr>
        </p:nvSpPr>
        <p:spPr>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fld id="{56DCE2C9-06B9-4058-BEBD-6FDE8D61F8A0}" type="slidenum">
              <a:rPr lang="ru-RU" smtClean="0"/>
              <a:pPr/>
              <a:t>‹#›</a:t>
            </a:fld>
            <a:endParaRPr lang="ru-RU" dirty="0"/>
          </a:p>
        </p:txBody>
      </p:sp>
      <p:pic>
        <p:nvPicPr>
          <p:cNvPr id="16" name="Рисунок 15">
            <a:extLst>
              <a:ext uri="{FF2B5EF4-FFF2-40B4-BE49-F238E27FC236}">
                <a16:creationId xmlns:a16="http://schemas.microsoft.com/office/drawing/2014/main" id="{BB6B6500-DB99-C2A6-0C9E-A83D0FE7C18D}"/>
              </a:ext>
            </a:extLst>
          </p:cNvPr>
          <p:cNvPicPr>
            <a:picLocks noChangeAspect="1"/>
          </p:cNvPicPr>
          <p:nvPr userDrawn="1"/>
        </p:nvPicPr>
        <p:blipFill>
          <a:blip r:embed="rId25" cstate="print">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0760167" y="142188"/>
            <a:ext cx="952407" cy="293469"/>
          </a:xfrm>
          <a:prstGeom prst="rect">
            <a:avLst/>
          </a:prstGeom>
        </p:spPr>
      </p:pic>
    </p:spTree>
    <p:extLst>
      <p:ext uri="{BB962C8B-B14F-4D97-AF65-F5344CB8AC3E}">
        <p14:creationId xmlns:p14="http://schemas.microsoft.com/office/powerpoint/2010/main" val="25464794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6" r:id="rId3"/>
    <p:sldLayoutId id="2147483660" r:id="rId4"/>
    <p:sldLayoutId id="2147483652" r:id="rId5"/>
    <p:sldLayoutId id="2147483653" r:id="rId6"/>
    <p:sldLayoutId id="2147483657" r:id="rId7"/>
    <p:sldLayoutId id="2147483665" r:id="rId8"/>
    <p:sldLayoutId id="2147483668" r:id="rId9"/>
    <p:sldLayoutId id="2147483650" r:id="rId10"/>
    <p:sldLayoutId id="2147483659" r:id="rId11"/>
    <p:sldLayoutId id="2147483667" r:id="rId12"/>
    <p:sldLayoutId id="2147483658" r:id="rId13"/>
    <p:sldLayoutId id="2147483655" r:id="rId14"/>
    <p:sldLayoutId id="2147483662" r:id="rId15"/>
    <p:sldLayoutId id="2147483654" r:id="rId16"/>
    <p:sldLayoutId id="2147483661" r:id="rId17"/>
    <p:sldLayoutId id="2147483663" r:id="rId18"/>
    <p:sldLayoutId id="2147483666" r:id="rId19"/>
    <p:sldLayoutId id="2147483664" r:id="rId20"/>
  </p:sldLayoutIdLst>
  <p:txStyles>
    <p:titleStyle>
      <a:lvl1pPr algn="l" defTabSz="914400" rtl="0" eaLnBrk="1" latinLnBrk="0" hangingPunct="1">
        <a:lnSpc>
          <a:spcPct val="100000"/>
        </a:lnSpc>
        <a:spcBef>
          <a:spcPct val="0"/>
        </a:spcBef>
        <a:buNone/>
        <a:defRPr sz="3600" b="0" kern="1200">
          <a:solidFill>
            <a:schemeClr val="tx1"/>
          </a:solidFill>
          <a:latin typeface="Montserrat SemiBold" panose="00000700000000000000" pitchFamily="2" charset="-52"/>
          <a:ea typeface="+mj-ea"/>
          <a:cs typeface="+mj-cs"/>
        </a:defRPr>
      </a:lvl1pPr>
    </p:titleStyle>
    <p:bodyStyle>
      <a:lvl1pPr marL="0" indent="0" algn="l" defTabSz="914400" rtl="0" eaLnBrk="1" latinLnBrk="0" hangingPunct="1">
        <a:lnSpc>
          <a:spcPct val="90000"/>
        </a:lnSpc>
        <a:spcBef>
          <a:spcPts val="1000"/>
        </a:spcBef>
        <a:buFontTx/>
        <a:buNone/>
        <a:defRPr sz="4000" kern="1200">
          <a:solidFill>
            <a:schemeClr val="tx1"/>
          </a:solidFill>
          <a:latin typeface="+mn-lt"/>
          <a:ea typeface="+mn-ea"/>
          <a:cs typeface="+mn-cs"/>
        </a:defRPr>
      </a:lvl1pPr>
      <a:lvl2pPr marL="457200" indent="0" algn="just" defTabSz="914400" rtl="0" eaLnBrk="1" latinLnBrk="0" hangingPunct="1">
        <a:lnSpc>
          <a:spcPct val="90000"/>
        </a:lnSpc>
        <a:spcBef>
          <a:spcPts val="500"/>
        </a:spcBef>
        <a:buFontTx/>
        <a:buNone/>
        <a:defRPr sz="3200" kern="1200">
          <a:solidFill>
            <a:schemeClr val="tx1"/>
          </a:solidFill>
          <a:latin typeface="+mn-lt"/>
          <a:ea typeface="+mn-ea"/>
          <a:cs typeface="+mn-cs"/>
        </a:defRPr>
      </a:lvl2pPr>
      <a:lvl3pPr marL="914400" indent="0" algn="just" defTabSz="914400" rtl="0" eaLnBrk="1" latinLnBrk="0" hangingPunct="1">
        <a:lnSpc>
          <a:spcPct val="90000"/>
        </a:lnSpc>
        <a:spcBef>
          <a:spcPts val="500"/>
        </a:spcBef>
        <a:buFontTx/>
        <a:buNone/>
        <a:defRPr sz="2400" kern="1200">
          <a:solidFill>
            <a:schemeClr val="tx1"/>
          </a:solidFill>
          <a:latin typeface="+mn-lt"/>
          <a:ea typeface="+mn-ea"/>
          <a:cs typeface="+mn-cs"/>
        </a:defRPr>
      </a:lvl3pPr>
      <a:lvl4pPr marL="1371600" indent="0" algn="just" defTabSz="914400" rtl="0" eaLnBrk="1" latinLnBrk="0" hangingPunct="1">
        <a:lnSpc>
          <a:spcPct val="90000"/>
        </a:lnSpc>
        <a:spcBef>
          <a:spcPts val="500"/>
        </a:spcBef>
        <a:buFontTx/>
        <a:buNone/>
        <a:defRPr sz="1600" kern="1200">
          <a:solidFill>
            <a:schemeClr val="tx1"/>
          </a:solidFill>
          <a:latin typeface="+mn-lt"/>
          <a:ea typeface="+mn-ea"/>
          <a:cs typeface="+mn-cs"/>
        </a:defRPr>
      </a:lvl4pPr>
      <a:lvl5pPr marL="1828800" indent="0" algn="just"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686" userDrawn="1">
          <p15:clr>
            <a:srgbClr val="F26B43"/>
          </p15:clr>
        </p15:guide>
        <p15:guide id="4" pos="302" userDrawn="1">
          <p15:clr>
            <a:srgbClr val="F26B43"/>
          </p15:clr>
        </p15:guide>
        <p15:guide id="5" pos="7378" userDrawn="1">
          <p15:clr>
            <a:srgbClr val="F26B43"/>
          </p15:clr>
        </p15:guide>
        <p15:guide id="6" orient="horz" pos="436" userDrawn="1">
          <p15:clr>
            <a:srgbClr val="F26B43"/>
          </p15:clr>
        </p15:guide>
        <p15:guide id="7" orient="horz" pos="890" userDrawn="1">
          <p15:clr>
            <a:srgbClr val="F26B43"/>
          </p15:clr>
        </p15:guide>
        <p15:guide id="8" orient="horz" pos="23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10" Type="http://schemas.openxmlformats.org/officeDocument/2006/relationships/image" Target="../media/image16.jpeg"/><Relationship Id="rId4" Type="http://schemas.openxmlformats.org/officeDocument/2006/relationships/image" Target="../media/image10.jpeg"/><Relationship Id="rId9" Type="http://schemas.openxmlformats.org/officeDocument/2006/relationships/image" Target="../media/image15.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notesSlide" Target="../notesSlides/notesSlide8.xml"/><Relationship Id="rId7"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19.wmf"/><Relationship Id="rId5" Type="http://schemas.openxmlformats.org/officeDocument/2006/relationships/oleObject" Target="../embeddings/oleObject1.bin"/><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notesSlide" Target="../notesSlides/notesSlide9.xml"/><Relationship Id="rId7"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21.wmf"/><Relationship Id="rId5" Type="http://schemas.openxmlformats.org/officeDocument/2006/relationships/oleObject" Target="../embeddings/oleObject2.bin"/><Relationship Id="rId10" Type="http://schemas.openxmlformats.org/officeDocument/2006/relationships/image" Target="../media/image25.png"/><Relationship Id="rId4" Type="http://schemas.openxmlformats.org/officeDocument/2006/relationships/image" Target="../media/image23.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26.wmf"/><Relationship Id="rId5" Type="http://schemas.openxmlformats.org/officeDocument/2006/relationships/oleObject" Target="../embeddings/oleObject4.bin"/><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notesSlide" Target="../notesSlides/notesSlide14.xml"/><Relationship Id="rId7"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29.wmf"/><Relationship Id="rId5" Type="http://schemas.openxmlformats.org/officeDocument/2006/relationships/oleObject" Target="../embeddings/oleObject5.bin"/><Relationship Id="rId10" Type="http://schemas.openxmlformats.org/officeDocument/2006/relationships/image" Target="../media/image31.wmf"/><Relationship Id="rId4" Type="http://schemas.openxmlformats.org/officeDocument/2006/relationships/image" Target="../media/image29.png"/><Relationship Id="rId9" Type="http://schemas.openxmlformats.org/officeDocument/2006/relationships/oleObject" Target="../embeddings/oleObject7.bin"/></Relationships>
</file>

<file path=ppt/slides/_rels/slide16.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notesSlide" Target="../notesSlides/notesSlide15.xml"/><Relationship Id="rId7"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microsoft.com/office/2007/relationships/hdphoto" Target="../media/hdphoto2.wdp"/><Relationship Id="rId5" Type="http://schemas.openxmlformats.org/officeDocument/2006/relationships/image" Target="../media/image33.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34.wmf"/><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microsoft.com/office/2007/relationships/hdphoto" Target="../media/hdphoto2.wdp"/><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notesSlide" Target="../notesSlides/notesSlide17.xml"/><Relationship Id="rId7"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35.wmf"/><Relationship Id="rId5" Type="http://schemas.openxmlformats.org/officeDocument/2006/relationships/oleObject" Target="../embeddings/oleObject10.bin"/><Relationship Id="rId10" Type="http://schemas.openxmlformats.org/officeDocument/2006/relationships/image" Target="../media/image37.wmf"/><Relationship Id="rId4" Type="http://schemas.openxmlformats.org/officeDocument/2006/relationships/image" Target="../media/image37.png"/><Relationship Id="rId9"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38.wmf"/><Relationship Id="rId5" Type="http://schemas.openxmlformats.org/officeDocument/2006/relationships/oleObject" Target="../embeddings/oleObject13.bin"/><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1.wmf"/><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15.bin"/><Relationship Id="rId5" Type="http://schemas.openxmlformats.org/officeDocument/2006/relationships/image" Target="../media/image40.wmf"/><Relationship Id="rId4" Type="http://schemas.openxmlformats.org/officeDocument/2006/relationships/oleObject" Target="../embeddings/oleObject14.bin"/></Relationships>
</file>

<file path=ppt/slides/_rels/slide21.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image" Target="../media/image45.png"/><Relationship Id="rId7" Type="http://schemas.openxmlformats.org/officeDocument/2006/relationships/image" Target="../media/image43.wmf"/><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17.bin"/><Relationship Id="rId11" Type="http://schemas.openxmlformats.org/officeDocument/2006/relationships/image" Target="../media/image44.wmf"/><Relationship Id="rId5" Type="http://schemas.openxmlformats.org/officeDocument/2006/relationships/image" Target="../media/image42.wmf"/><Relationship Id="rId10" Type="http://schemas.openxmlformats.org/officeDocument/2006/relationships/oleObject" Target="../embeddings/oleObject18.bin"/><Relationship Id="rId4" Type="http://schemas.openxmlformats.org/officeDocument/2006/relationships/oleObject" Target="../embeddings/oleObject16.bin"/><Relationship Id="rId9" Type="http://schemas.openxmlformats.org/officeDocument/2006/relationships/image" Target="../media/image54.png"/></Relationships>
</file>

<file path=ppt/slides/_rels/slide22.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oleObject" Target="../embeddings/oleObject23.bin"/><Relationship Id="rId18" Type="http://schemas.openxmlformats.org/officeDocument/2006/relationships/image" Target="../media/image52.wmf"/><Relationship Id="rId3" Type="http://schemas.openxmlformats.org/officeDocument/2006/relationships/image" Target="../media/image52.png"/><Relationship Id="rId7" Type="http://schemas.openxmlformats.org/officeDocument/2006/relationships/image" Target="../media/image47.wmf"/><Relationship Id="rId12" Type="http://schemas.openxmlformats.org/officeDocument/2006/relationships/image" Target="../media/image49.wmf"/><Relationship Id="rId17" Type="http://schemas.openxmlformats.org/officeDocument/2006/relationships/oleObject" Target="../embeddings/oleObject25.bin"/><Relationship Id="rId2" Type="http://schemas.openxmlformats.org/officeDocument/2006/relationships/slideLayout" Target="../slideLayouts/slideLayout4.xml"/><Relationship Id="rId16" Type="http://schemas.openxmlformats.org/officeDocument/2006/relationships/image" Target="../media/image51.wmf"/><Relationship Id="rId1" Type="http://schemas.openxmlformats.org/officeDocument/2006/relationships/vmlDrawing" Target="../drawings/vmlDrawing11.vml"/><Relationship Id="rId6" Type="http://schemas.openxmlformats.org/officeDocument/2006/relationships/oleObject" Target="../embeddings/oleObject20.bin"/><Relationship Id="rId11" Type="http://schemas.openxmlformats.org/officeDocument/2006/relationships/oleObject" Target="../embeddings/oleObject22.bin"/><Relationship Id="rId5" Type="http://schemas.openxmlformats.org/officeDocument/2006/relationships/image" Target="../media/image46.wmf"/><Relationship Id="rId15" Type="http://schemas.openxmlformats.org/officeDocument/2006/relationships/oleObject" Target="../embeddings/oleObject24.bin"/><Relationship Id="rId10" Type="http://schemas.openxmlformats.org/officeDocument/2006/relationships/image" Target="../media/image48.wmf"/><Relationship Id="rId4" Type="http://schemas.openxmlformats.org/officeDocument/2006/relationships/oleObject" Target="../embeddings/oleObject19.bin"/><Relationship Id="rId9" Type="http://schemas.openxmlformats.org/officeDocument/2006/relationships/oleObject" Target="../embeddings/oleObject21.bin"/><Relationship Id="rId14" Type="http://schemas.openxmlformats.org/officeDocument/2006/relationships/image" Target="../media/image50.wmf"/></Relationships>
</file>

<file path=ppt/slides/_rels/slide23.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31.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58.wmf"/><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55.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29.bin"/><Relationship Id="rId14" Type="http://schemas.openxmlformats.org/officeDocument/2006/relationships/image" Target="../media/image59.wmf"/></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2.png"/><Relationship Id="rId7" Type="http://schemas.openxmlformats.org/officeDocument/2006/relationships/image" Target="../media/image670.png"/><Relationship Id="rId12" Type="http://schemas.openxmlformats.org/officeDocument/2006/relationships/image" Target="../media/image72.png"/><Relationship Id="rId2" Type="http://schemas.openxmlformats.org/officeDocument/2006/relationships/image" Target="../media/image590.png"/><Relationship Id="rId1" Type="http://schemas.openxmlformats.org/officeDocument/2006/relationships/slideLayout" Target="../slideLayouts/slideLayout4.xml"/><Relationship Id="rId6" Type="http://schemas.openxmlformats.org/officeDocument/2006/relationships/image" Target="../media/image660.png"/><Relationship Id="rId11" Type="http://schemas.openxmlformats.org/officeDocument/2006/relationships/image" Target="../media/image71.png"/><Relationship Id="rId5" Type="http://schemas.openxmlformats.org/officeDocument/2006/relationships/image" Target="../media/image650.png"/><Relationship Id="rId10" Type="http://schemas.openxmlformats.org/officeDocument/2006/relationships/image" Target="../media/image70.png"/><Relationship Id="rId4" Type="http://schemas.openxmlformats.org/officeDocument/2006/relationships/image" Target="../media/image620.png"/><Relationship Id="rId9" Type="http://schemas.openxmlformats.org/officeDocument/2006/relationships/image" Target="../media/image69.png"/></Relationships>
</file>

<file path=ppt/slides/_rels/slide26.xml.rels><?xml version="1.0" encoding="UTF-8" standalone="yes"?>
<Relationships xmlns="http://schemas.openxmlformats.org/package/2006/relationships"><Relationship Id="rId8" Type="http://schemas.openxmlformats.org/officeDocument/2006/relationships/image" Target="../media/image670.png"/><Relationship Id="rId13" Type="http://schemas.openxmlformats.org/officeDocument/2006/relationships/image" Target="../media/image72.png"/><Relationship Id="rId3" Type="http://schemas.openxmlformats.org/officeDocument/2006/relationships/image" Target="../media/image63.png"/><Relationship Id="rId7" Type="http://schemas.openxmlformats.org/officeDocument/2006/relationships/image" Target="../media/image660.png"/><Relationship Id="rId12" Type="http://schemas.openxmlformats.org/officeDocument/2006/relationships/image" Target="../media/image71.png"/><Relationship Id="rId17" Type="http://schemas.openxmlformats.org/officeDocument/2006/relationships/image" Target="../media/image63.wmf"/><Relationship Id="rId2" Type="http://schemas.openxmlformats.org/officeDocument/2006/relationships/slideLayout" Target="../slideLayouts/slideLayout4.xml"/><Relationship Id="rId16" Type="http://schemas.openxmlformats.org/officeDocument/2006/relationships/oleObject" Target="../embeddings/oleObject33.bin"/><Relationship Id="rId1" Type="http://schemas.openxmlformats.org/officeDocument/2006/relationships/vmlDrawing" Target="../drawings/vmlDrawing13.vml"/><Relationship Id="rId6" Type="http://schemas.openxmlformats.org/officeDocument/2006/relationships/image" Target="../media/image650.png"/><Relationship Id="rId11" Type="http://schemas.openxmlformats.org/officeDocument/2006/relationships/image" Target="../media/image70.png"/><Relationship Id="rId5" Type="http://schemas.openxmlformats.org/officeDocument/2006/relationships/image" Target="../media/image640.png"/><Relationship Id="rId15" Type="http://schemas.openxmlformats.org/officeDocument/2006/relationships/image" Target="../media/image62.wmf"/><Relationship Id="rId10" Type="http://schemas.openxmlformats.org/officeDocument/2006/relationships/image" Target="../media/image69.png"/><Relationship Id="rId4" Type="http://schemas.openxmlformats.org/officeDocument/2006/relationships/image" Target="../media/image64.png"/><Relationship Id="rId9" Type="http://schemas.openxmlformats.org/officeDocument/2006/relationships/image" Target="../media/image68.png"/><Relationship Id="rId14" Type="http://schemas.openxmlformats.org/officeDocument/2006/relationships/oleObject" Target="../embeddings/oleObject32.bin"/></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oleObject" Target="../embeddings/oleObject34.bin"/><Relationship Id="rId18" Type="http://schemas.openxmlformats.org/officeDocument/2006/relationships/image" Target="../media/image66.wmf"/><Relationship Id="rId3" Type="http://schemas.openxmlformats.org/officeDocument/2006/relationships/image" Target="../media/image64.png"/><Relationship Id="rId7" Type="http://schemas.openxmlformats.org/officeDocument/2006/relationships/image" Target="../media/image670.png"/><Relationship Id="rId12" Type="http://schemas.openxmlformats.org/officeDocument/2006/relationships/image" Target="../media/image72.png"/><Relationship Id="rId17" Type="http://schemas.openxmlformats.org/officeDocument/2006/relationships/oleObject" Target="../embeddings/oleObject36.bin"/><Relationship Id="rId2" Type="http://schemas.openxmlformats.org/officeDocument/2006/relationships/slideLayout" Target="../slideLayouts/slideLayout4.xml"/><Relationship Id="rId16" Type="http://schemas.openxmlformats.org/officeDocument/2006/relationships/image" Target="../media/image65.wmf"/><Relationship Id="rId20" Type="http://schemas.openxmlformats.org/officeDocument/2006/relationships/image" Target="../media/image67.wmf"/><Relationship Id="rId1" Type="http://schemas.openxmlformats.org/officeDocument/2006/relationships/vmlDrawing" Target="../drawings/vmlDrawing14.vml"/><Relationship Id="rId6" Type="http://schemas.openxmlformats.org/officeDocument/2006/relationships/image" Target="../media/image660.png"/><Relationship Id="rId11" Type="http://schemas.openxmlformats.org/officeDocument/2006/relationships/image" Target="../media/image71.png"/><Relationship Id="rId5" Type="http://schemas.openxmlformats.org/officeDocument/2006/relationships/image" Target="../media/image650.png"/><Relationship Id="rId15" Type="http://schemas.openxmlformats.org/officeDocument/2006/relationships/oleObject" Target="../embeddings/oleObject35.bin"/><Relationship Id="rId10" Type="http://schemas.openxmlformats.org/officeDocument/2006/relationships/image" Target="../media/image70.png"/><Relationship Id="rId19" Type="http://schemas.openxmlformats.org/officeDocument/2006/relationships/oleObject" Target="../embeddings/oleObject37.bin"/><Relationship Id="rId4" Type="http://schemas.openxmlformats.org/officeDocument/2006/relationships/image" Target="../media/image620.png"/><Relationship Id="rId9" Type="http://schemas.openxmlformats.org/officeDocument/2006/relationships/image" Target="../media/image69.png"/><Relationship Id="rId14" Type="http://schemas.openxmlformats.org/officeDocument/2006/relationships/image" Target="../media/image64.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72.wmf"/><Relationship Id="rId3" Type="http://schemas.openxmlformats.org/officeDocument/2006/relationships/image" Target="../media/image74.png"/><Relationship Id="rId7" Type="http://schemas.openxmlformats.org/officeDocument/2006/relationships/image" Target="../media/image69.wmf"/><Relationship Id="rId12" Type="http://schemas.openxmlformats.org/officeDocument/2006/relationships/oleObject" Target="../embeddings/oleObject42.bin"/><Relationship Id="rId2" Type="http://schemas.openxmlformats.org/officeDocument/2006/relationships/slideLayout" Target="../slideLayouts/slideLayout4.xml"/><Relationship Id="rId16" Type="http://schemas.openxmlformats.org/officeDocument/2006/relationships/image" Target="../media/image75.png"/><Relationship Id="rId1" Type="http://schemas.openxmlformats.org/officeDocument/2006/relationships/vmlDrawing" Target="../drawings/vmlDrawing15.vml"/><Relationship Id="rId6" Type="http://schemas.openxmlformats.org/officeDocument/2006/relationships/oleObject" Target="../embeddings/oleObject39.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70.wmf"/><Relationship Id="rId14" Type="http://schemas.openxmlformats.org/officeDocument/2006/relationships/oleObject" Target="../embeddings/oleObject43.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730.png"/><Relationship Id="rId7" Type="http://schemas.openxmlformats.org/officeDocument/2006/relationships/image" Target="../media/image77.wmf"/><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45.bin"/><Relationship Id="rId5" Type="http://schemas.openxmlformats.org/officeDocument/2006/relationships/image" Target="../media/image76.wmf"/><Relationship Id="rId4" Type="http://schemas.openxmlformats.org/officeDocument/2006/relationships/oleObject" Target="../embeddings/oleObject44.bin"/><Relationship Id="rId9" Type="http://schemas.openxmlformats.org/officeDocument/2006/relationships/image" Target="../media/image78.w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CAFED05-166F-99FB-D4FA-3DBBBAC0242F}"/>
              </a:ext>
            </a:extLst>
          </p:cNvPr>
          <p:cNvSpPr>
            <a:spLocks noGrp="1"/>
          </p:cNvSpPr>
          <p:nvPr>
            <p:ph type="title"/>
          </p:nvPr>
        </p:nvSpPr>
        <p:spPr/>
        <p:txBody>
          <a:bodyPr/>
          <a:lstStyle/>
          <a:p>
            <a:r>
              <a:rPr lang="ru-RU" dirty="0"/>
              <a:t>1. Введение.</a:t>
            </a:r>
            <a:br>
              <a:rPr lang="ru-RU" dirty="0"/>
            </a:br>
            <a:r>
              <a:rPr lang="ru-RU" dirty="0"/>
              <a:t>Физика как наука о природе</a:t>
            </a:r>
          </a:p>
        </p:txBody>
      </p:sp>
    </p:spTree>
    <p:extLst>
      <p:ext uri="{BB962C8B-B14F-4D97-AF65-F5344CB8AC3E}">
        <p14:creationId xmlns:p14="http://schemas.microsoft.com/office/powerpoint/2010/main" val="2864963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BB955CC9-2F02-EA2B-FC52-C25CFA28FCD4}"/>
              </a:ext>
            </a:extLst>
          </p:cNvPr>
          <p:cNvSpPr>
            <a:spLocks noGrp="1"/>
          </p:cNvSpPr>
          <p:nvPr>
            <p:ph type="title"/>
          </p:nvPr>
        </p:nvSpPr>
        <p:spPr/>
        <p:txBody>
          <a:bodyPr/>
          <a:lstStyle/>
          <a:p>
            <a:r>
              <a:rPr lang="ru-RU" dirty="0"/>
              <a:t>Понятие физики</a:t>
            </a:r>
          </a:p>
        </p:txBody>
      </p:sp>
      <p:sp>
        <p:nvSpPr>
          <p:cNvPr id="9" name="Текст 8">
            <a:extLst>
              <a:ext uri="{FF2B5EF4-FFF2-40B4-BE49-F238E27FC236}">
                <a16:creationId xmlns:a16="http://schemas.microsoft.com/office/drawing/2014/main" id="{6B82641A-0B98-1790-335C-01EFE435CE97}"/>
              </a:ext>
            </a:extLst>
          </p:cNvPr>
          <p:cNvSpPr>
            <a:spLocks noGrp="1"/>
          </p:cNvSpPr>
          <p:nvPr>
            <p:ph type="body" sz="quarter" idx="14"/>
          </p:nvPr>
        </p:nvSpPr>
        <p:spPr>
          <a:xfrm>
            <a:off x="479424" y="1311595"/>
            <a:ext cx="11348303" cy="853440"/>
          </a:xfrm>
        </p:spPr>
        <p:txBody>
          <a:bodyPr/>
          <a:lstStyle/>
          <a:p>
            <a:r>
              <a:rPr lang="ru-RU" altLang="en-US" sz="2400" b="1" i="1" dirty="0">
                <a:solidFill>
                  <a:schemeClr val="accent5"/>
                </a:solidFill>
                <a:latin typeface="+mn-lt"/>
              </a:rPr>
              <a:t>Физика</a:t>
            </a:r>
            <a:r>
              <a:rPr lang="ru-RU" altLang="en-US" sz="2400" b="1" i="1" dirty="0">
                <a:solidFill>
                  <a:schemeClr val="tx1"/>
                </a:solidFill>
                <a:latin typeface="+mn-lt"/>
              </a:rPr>
              <a:t> это естественная наука, изучающая фундаментальные, наиболее общие закономерности явлений природы, свойства и строение материи и законы её движения</a:t>
            </a:r>
            <a:r>
              <a:rPr lang="ru-RU" altLang="en-US" sz="1600" dirty="0">
                <a:latin typeface="+mn-lt"/>
              </a:rPr>
              <a:t>.</a:t>
            </a:r>
          </a:p>
          <a:p>
            <a:endParaRPr lang="ru-RU" dirty="0"/>
          </a:p>
        </p:txBody>
      </p:sp>
      <p:sp>
        <p:nvSpPr>
          <p:cNvPr id="10" name="Текст 9">
            <a:extLst>
              <a:ext uri="{FF2B5EF4-FFF2-40B4-BE49-F238E27FC236}">
                <a16:creationId xmlns:a16="http://schemas.microsoft.com/office/drawing/2014/main" id="{BF9F5E4F-927F-6CB0-417A-DF33BB8B608F}"/>
              </a:ext>
            </a:extLst>
          </p:cNvPr>
          <p:cNvSpPr>
            <a:spLocks noGrp="1"/>
          </p:cNvSpPr>
          <p:nvPr>
            <p:ph type="body" sz="quarter" idx="17"/>
          </p:nvPr>
        </p:nvSpPr>
        <p:spPr>
          <a:xfrm>
            <a:off x="479423" y="2407557"/>
            <a:ext cx="5252303" cy="1264237"/>
          </a:xfrm>
        </p:spPr>
        <p:txBody>
          <a:bodyPr>
            <a:normAutofit/>
          </a:bodyPr>
          <a:lstStyle/>
          <a:p>
            <a:r>
              <a:rPr lang="ru-RU" dirty="0"/>
              <a:t>Физика является основным двигателем научно-технического прогресса. Помимо описательных функций уже существующих природных явлений, ученые выстраивают модели окружающего мира, на основе которых они формулируют гипотезы и создают новые, удивительные открытия и устройства.</a:t>
            </a:r>
          </a:p>
        </p:txBody>
      </p:sp>
      <p:sp>
        <p:nvSpPr>
          <p:cNvPr id="12" name="Текст 11">
            <a:extLst>
              <a:ext uri="{FF2B5EF4-FFF2-40B4-BE49-F238E27FC236}">
                <a16:creationId xmlns:a16="http://schemas.microsoft.com/office/drawing/2014/main" id="{477149F3-96DD-6A45-6D41-64E70A38095D}"/>
              </a:ext>
            </a:extLst>
          </p:cNvPr>
          <p:cNvSpPr>
            <a:spLocks noGrp="1"/>
          </p:cNvSpPr>
          <p:nvPr>
            <p:ph type="body" sz="quarter" idx="19"/>
          </p:nvPr>
        </p:nvSpPr>
        <p:spPr>
          <a:xfrm>
            <a:off x="479424" y="149225"/>
            <a:ext cx="9940926" cy="259653"/>
          </a:xfrm>
        </p:spPr>
        <p:txBody>
          <a:bodyPr/>
          <a:lstStyle/>
          <a:p>
            <a:r>
              <a:rPr lang="ru-RU" dirty="0"/>
              <a:t>Физика, как наука о природе</a:t>
            </a:r>
          </a:p>
        </p:txBody>
      </p:sp>
      <p:sp>
        <p:nvSpPr>
          <p:cNvPr id="13" name="Текст 9">
            <a:extLst>
              <a:ext uri="{FF2B5EF4-FFF2-40B4-BE49-F238E27FC236}">
                <a16:creationId xmlns:a16="http://schemas.microsoft.com/office/drawing/2014/main" id="{D181F17C-66B6-410B-A612-C88B74B8C1B0}"/>
              </a:ext>
            </a:extLst>
          </p:cNvPr>
          <p:cNvSpPr txBox="1">
            <a:spLocks/>
          </p:cNvSpPr>
          <p:nvPr/>
        </p:nvSpPr>
        <p:spPr>
          <a:xfrm>
            <a:off x="6322956" y="2407557"/>
            <a:ext cx="5386443" cy="1264237"/>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Tx/>
              <a:buNone/>
              <a:defRPr sz="1200" kern="1200">
                <a:solidFill>
                  <a:schemeClr val="tx1"/>
                </a:solidFill>
                <a:latin typeface="+mn-lt"/>
                <a:ea typeface="+mn-ea"/>
                <a:cs typeface="+mn-cs"/>
              </a:defRPr>
            </a:lvl1pPr>
            <a:lvl2pPr marL="457200" indent="0" algn="just" defTabSz="914400" rtl="0" eaLnBrk="1" latinLnBrk="0" hangingPunct="1">
              <a:lnSpc>
                <a:spcPct val="90000"/>
              </a:lnSpc>
              <a:spcBef>
                <a:spcPts val="500"/>
              </a:spcBef>
              <a:buFontTx/>
              <a:buNone/>
              <a:defRPr sz="3200" kern="1200">
                <a:solidFill>
                  <a:schemeClr val="tx1"/>
                </a:solidFill>
                <a:latin typeface="+mn-lt"/>
                <a:ea typeface="+mn-ea"/>
                <a:cs typeface="+mn-cs"/>
              </a:defRPr>
            </a:lvl2pPr>
            <a:lvl3pPr marL="914400" indent="0" algn="just" defTabSz="914400" rtl="0" eaLnBrk="1" latinLnBrk="0" hangingPunct="1">
              <a:lnSpc>
                <a:spcPct val="90000"/>
              </a:lnSpc>
              <a:spcBef>
                <a:spcPts val="500"/>
              </a:spcBef>
              <a:buFontTx/>
              <a:buNone/>
              <a:defRPr sz="2400" kern="1200">
                <a:solidFill>
                  <a:schemeClr val="tx1"/>
                </a:solidFill>
                <a:latin typeface="+mn-lt"/>
                <a:ea typeface="+mn-ea"/>
                <a:cs typeface="+mn-cs"/>
              </a:defRPr>
            </a:lvl3pPr>
            <a:lvl4pPr marL="1371600" indent="0" algn="just" defTabSz="914400" rtl="0" eaLnBrk="1" latinLnBrk="0" hangingPunct="1">
              <a:lnSpc>
                <a:spcPct val="90000"/>
              </a:lnSpc>
              <a:spcBef>
                <a:spcPts val="500"/>
              </a:spcBef>
              <a:buFontTx/>
              <a:buNone/>
              <a:defRPr sz="1600" kern="1200">
                <a:solidFill>
                  <a:schemeClr val="tx1"/>
                </a:solidFill>
                <a:latin typeface="+mn-lt"/>
                <a:ea typeface="+mn-ea"/>
                <a:cs typeface="+mn-cs"/>
              </a:defRPr>
            </a:lvl4pPr>
            <a:lvl5pPr marL="1828800" indent="0" algn="just" defTabSz="914400" rtl="0" eaLnBrk="1" latinLnBrk="0" hangingPunct="1">
              <a:lnSpc>
                <a:spcPct val="90000"/>
              </a:lnSpc>
              <a:spcBef>
                <a:spcPts val="500"/>
              </a:spcBef>
              <a:buFontTx/>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Физика – неотъемлемый фундамент любой технической науки. Благодаря достижениям в области физики сложнейшие устройства, вроде смартфонов, автомобилей, устройств связи стали обыденным инструментом рядового пользователя. Поэтому для инженера необходимо знать и понимать устройство мира с точки зрения физики.</a:t>
            </a:r>
          </a:p>
        </p:txBody>
      </p:sp>
      <p:pic>
        <p:nvPicPr>
          <p:cNvPr id="1030" name="Picture 6" descr="Эксперты назвали важнейшие научные достижения 2022 года - Российская газета">
            <a:extLst>
              <a:ext uri="{FF2B5EF4-FFF2-40B4-BE49-F238E27FC236}">
                <a16:creationId xmlns:a16="http://schemas.microsoft.com/office/drawing/2014/main" id="{2323A748-CDC5-4534-B119-ACF75C90A1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9865" y="3670589"/>
            <a:ext cx="2143384" cy="142963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50 лучших смартфонов в 2023 году: рейтинг топ хороших недорогих и лучших  флагманских китайских, российских, игровых, защищенных, компактных,  музыкальных смартфонов с ценами и отзывами по версии КП">
            <a:extLst>
              <a:ext uri="{FF2B5EF4-FFF2-40B4-BE49-F238E27FC236}">
                <a16:creationId xmlns:a16="http://schemas.microsoft.com/office/drawing/2014/main" id="{3D00C317-27E2-4791-A57D-89B6EE3CAD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68726" y="3671392"/>
            <a:ext cx="2538720" cy="142803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Как на Большом адронном коллайдере пытаются опровергнуть Стандартную модель  - Газета.Ru">
            <a:extLst>
              <a:ext uri="{FF2B5EF4-FFF2-40B4-BE49-F238E27FC236}">
                <a16:creationId xmlns:a16="http://schemas.microsoft.com/office/drawing/2014/main" id="{0C12A62F-D7CF-47B7-976F-3C528BC8307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93105" y="5237226"/>
            <a:ext cx="2140144" cy="142778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Американцы представили двигатель для сверхзвукового пассажирского самолета">
            <a:extLst>
              <a:ext uri="{FF2B5EF4-FFF2-40B4-BE49-F238E27FC236}">
                <a16:creationId xmlns:a16="http://schemas.microsoft.com/office/drawing/2014/main" id="{CB4EA36B-4D6F-49D5-B916-7FD20CA0DA0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7070"/>
          <a:stretch/>
        </p:blipFill>
        <p:spPr bwMode="auto">
          <a:xfrm>
            <a:off x="9068014" y="5237226"/>
            <a:ext cx="2140144" cy="142747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ForPost - Новости : В Госдуме объяснили, какая радуга в России не запрещена законом">
            <a:extLst>
              <a:ext uri="{FF2B5EF4-FFF2-40B4-BE49-F238E27FC236}">
                <a16:creationId xmlns:a16="http://schemas.microsoft.com/office/drawing/2014/main" id="{DE75BD5F-5A56-4502-9F63-0E66A0DADB1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7240" y="3670213"/>
            <a:ext cx="2208705" cy="147154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огонь, изолированные на черном фоне - огонь стоковые фото и изображения">
            <a:extLst>
              <a:ext uri="{FF2B5EF4-FFF2-40B4-BE49-F238E27FC236}">
                <a16:creationId xmlns:a16="http://schemas.microsoft.com/office/drawing/2014/main" id="{4700ADE1-A28A-446A-A2AB-852F8BB9F71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111004" y="3671796"/>
            <a:ext cx="2204950" cy="146996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Черная дыра поглотит Солнце. Она летит в сторону Солнечной системы с огромной скоростью">
            <a:extLst>
              <a:ext uri="{FF2B5EF4-FFF2-40B4-BE49-F238E27FC236}">
                <a16:creationId xmlns:a16="http://schemas.microsoft.com/office/drawing/2014/main" id="{00E436F4-1054-4D22-9540-272154B952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103" y="5237226"/>
            <a:ext cx="2199990" cy="147154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Фото Ураган, более 13 000 качественных бесплатных стоковых фото">
            <a:extLst>
              <a:ext uri="{FF2B5EF4-FFF2-40B4-BE49-F238E27FC236}">
                <a16:creationId xmlns:a16="http://schemas.microsoft.com/office/drawing/2014/main" id="{9D705531-52D1-4157-BCA2-1270AEC6141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111004" y="5237226"/>
            <a:ext cx="2204951" cy="1468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445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CAFED05-166F-99FB-D4FA-3DBBBAC0242F}"/>
              </a:ext>
            </a:extLst>
          </p:cNvPr>
          <p:cNvSpPr>
            <a:spLocks noGrp="1"/>
          </p:cNvSpPr>
          <p:nvPr>
            <p:ph type="title"/>
          </p:nvPr>
        </p:nvSpPr>
        <p:spPr/>
        <p:txBody>
          <a:bodyPr/>
          <a:lstStyle/>
          <a:p>
            <a:r>
              <a:rPr lang="ru-RU" dirty="0"/>
              <a:t>2. Механика</a:t>
            </a:r>
            <a:br>
              <a:rPr lang="ru-RU" dirty="0"/>
            </a:br>
            <a:r>
              <a:rPr lang="ru-RU" dirty="0"/>
              <a:t>Кинематика </a:t>
            </a:r>
          </a:p>
        </p:txBody>
      </p:sp>
    </p:spTree>
    <p:extLst>
      <p:ext uri="{BB962C8B-B14F-4D97-AF65-F5344CB8AC3E}">
        <p14:creationId xmlns:p14="http://schemas.microsoft.com/office/powerpoint/2010/main" val="1251407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D1F636D-B7FC-E960-62B1-1DAF8452F082}"/>
              </a:ext>
            </a:extLst>
          </p:cNvPr>
          <p:cNvSpPr>
            <a:spLocks noGrp="1"/>
          </p:cNvSpPr>
          <p:nvPr>
            <p:ph type="title"/>
          </p:nvPr>
        </p:nvSpPr>
        <p:spPr>
          <a:xfrm>
            <a:off x="479425" y="597857"/>
            <a:ext cx="11229975" cy="732856"/>
          </a:xfrm>
        </p:spPr>
        <p:txBody>
          <a:bodyPr/>
          <a:lstStyle/>
          <a:p>
            <a:r>
              <a:rPr lang="ru-RU" dirty="0"/>
              <a:t>Понятие механики, основные модели.</a:t>
            </a:r>
          </a:p>
        </p:txBody>
      </p:sp>
      <p:sp>
        <p:nvSpPr>
          <p:cNvPr id="9" name="Текст 8">
            <a:extLst>
              <a:ext uri="{FF2B5EF4-FFF2-40B4-BE49-F238E27FC236}">
                <a16:creationId xmlns:a16="http://schemas.microsoft.com/office/drawing/2014/main" id="{A3017A7D-CB3E-CDF8-0C1D-AA15110D04DA}"/>
              </a:ext>
            </a:extLst>
          </p:cNvPr>
          <p:cNvSpPr>
            <a:spLocks noGrp="1"/>
          </p:cNvSpPr>
          <p:nvPr>
            <p:ph type="body" sz="quarter" idx="14"/>
          </p:nvPr>
        </p:nvSpPr>
        <p:spPr>
          <a:xfrm>
            <a:off x="479424" y="1798320"/>
            <a:ext cx="10277786" cy="3606304"/>
          </a:xfrm>
        </p:spPr>
        <p:txBody>
          <a:bodyPr/>
          <a:lstStyle/>
          <a:p>
            <a:pPr algn="just" eaLnBrk="1" hangingPunct="1"/>
            <a:r>
              <a:rPr lang="ru-RU" altLang="en-US" b="1" i="1" dirty="0">
                <a:solidFill>
                  <a:schemeClr val="accent5"/>
                </a:solidFill>
              </a:rPr>
              <a:t>Механика </a:t>
            </a:r>
            <a:r>
              <a:rPr lang="ru-RU" altLang="en-US" sz="2400" i="1" dirty="0"/>
              <a:t>– часть физики, которая изучает закономерности механического движения и причины, вызывающие или изменяющие это движение.</a:t>
            </a:r>
            <a:endParaRPr lang="ru-RU" altLang="en-US" sz="2400" dirty="0"/>
          </a:p>
          <a:p>
            <a:pPr algn="just" eaLnBrk="1" hangingPunct="1"/>
            <a:r>
              <a:rPr lang="ru-RU" altLang="en-US" b="1" i="1" dirty="0">
                <a:solidFill>
                  <a:schemeClr val="accent5"/>
                </a:solidFill>
              </a:rPr>
              <a:t>Механическое движение </a:t>
            </a:r>
            <a:r>
              <a:rPr lang="ru-RU" altLang="en-US" sz="2400" i="1" dirty="0"/>
              <a:t>– это изменение с течением времени взаимного расположения тел или их частей.</a:t>
            </a:r>
            <a:endParaRPr lang="ru-RU" altLang="en-US" sz="2400" dirty="0"/>
          </a:p>
          <a:p>
            <a:pPr algn="just" eaLnBrk="1" hangingPunct="1"/>
            <a:r>
              <a:rPr lang="ru-RU" altLang="en-US" sz="2400" dirty="0"/>
              <a:t>Механика вообще подразделяется на три части: </a:t>
            </a:r>
            <a:r>
              <a:rPr lang="ru-RU" altLang="en-US" b="1" i="1" dirty="0">
                <a:solidFill>
                  <a:schemeClr val="accent5"/>
                </a:solidFill>
              </a:rPr>
              <a:t>статику, кинематику и динамику.</a:t>
            </a:r>
          </a:p>
          <a:p>
            <a:endParaRPr lang="ru-RU" dirty="0"/>
          </a:p>
        </p:txBody>
      </p:sp>
      <p:sp>
        <p:nvSpPr>
          <p:cNvPr id="12" name="Текст 11">
            <a:extLst>
              <a:ext uri="{FF2B5EF4-FFF2-40B4-BE49-F238E27FC236}">
                <a16:creationId xmlns:a16="http://schemas.microsoft.com/office/drawing/2014/main" id="{5462D9E6-7695-A93E-D7AB-B93901A698CA}"/>
              </a:ext>
            </a:extLst>
          </p:cNvPr>
          <p:cNvSpPr>
            <a:spLocks noGrp="1"/>
          </p:cNvSpPr>
          <p:nvPr>
            <p:ph type="body" sz="quarter" idx="19"/>
          </p:nvPr>
        </p:nvSpPr>
        <p:spPr/>
        <p:txBody>
          <a:bodyPr/>
          <a:lstStyle/>
          <a:p>
            <a:r>
              <a:rPr lang="ru-RU" dirty="0"/>
              <a:t>Механика</a:t>
            </a:r>
          </a:p>
        </p:txBody>
      </p:sp>
    </p:spTree>
    <p:extLst>
      <p:ext uri="{BB962C8B-B14F-4D97-AF65-F5344CB8AC3E}">
        <p14:creationId xmlns:p14="http://schemas.microsoft.com/office/powerpoint/2010/main" val="4163283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Текст 8">
            <a:extLst>
              <a:ext uri="{FF2B5EF4-FFF2-40B4-BE49-F238E27FC236}">
                <a16:creationId xmlns:a16="http://schemas.microsoft.com/office/drawing/2014/main" id="{A3017A7D-CB3E-CDF8-0C1D-AA15110D04DA}"/>
              </a:ext>
            </a:extLst>
          </p:cNvPr>
          <p:cNvSpPr>
            <a:spLocks noGrp="1"/>
          </p:cNvSpPr>
          <p:nvPr>
            <p:ph type="body" sz="quarter" idx="14"/>
          </p:nvPr>
        </p:nvSpPr>
        <p:spPr>
          <a:xfrm>
            <a:off x="566815" y="1176277"/>
            <a:ext cx="11058370" cy="5254259"/>
          </a:xfrm>
        </p:spPr>
        <p:txBody>
          <a:bodyPr/>
          <a:lstStyle/>
          <a:p>
            <a:pPr eaLnBrk="1" hangingPunct="1"/>
            <a:r>
              <a:rPr lang="ru-RU" altLang="en-US" b="1" i="1" dirty="0">
                <a:solidFill>
                  <a:schemeClr val="accent5"/>
                </a:solidFill>
              </a:rPr>
              <a:t>Кинематика</a:t>
            </a:r>
            <a:r>
              <a:rPr lang="ru-RU" altLang="en-US" sz="2400" dirty="0"/>
              <a:t> изучает геометрические свойства движения тел без учета их массы и сил, действующих на них. </a:t>
            </a:r>
            <a:endParaRPr lang="en-US" altLang="en-US" sz="2400" dirty="0"/>
          </a:p>
          <a:p>
            <a:pPr eaLnBrk="1" hangingPunct="1"/>
            <a:r>
              <a:rPr lang="ru-RU" altLang="en-US" b="1" i="1" dirty="0">
                <a:solidFill>
                  <a:srgbClr val="8C64D8"/>
                </a:solidFill>
              </a:rPr>
              <a:t>Динамика</a:t>
            </a:r>
            <a:r>
              <a:rPr lang="ru-RU" altLang="en-US" sz="2400" dirty="0"/>
              <a:t>, в свою очередь, изучает движение тел и причины, обуславливающие это движение. </a:t>
            </a:r>
            <a:endParaRPr lang="en-US" altLang="en-US" sz="2400" dirty="0"/>
          </a:p>
          <a:p>
            <a:pPr eaLnBrk="1" hangingPunct="1"/>
            <a:r>
              <a:rPr lang="ru-RU" altLang="en-US" b="1" i="1" dirty="0">
                <a:solidFill>
                  <a:srgbClr val="8C64D8"/>
                </a:solidFill>
              </a:rPr>
              <a:t>Статика</a:t>
            </a:r>
            <a:r>
              <a:rPr lang="ru-RU" altLang="en-US" sz="2400" dirty="0"/>
              <a:t>, как раздел механики, изучает условия равновесия тел. В данном курсе мы не будем углубляться в законы статики, так как они являются естественным следствием законов динамики.</a:t>
            </a:r>
          </a:p>
          <a:p>
            <a:endParaRPr lang="ru-RU" dirty="0"/>
          </a:p>
        </p:txBody>
      </p:sp>
      <p:sp>
        <p:nvSpPr>
          <p:cNvPr id="12" name="Текст 11">
            <a:extLst>
              <a:ext uri="{FF2B5EF4-FFF2-40B4-BE49-F238E27FC236}">
                <a16:creationId xmlns:a16="http://schemas.microsoft.com/office/drawing/2014/main" id="{5462D9E6-7695-A93E-D7AB-B93901A698CA}"/>
              </a:ext>
            </a:extLst>
          </p:cNvPr>
          <p:cNvSpPr>
            <a:spLocks noGrp="1"/>
          </p:cNvSpPr>
          <p:nvPr>
            <p:ph type="body" sz="quarter" idx="19"/>
          </p:nvPr>
        </p:nvSpPr>
        <p:spPr/>
        <p:txBody>
          <a:bodyPr/>
          <a:lstStyle/>
          <a:p>
            <a:r>
              <a:rPr lang="ru-RU" dirty="0"/>
              <a:t>Механика</a:t>
            </a:r>
          </a:p>
        </p:txBody>
      </p:sp>
    </p:spTree>
    <p:extLst>
      <p:ext uri="{BB962C8B-B14F-4D97-AF65-F5344CB8AC3E}">
        <p14:creationId xmlns:p14="http://schemas.microsoft.com/office/powerpoint/2010/main" val="4155135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Текст 8">
            <a:extLst>
              <a:ext uri="{FF2B5EF4-FFF2-40B4-BE49-F238E27FC236}">
                <a16:creationId xmlns:a16="http://schemas.microsoft.com/office/drawing/2014/main" id="{A3017A7D-CB3E-CDF8-0C1D-AA15110D04DA}"/>
              </a:ext>
            </a:extLst>
          </p:cNvPr>
          <p:cNvSpPr>
            <a:spLocks noGrp="1"/>
          </p:cNvSpPr>
          <p:nvPr>
            <p:ph type="body" sz="quarter" idx="14"/>
          </p:nvPr>
        </p:nvSpPr>
        <p:spPr>
          <a:xfrm>
            <a:off x="566815" y="1176278"/>
            <a:ext cx="11058370" cy="4505444"/>
          </a:xfrm>
        </p:spPr>
        <p:txBody>
          <a:bodyPr/>
          <a:lstStyle/>
          <a:p>
            <a:pPr algn="just" eaLnBrk="1" hangingPunct="1"/>
            <a:r>
              <a:rPr lang="ru-RU" altLang="en-US" dirty="0"/>
              <a:t>	Для описания движения тел в зависимости от условий задачи используют различные </a:t>
            </a:r>
            <a:r>
              <a:rPr lang="ru-RU" altLang="en-US" b="1" i="1" dirty="0">
                <a:solidFill>
                  <a:schemeClr val="accent5"/>
                </a:solidFill>
              </a:rPr>
              <a:t>физические модели</a:t>
            </a:r>
            <a:r>
              <a:rPr lang="ru-RU" altLang="en-US" i="1" dirty="0"/>
              <a:t>.</a:t>
            </a:r>
            <a:r>
              <a:rPr lang="ru-RU" altLang="en-US" dirty="0"/>
              <a:t> Чаще других используют понятия </a:t>
            </a:r>
            <a:r>
              <a:rPr lang="ru-RU" altLang="en-US" b="1" i="1" dirty="0">
                <a:solidFill>
                  <a:schemeClr val="accent5"/>
                </a:solidFill>
              </a:rPr>
              <a:t>абсолютно твердого тела</a:t>
            </a:r>
            <a:r>
              <a:rPr lang="ru-RU" altLang="en-US" dirty="0"/>
              <a:t> и </a:t>
            </a:r>
            <a:r>
              <a:rPr lang="ru-RU" altLang="en-US" b="1" i="1" dirty="0">
                <a:solidFill>
                  <a:schemeClr val="accent5"/>
                </a:solidFill>
              </a:rPr>
              <a:t>материальной точки.</a:t>
            </a:r>
          </a:p>
          <a:p>
            <a:pPr algn="just" eaLnBrk="1" hangingPunct="1"/>
            <a:r>
              <a:rPr lang="en-US" altLang="en-US" dirty="0"/>
              <a:t>	</a:t>
            </a:r>
            <a:r>
              <a:rPr lang="ru-RU" altLang="en-US" dirty="0"/>
              <a:t>Движение</a:t>
            </a:r>
            <a:r>
              <a:rPr lang="ru-RU" altLang="en-US" i="1" dirty="0"/>
              <a:t> </a:t>
            </a:r>
            <a:r>
              <a:rPr lang="ru-RU" altLang="en-US" dirty="0"/>
              <a:t>тел происходит под действием сил. Под действием внешних сил тела могут деформироваться, т.е. изменять свои размеры и форму.</a:t>
            </a:r>
          </a:p>
          <a:p>
            <a:pPr algn="just" eaLnBrk="1" hangingPunct="1"/>
            <a:r>
              <a:rPr lang="en-US" altLang="en-US" i="1" dirty="0"/>
              <a:t>	</a:t>
            </a:r>
            <a:r>
              <a:rPr lang="ru-RU" altLang="en-US" b="1" i="1" dirty="0">
                <a:solidFill>
                  <a:schemeClr val="accent5"/>
                </a:solidFill>
              </a:rPr>
              <a:t>Тело, расстояние между точками которого остается неизменным (жесткие связи) </a:t>
            </a:r>
            <a:r>
              <a:rPr lang="ru-RU" altLang="en-US" i="1" dirty="0"/>
              <a:t>в условиях данной задачи, называют </a:t>
            </a:r>
            <a:r>
              <a:rPr lang="ru-RU" altLang="en-US" b="1" i="1" dirty="0">
                <a:solidFill>
                  <a:schemeClr val="accent5"/>
                </a:solidFill>
              </a:rPr>
              <a:t>абсолютно твердым телом </a:t>
            </a:r>
            <a:r>
              <a:rPr lang="ru-RU" altLang="en-US" dirty="0"/>
              <a:t>(</a:t>
            </a:r>
            <a:r>
              <a:rPr lang="ru-RU" altLang="en-US" i="1" dirty="0"/>
              <a:t>хотя абсолютно твердых тел в природе не существует</a:t>
            </a:r>
            <a:r>
              <a:rPr lang="ru-RU" altLang="en-US" dirty="0"/>
              <a:t>)</a:t>
            </a:r>
            <a:r>
              <a:rPr lang="ru-RU" altLang="en-US" i="1" dirty="0"/>
              <a:t>.</a:t>
            </a:r>
          </a:p>
          <a:p>
            <a:pPr eaLnBrk="1" hangingPunct="1"/>
            <a:endParaRPr lang="ru-RU" altLang="en-US" dirty="0"/>
          </a:p>
          <a:p>
            <a:endParaRPr lang="ru-RU" dirty="0"/>
          </a:p>
        </p:txBody>
      </p:sp>
      <p:sp>
        <p:nvSpPr>
          <p:cNvPr id="12" name="Текст 11">
            <a:extLst>
              <a:ext uri="{FF2B5EF4-FFF2-40B4-BE49-F238E27FC236}">
                <a16:creationId xmlns:a16="http://schemas.microsoft.com/office/drawing/2014/main" id="{5462D9E6-7695-A93E-D7AB-B93901A698CA}"/>
              </a:ext>
            </a:extLst>
          </p:cNvPr>
          <p:cNvSpPr>
            <a:spLocks noGrp="1"/>
          </p:cNvSpPr>
          <p:nvPr>
            <p:ph type="body" sz="quarter" idx="19"/>
          </p:nvPr>
        </p:nvSpPr>
        <p:spPr/>
        <p:txBody>
          <a:bodyPr/>
          <a:lstStyle/>
          <a:p>
            <a:r>
              <a:rPr lang="ru-RU" dirty="0"/>
              <a:t>Физические модели</a:t>
            </a:r>
          </a:p>
        </p:txBody>
      </p:sp>
    </p:spTree>
    <p:extLst>
      <p:ext uri="{BB962C8B-B14F-4D97-AF65-F5344CB8AC3E}">
        <p14:creationId xmlns:p14="http://schemas.microsoft.com/office/powerpoint/2010/main" val="308743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Текст 8">
            <a:extLst>
              <a:ext uri="{FF2B5EF4-FFF2-40B4-BE49-F238E27FC236}">
                <a16:creationId xmlns:a16="http://schemas.microsoft.com/office/drawing/2014/main" id="{A3017A7D-CB3E-CDF8-0C1D-AA15110D04DA}"/>
              </a:ext>
            </a:extLst>
          </p:cNvPr>
          <p:cNvSpPr>
            <a:spLocks noGrp="1"/>
          </p:cNvSpPr>
          <p:nvPr>
            <p:ph type="body" sz="quarter" idx="14"/>
          </p:nvPr>
        </p:nvSpPr>
        <p:spPr>
          <a:xfrm>
            <a:off x="566815" y="1176278"/>
            <a:ext cx="11058370" cy="4505444"/>
          </a:xfrm>
        </p:spPr>
        <p:txBody>
          <a:bodyPr/>
          <a:lstStyle/>
          <a:p>
            <a:pPr algn="just" eaLnBrk="1" hangingPunct="1"/>
            <a:r>
              <a:rPr lang="en-US" altLang="en-US" dirty="0"/>
              <a:t>	</a:t>
            </a:r>
            <a:r>
              <a:rPr lang="ru-RU" altLang="en-US" b="1" i="1" dirty="0">
                <a:solidFill>
                  <a:schemeClr val="accent5"/>
                </a:solidFill>
              </a:rPr>
              <a:t>Тело, размерами которого в условиях данной задачи можно пренебречь, называется материальной точкой.</a:t>
            </a:r>
          </a:p>
          <a:p>
            <a:pPr algn="just" eaLnBrk="1" hangingPunct="1"/>
            <a:r>
              <a:rPr lang="en-US" altLang="en-US" sz="2000" dirty="0"/>
              <a:t>	</a:t>
            </a:r>
            <a:r>
              <a:rPr lang="ru-RU" altLang="en-US" sz="2400" dirty="0"/>
              <a:t>Можно ли данное тело рассматривать как материальную точку или нет зависит не от размеров тела, а от условия задачи (например, Солнце – тоже материальная точка в галактике).</a:t>
            </a:r>
          </a:p>
          <a:p>
            <a:pPr eaLnBrk="1" hangingPunct="1"/>
            <a:endParaRPr lang="ru-RU" altLang="en-US" dirty="0"/>
          </a:p>
          <a:p>
            <a:endParaRPr lang="ru-RU" dirty="0"/>
          </a:p>
        </p:txBody>
      </p:sp>
      <p:sp>
        <p:nvSpPr>
          <p:cNvPr id="12" name="Текст 11">
            <a:extLst>
              <a:ext uri="{FF2B5EF4-FFF2-40B4-BE49-F238E27FC236}">
                <a16:creationId xmlns:a16="http://schemas.microsoft.com/office/drawing/2014/main" id="{5462D9E6-7695-A93E-D7AB-B93901A698CA}"/>
              </a:ext>
            </a:extLst>
          </p:cNvPr>
          <p:cNvSpPr>
            <a:spLocks noGrp="1"/>
          </p:cNvSpPr>
          <p:nvPr>
            <p:ph type="body" sz="quarter" idx="19"/>
          </p:nvPr>
        </p:nvSpPr>
        <p:spPr/>
        <p:txBody>
          <a:bodyPr/>
          <a:lstStyle/>
          <a:p>
            <a:r>
              <a:rPr lang="ru-RU" dirty="0"/>
              <a:t>Физические модели</a:t>
            </a:r>
          </a:p>
        </p:txBody>
      </p:sp>
      <p:pic>
        <p:nvPicPr>
          <p:cNvPr id="1026" name="Picture 2" descr="Солнце. Положение Солнца в галактике Млечный путь.">
            <a:extLst>
              <a:ext uri="{FF2B5EF4-FFF2-40B4-BE49-F238E27FC236}">
                <a16:creationId xmlns:a16="http://schemas.microsoft.com/office/drawing/2014/main" id="{1B32192B-A4A1-44AA-BFC9-A596718C99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4425" y="3412268"/>
            <a:ext cx="4101287" cy="28709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Во сколько раз Солнце больше Земли. Сравнительные характеристики">
            <a:extLst>
              <a:ext uri="{FF2B5EF4-FFF2-40B4-BE49-F238E27FC236}">
                <a16:creationId xmlns:a16="http://schemas.microsoft.com/office/drawing/2014/main" id="{B2E768AB-4670-4136-87DD-FE38EB65C4B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337"/>
          <a:stretch/>
        </p:blipFill>
        <p:spPr bwMode="auto">
          <a:xfrm>
            <a:off x="626288" y="3429000"/>
            <a:ext cx="6055939" cy="2854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933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D1F636D-B7FC-E960-62B1-1DAF8452F082}"/>
              </a:ext>
            </a:extLst>
          </p:cNvPr>
          <p:cNvSpPr>
            <a:spLocks noGrp="1"/>
          </p:cNvSpPr>
          <p:nvPr>
            <p:ph type="title"/>
          </p:nvPr>
        </p:nvSpPr>
        <p:spPr>
          <a:xfrm>
            <a:off x="479425" y="597856"/>
            <a:ext cx="11229975" cy="768665"/>
          </a:xfrm>
        </p:spPr>
        <p:txBody>
          <a:bodyPr/>
          <a:lstStyle/>
          <a:p>
            <a:r>
              <a:rPr lang="ru-RU" dirty="0"/>
              <a:t>Основные понятия кинематики</a:t>
            </a:r>
          </a:p>
        </p:txBody>
      </p:sp>
      <p:sp>
        <p:nvSpPr>
          <p:cNvPr id="9" name="Текст 8">
            <a:extLst>
              <a:ext uri="{FF2B5EF4-FFF2-40B4-BE49-F238E27FC236}">
                <a16:creationId xmlns:a16="http://schemas.microsoft.com/office/drawing/2014/main" id="{A3017A7D-CB3E-CDF8-0C1D-AA15110D04DA}"/>
              </a:ext>
            </a:extLst>
          </p:cNvPr>
          <p:cNvSpPr>
            <a:spLocks noGrp="1"/>
          </p:cNvSpPr>
          <p:nvPr>
            <p:ph type="body" sz="quarter" idx="14"/>
          </p:nvPr>
        </p:nvSpPr>
        <p:spPr>
          <a:xfrm>
            <a:off x="338175" y="1156751"/>
            <a:ext cx="11311132" cy="5392731"/>
          </a:xfrm>
        </p:spPr>
        <p:txBody>
          <a:bodyPr/>
          <a:lstStyle/>
          <a:p>
            <a:pPr algn="just" eaLnBrk="1" hangingPunct="1"/>
            <a:r>
              <a:rPr lang="ru-RU" altLang="en-US" b="1" i="1" dirty="0">
                <a:solidFill>
                  <a:schemeClr val="accent5"/>
                </a:solidFill>
              </a:rPr>
              <a:t>	Всякое движение относительно,</a:t>
            </a:r>
            <a:r>
              <a:rPr lang="ru-RU" altLang="en-US" dirty="0"/>
              <a:t> поэтому для описания движения необходимо условиться, относительно какого другого тела будет отсчитываться перемещение данного тела. </a:t>
            </a:r>
            <a:r>
              <a:rPr lang="ru-RU" altLang="en-US" i="1" dirty="0"/>
              <a:t>Выбранное для этой цели тело называют</a:t>
            </a:r>
            <a:r>
              <a:rPr lang="ru-RU" altLang="en-US" b="1" i="1" dirty="0"/>
              <a:t> </a:t>
            </a:r>
            <a:r>
              <a:rPr lang="ru-RU" altLang="en-US" b="1" i="1" dirty="0">
                <a:solidFill>
                  <a:schemeClr val="accent5"/>
                </a:solidFill>
              </a:rPr>
              <a:t>телом отсчета</a:t>
            </a:r>
            <a:r>
              <a:rPr lang="ru-RU" altLang="en-US" b="1" i="1" dirty="0"/>
              <a:t>.</a:t>
            </a:r>
            <a:endParaRPr lang="ru-RU" altLang="en-US" dirty="0"/>
          </a:p>
          <a:p>
            <a:pPr algn="just" eaLnBrk="1" hangingPunct="1"/>
            <a:r>
              <a:rPr lang="ru-RU" altLang="en-US" dirty="0"/>
              <a:t>	Практически, для описания движения приходится связывать с телом отсчета </a:t>
            </a:r>
            <a:r>
              <a:rPr lang="ru-RU" altLang="en-US" b="1" i="1" dirty="0">
                <a:solidFill>
                  <a:schemeClr val="accent5"/>
                </a:solidFill>
              </a:rPr>
              <a:t>систему координат</a:t>
            </a:r>
            <a:r>
              <a:rPr lang="ru-RU" altLang="en-US" i="1" dirty="0"/>
              <a:t> </a:t>
            </a:r>
            <a:r>
              <a:rPr lang="ru-RU" altLang="en-US" dirty="0"/>
              <a:t>(декартова, сферическая, цилиндрическая и т.д.)</a:t>
            </a:r>
            <a:r>
              <a:rPr lang="ru-RU" altLang="en-US" i="1" dirty="0"/>
              <a:t>.</a:t>
            </a:r>
          </a:p>
          <a:p>
            <a:pPr algn="just" eaLnBrk="1" hangingPunct="1"/>
            <a:r>
              <a:rPr lang="ru-RU" altLang="en-US" b="1" i="1" dirty="0">
                <a:solidFill>
                  <a:schemeClr val="accent5"/>
                </a:solidFill>
              </a:rPr>
              <a:t>Система отсчета – совокупность системы координат и часов</a:t>
            </a:r>
            <a:r>
              <a:rPr lang="ru-RU" altLang="en-US" b="1" i="1" dirty="0"/>
              <a:t>,</a:t>
            </a:r>
            <a:r>
              <a:rPr lang="ru-RU" altLang="en-US" b="1" i="1" dirty="0">
                <a:solidFill>
                  <a:schemeClr val="accent5"/>
                </a:solidFill>
              </a:rPr>
              <a:t> </a:t>
            </a:r>
            <a:r>
              <a:rPr lang="ru-RU" altLang="en-US" i="1" dirty="0"/>
              <a:t>связанных с телом по отношению к которому изучается движение.</a:t>
            </a:r>
            <a:endParaRPr lang="ru-RU" altLang="en-US" dirty="0"/>
          </a:p>
          <a:p>
            <a:pPr algn="just" eaLnBrk="1" hangingPunct="1"/>
            <a:r>
              <a:rPr lang="ru-RU" altLang="en-US" dirty="0"/>
              <a:t>	</a:t>
            </a:r>
            <a:r>
              <a:rPr lang="ru-RU" altLang="en-US" b="1" i="1" dirty="0">
                <a:solidFill>
                  <a:schemeClr val="accent5"/>
                </a:solidFill>
              </a:rPr>
              <a:t>Движение тела и время неразрывно связаны между собой.</a:t>
            </a:r>
            <a:endParaRPr lang="ru-RU" altLang="en-US" dirty="0"/>
          </a:p>
          <a:p>
            <a:pPr algn="just" eaLnBrk="1" hangingPunct="1"/>
            <a:r>
              <a:rPr lang="ru-RU" altLang="en-US" sz="2400" i="1" dirty="0"/>
              <a:t> </a:t>
            </a:r>
          </a:p>
          <a:p>
            <a:endParaRPr lang="ru-RU" dirty="0"/>
          </a:p>
        </p:txBody>
      </p:sp>
      <p:sp>
        <p:nvSpPr>
          <p:cNvPr id="12" name="Текст 11">
            <a:extLst>
              <a:ext uri="{FF2B5EF4-FFF2-40B4-BE49-F238E27FC236}">
                <a16:creationId xmlns:a16="http://schemas.microsoft.com/office/drawing/2014/main" id="{5462D9E6-7695-A93E-D7AB-B93901A698CA}"/>
              </a:ext>
            </a:extLst>
          </p:cNvPr>
          <p:cNvSpPr>
            <a:spLocks noGrp="1"/>
          </p:cNvSpPr>
          <p:nvPr>
            <p:ph type="body" sz="quarter" idx="19"/>
          </p:nvPr>
        </p:nvSpPr>
        <p:spPr/>
        <p:txBody>
          <a:bodyPr/>
          <a:lstStyle/>
          <a:p>
            <a:r>
              <a:rPr lang="ru-RU" dirty="0"/>
              <a:t>Кинематика</a:t>
            </a:r>
          </a:p>
        </p:txBody>
      </p:sp>
    </p:spTree>
    <p:extLst>
      <p:ext uri="{BB962C8B-B14F-4D97-AF65-F5344CB8AC3E}">
        <p14:creationId xmlns:p14="http://schemas.microsoft.com/office/powerpoint/2010/main" val="3884742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D1F636D-B7FC-E960-62B1-1DAF8452F082}"/>
              </a:ext>
            </a:extLst>
          </p:cNvPr>
          <p:cNvSpPr>
            <a:spLocks noGrp="1"/>
          </p:cNvSpPr>
          <p:nvPr>
            <p:ph type="title"/>
          </p:nvPr>
        </p:nvSpPr>
        <p:spPr>
          <a:xfrm>
            <a:off x="479425" y="597857"/>
            <a:ext cx="11229975" cy="643646"/>
          </a:xfrm>
        </p:spPr>
        <p:txBody>
          <a:bodyPr/>
          <a:lstStyle/>
          <a:p>
            <a:r>
              <a:rPr lang="ru-RU" dirty="0"/>
              <a:t>Системы координат</a:t>
            </a:r>
          </a:p>
        </p:txBody>
      </p:sp>
      <mc:AlternateContent xmlns:mc="http://schemas.openxmlformats.org/markup-compatibility/2006" xmlns:a14="http://schemas.microsoft.com/office/drawing/2010/main">
        <mc:Choice Requires="a14">
          <p:sp>
            <p:nvSpPr>
              <p:cNvPr id="9" name="Текст 8">
                <a:extLst>
                  <a:ext uri="{FF2B5EF4-FFF2-40B4-BE49-F238E27FC236}">
                    <a16:creationId xmlns:a16="http://schemas.microsoft.com/office/drawing/2014/main" id="{A3017A7D-CB3E-CDF8-0C1D-AA15110D04DA}"/>
                  </a:ext>
                </a:extLst>
              </p:cNvPr>
              <p:cNvSpPr>
                <a:spLocks noGrp="1"/>
              </p:cNvSpPr>
              <p:nvPr>
                <p:ph type="body" sz="quarter" idx="14"/>
              </p:nvPr>
            </p:nvSpPr>
            <p:spPr>
              <a:xfrm>
                <a:off x="382779" y="1167924"/>
                <a:ext cx="11065805" cy="3418943"/>
              </a:xfrm>
            </p:spPr>
            <p:txBody>
              <a:bodyPr/>
              <a:lstStyle/>
              <a:p>
                <a:pPr algn="just"/>
                <a:r>
                  <a:rPr lang="ru-RU" altLang="en-US" dirty="0">
                    <a:cs typeface="Times New Roman" panose="02020603050405020304" pitchFamily="18" charset="0"/>
                  </a:rPr>
                  <a:t>В курсе преимущественно будет использоваться </a:t>
                </a:r>
                <a:r>
                  <a:rPr lang="ru-RU" altLang="en-US" b="1" i="1" dirty="0">
                    <a:solidFill>
                      <a:schemeClr val="accent5"/>
                    </a:solidFill>
                  </a:rPr>
                  <a:t>декартова или прямоугольная система координат,</a:t>
                </a:r>
                <a:r>
                  <a:rPr lang="ru-RU" altLang="en-US" sz="2400" dirty="0">
                    <a:cs typeface="Times New Roman" panose="02020603050405020304" pitchFamily="18" charset="0"/>
                  </a:rPr>
                  <a:t> так как она привычнее и зачастую удобнее.</a:t>
                </a:r>
                <a:endParaRPr lang="ru-RU" altLang="en-US" sz="2400" dirty="0"/>
              </a:p>
              <a:p>
                <a:pPr algn="just"/>
                <a:r>
                  <a:rPr lang="en-US" altLang="en-US" sz="2000" dirty="0">
                    <a:cs typeface="Times New Roman" panose="02020603050405020304" pitchFamily="18" charset="0"/>
                  </a:rPr>
                  <a:t>	</a:t>
                </a:r>
                <a:r>
                  <a:rPr lang="ru-RU" altLang="en-US" sz="2400" dirty="0">
                    <a:cs typeface="Times New Roman" panose="02020603050405020304" pitchFamily="18" charset="0"/>
                  </a:rPr>
                  <a:t>В декартовой системе координат, </a:t>
                </a:r>
                <a:r>
                  <a:rPr lang="ru-RU" altLang="en-US" b="1" i="1" dirty="0">
                    <a:solidFill>
                      <a:schemeClr val="accent5"/>
                    </a:solidFill>
                  </a:rPr>
                  <a:t>положение точки А </a:t>
                </a:r>
                <a:r>
                  <a:rPr lang="ru-RU" altLang="en-US" sz="2400" dirty="0">
                    <a:cs typeface="Times New Roman" panose="02020603050405020304" pitchFamily="18" charset="0"/>
                  </a:rPr>
                  <a:t>в данный момент времени по отношению к этой системе </a:t>
                </a:r>
                <a:r>
                  <a:rPr lang="ru-RU" altLang="en-US" b="1" i="1" dirty="0">
                    <a:solidFill>
                      <a:schemeClr val="accent5"/>
                    </a:solidFill>
                  </a:rPr>
                  <a:t>характеризуется тремя координатами x, </a:t>
                </a:r>
                <a:r>
                  <a:rPr lang="en-US" altLang="en-US" b="1" i="1" dirty="0">
                    <a:solidFill>
                      <a:schemeClr val="accent5"/>
                    </a:solidFill>
                  </a:rPr>
                  <a:t>y</a:t>
                </a:r>
                <a:r>
                  <a:rPr lang="ru-RU" altLang="en-US" b="1" i="1" dirty="0">
                    <a:solidFill>
                      <a:schemeClr val="accent5"/>
                    </a:solidFill>
                  </a:rPr>
                  <a:t>, </a:t>
                </a:r>
                <a:r>
                  <a:rPr lang="en-US" altLang="en-US" b="1" i="1" dirty="0">
                    <a:solidFill>
                      <a:schemeClr val="accent5"/>
                    </a:solidFill>
                  </a:rPr>
                  <a:t>z</a:t>
                </a:r>
                <a:r>
                  <a:rPr lang="ru-RU" altLang="en-US" b="1" i="1" dirty="0">
                    <a:solidFill>
                      <a:schemeClr val="accent5"/>
                    </a:solidFill>
                  </a:rPr>
                  <a:t> или радиус-вектором</a:t>
                </a:r>
                <a:r>
                  <a:rPr lang="en-US" altLang="en-US" b="1" i="1" dirty="0">
                    <a:solidFill>
                      <a:schemeClr val="accent5"/>
                    </a:solidFill>
                  </a:rPr>
                  <a:t> </a:t>
                </a:r>
                <a14:m>
                  <m:oMath xmlns:m="http://schemas.openxmlformats.org/officeDocument/2006/math">
                    <m:acc>
                      <m:accPr>
                        <m:chr m:val="̅"/>
                        <m:ctrlPr>
                          <a:rPr lang="en-US" altLang="en-US" b="1" i="1">
                            <a:solidFill>
                              <a:schemeClr val="accent5"/>
                            </a:solidFill>
                            <a:latin typeface="Cambria Math" panose="02040503050406030204" pitchFamily="18" charset="0"/>
                          </a:rPr>
                        </m:ctrlPr>
                      </m:accPr>
                      <m:e>
                        <m:r>
                          <a:rPr lang="en-US" altLang="en-US" b="1" i="1">
                            <a:solidFill>
                              <a:schemeClr val="accent5"/>
                            </a:solidFill>
                            <a:latin typeface="Cambria Math" panose="02040503050406030204" pitchFamily="18" charset="0"/>
                          </a:rPr>
                          <m:t>𝑟</m:t>
                        </m:r>
                      </m:e>
                    </m:acc>
                  </m:oMath>
                </a14:m>
                <a:r>
                  <a:rPr lang="en-US" altLang="en-US" b="1" i="1" dirty="0">
                    <a:solidFill>
                      <a:schemeClr val="accent5"/>
                    </a:solidFill>
                  </a:rPr>
                  <a:t>, </a:t>
                </a:r>
                <a:r>
                  <a:rPr lang="ru-RU" altLang="en-US" sz="2400" dirty="0">
                    <a:cs typeface="Times New Roman" panose="02020603050405020304" pitchFamily="18" charset="0"/>
                  </a:rPr>
                  <a:t>проведенным из начала координат в данную точку. </a:t>
                </a:r>
              </a:p>
              <a:p>
                <a:endParaRPr lang="ru-RU" dirty="0"/>
              </a:p>
            </p:txBody>
          </p:sp>
        </mc:Choice>
        <mc:Fallback xmlns="">
          <p:sp>
            <p:nvSpPr>
              <p:cNvPr id="9" name="Текст 8">
                <a:extLst>
                  <a:ext uri="{FF2B5EF4-FFF2-40B4-BE49-F238E27FC236}">
                    <a16:creationId xmlns:a16="http://schemas.microsoft.com/office/drawing/2014/main" id="{A3017A7D-CB3E-CDF8-0C1D-AA15110D04DA}"/>
                  </a:ext>
                </a:extLst>
              </p:cNvPr>
              <p:cNvSpPr>
                <a:spLocks noGrp="1" noRot="1" noChangeAspect="1" noMove="1" noResize="1" noEditPoints="1" noAdjustHandles="1" noChangeArrowheads="1" noChangeShapeType="1" noTextEdit="1"/>
              </p:cNvSpPr>
              <p:nvPr>
                <p:ph type="body" sz="quarter" idx="14"/>
              </p:nvPr>
            </p:nvSpPr>
            <p:spPr>
              <a:xfrm>
                <a:off x="382779" y="1167924"/>
                <a:ext cx="11065805" cy="3418943"/>
              </a:xfrm>
              <a:blipFill>
                <a:blip r:embed="rId4"/>
                <a:stretch>
                  <a:fillRect l="-882" t="-2321" r="-826"/>
                </a:stretch>
              </a:blipFill>
            </p:spPr>
            <p:txBody>
              <a:bodyPr/>
              <a:lstStyle/>
              <a:p>
                <a:r>
                  <a:rPr lang="en-US">
                    <a:noFill/>
                  </a:rPr>
                  <a:t> </a:t>
                </a:r>
              </a:p>
            </p:txBody>
          </p:sp>
        </mc:Fallback>
      </mc:AlternateContent>
      <p:sp>
        <p:nvSpPr>
          <p:cNvPr id="10" name="Текст 9">
            <a:extLst>
              <a:ext uri="{FF2B5EF4-FFF2-40B4-BE49-F238E27FC236}">
                <a16:creationId xmlns:a16="http://schemas.microsoft.com/office/drawing/2014/main" id="{36DD1949-9CA3-FE53-49F8-818DE30015BC}"/>
              </a:ext>
            </a:extLst>
          </p:cNvPr>
          <p:cNvSpPr>
            <a:spLocks noGrp="1"/>
          </p:cNvSpPr>
          <p:nvPr>
            <p:ph type="body" sz="quarter" idx="17"/>
          </p:nvPr>
        </p:nvSpPr>
        <p:spPr>
          <a:xfrm>
            <a:off x="354510" y="3881626"/>
            <a:ext cx="7484867" cy="2092547"/>
          </a:xfrm>
        </p:spPr>
        <p:txBody>
          <a:bodyPr>
            <a:normAutofit lnSpcReduction="10000"/>
          </a:bodyPr>
          <a:lstStyle/>
          <a:p>
            <a:pPr algn="just" eaLnBrk="1" hangingPunct="1"/>
            <a:r>
              <a:rPr lang="ru-RU" altLang="en-US" sz="2400" dirty="0">
                <a:latin typeface="+mj-lt"/>
                <a:cs typeface="Times New Roman" panose="02020603050405020304" pitchFamily="18" charset="0"/>
              </a:rPr>
              <a:t>При движении материальной точки её координаты с течением времени изменяются.</a:t>
            </a:r>
          </a:p>
          <a:p>
            <a:pPr algn="just" eaLnBrk="1" hangingPunct="1"/>
            <a:r>
              <a:rPr lang="ru-RU" altLang="en-US" sz="2400" dirty="0">
                <a:latin typeface="+mj-lt"/>
                <a:cs typeface="Times New Roman" panose="02020603050405020304" pitchFamily="18" charset="0"/>
              </a:rPr>
              <a:t>В общем случае её движение определяется скалярными(параметрическими) уравнениями</a:t>
            </a:r>
            <a:r>
              <a:rPr lang="en-US" altLang="en-US" sz="2400" dirty="0"/>
              <a:t>:</a:t>
            </a:r>
            <a:endParaRPr lang="ru-RU" altLang="en-US" sz="2400" dirty="0"/>
          </a:p>
          <a:p>
            <a:endParaRPr lang="ru-RU" dirty="0"/>
          </a:p>
        </p:txBody>
      </p:sp>
      <p:sp>
        <p:nvSpPr>
          <p:cNvPr id="12" name="Текст 11">
            <a:extLst>
              <a:ext uri="{FF2B5EF4-FFF2-40B4-BE49-F238E27FC236}">
                <a16:creationId xmlns:a16="http://schemas.microsoft.com/office/drawing/2014/main" id="{5462D9E6-7695-A93E-D7AB-B93901A698CA}"/>
              </a:ext>
            </a:extLst>
          </p:cNvPr>
          <p:cNvSpPr>
            <a:spLocks noGrp="1"/>
          </p:cNvSpPr>
          <p:nvPr>
            <p:ph type="body" sz="quarter" idx="19"/>
          </p:nvPr>
        </p:nvSpPr>
        <p:spPr/>
        <p:txBody>
          <a:bodyPr/>
          <a:lstStyle/>
          <a:p>
            <a:r>
              <a:rPr lang="ru-RU" dirty="0"/>
              <a:t>Кинематика</a:t>
            </a:r>
          </a:p>
        </p:txBody>
      </p:sp>
      <p:graphicFrame>
        <p:nvGraphicFramePr>
          <p:cNvPr id="3" name="Object 2">
            <a:extLst>
              <a:ext uri="{FF2B5EF4-FFF2-40B4-BE49-F238E27FC236}">
                <a16:creationId xmlns:a16="http://schemas.microsoft.com/office/drawing/2014/main" id="{DFB68D03-B334-488E-901F-6A4FCD2124E5}"/>
              </a:ext>
            </a:extLst>
          </p:cNvPr>
          <p:cNvGraphicFramePr>
            <a:graphicFrameLocks noChangeAspect="1"/>
          </p:cNvGraphicFramePr>
          <p:nvPr>
            <p:extLst>
              <p:ext uri="{D42A27DB-BD31-4B8C-83A1-F6EECF244321}">
                <p14:modId xmlns:p14="http://schemas.microsoft.com/office/powerpoint/2010/main" val="3676621467"/>
              </p:ext>
            </p:extLst>
          </p:nvPr>
        </p:nvGraphicFramePr>
        <p:xfrm>
          <a:off x="910390" y="6111840"/>
          <a:ext cx="6028852" cy="510279"/>
        </p:xfrm>
        <a:graphic>
          <a:graphicData uri="http://schemas.openxmlformats.org/presentationml/2006/ole">
            <mc:AlternateContent xmlns:mc="http://schemas.openxmlformats.org/markup-compatibility/2006">
              <mc:Choice xmlns:v="urn:schemas-microsoft-com:vml" Requires="v">
                <p:oleObj spid="_x0000_s2128" name="Equation" r:id="rId5" imgW="4051080" imgH="342720" progId="Equation.DSMT4">
                  <p:embed/>
                </p:oleObj>
              </mc:Choice>
              <mc:Fallback>
                <p:oleObj name="Equation" r:id="rId5" imgW="4051080" imgH="342720" progId="Equation.DSMT4">
                  <p:embed/>
                  <p:pic>
                    <p:nvPicPr>
                      <p:cNvPr id="0" name=""/>
                      <p:cNvPicPr/>
                      <p:nvPr/>
                    </p:nvPicPr>
                    <p:blipFill>
                      <a:blip r:embed="rId6"/>
                      <a:stretch>
                        <a:fillRect/>
                      </a:stretch>
                    </p:blipFill>
                    <p:spPr>
                      <a:xfrm>
                        <a:off x="910390" y="6111840"/>
                        <a:ext cx="6028852" cy="510279"/>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CA06ACD7-C3EE-4316-A8B5-18DDC02A7862}"/>
              </a:ext>
            </a:extLst>
          </p:cNvPr>
          <p:cNvPicPr>
            <a:picLocks noChangeAspect="1"/>
          </p:cNvPicPr>
          <p:nvPr/>
        </p:nvPicPr>
        <p:blipFill>
          <a:blip r:embed="rId7">
            <a:extLst>
              <a:ext uri="{BEBA8EAE-BF5A-486C-A8C5-ECC9F3942E4B}">
                <a14:imgProps xmlns:a14="http://schemas.microsoft.com/office/drawing/2010/main">
                  <a14:imgLayer r:embed="rId8">
                    <a14:imgEffect>
                      <a14:saturation sat="66000"/>
                    </a14:imgEffect>
                  </a14:imgLayer>
                </a14:imgProps>
              </a:ext>
            </a:extLst>
          </a:blip>
          <a:stretch>
            <a:fillRect/>
          </a:stretch>
        </p:blipFill>
        <p:spPr>
          <a:xfrm>
            <a:off x="7877817" y="3642834"/>
            <a:ext cx="3444435" cy="3091160"/>
          </a:xfrm>
          <a:prstGeom prst="rect">
            <a:avLst/>
          </a:prstGeom>
        </p:spPr>
      </p:pic>
    </p:spTree>
    <p:extLst>
      <p:ext uri="{BB962C8B-B14F-4D97-AF65-F5344CB8AC3E}">
        <p14:creationId xmlns:p14="http://schemas.microsoft.com/office/powerpoint/2010/main" val="3804544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D1F636D-B7FC-E960-62B1-1DAF8452F082}"/>
              </a:ext>
            </a:extLst>
          </p:cNvPr>
          <p:cNvSpPr>
            <a:spLocks noGrp="1"/>
          </p:cNvSpPr>
          <p:nvPr>
            <p:ph type="title"/>
          </p:nvPr>
        </p:nvSpPr>
        <p:spPr>
          <a:xfrm>
            <a:off x="479425" y="597856"/>
            <a:ext cx="11229975" cy="568325"/>
          </a:xfrm>
        </p:spPr>
        <p:txBody>
          <a:bodyPr/>
          <a:lstStyle/>
          <a:p>
            <a:r>
              <a:rPr lang="ru-RU" dirty="0"/>
              <a:t>Уравнения движения</a:t>
            </a:r>
          </a:p>
        </p:txBody>
      </p:sp>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36DD1949-9CA3-FE53-49F8-818DE30015BC}"/>
                  </a:ext>
                </a:extLst>
              </p:cNvPr>
              <p:cNvSpPr>
                <a:spLocks noGrp="1"/>
              </p:cNvSpPr>
              <p:nvPr>
                <p:ph type="body" sz="quarter" idx="17"/>
              </p:nvPr>
            </p:nvSpPr>
            <p:spPr>
              <a:xfrm>
                <a:off x="359994" y="1252912"/>
                <a:ext cx="11468836" cy="5261470"/>
              </a:xfrm>
            </p:spPr>
            <p:txBody>
              <a:bodyPr>
                <a:normAutofit/>
              </a:bodyPr>
              <a:lstStyle/>
              <a:p>
                <a:r>
                  <a:rPr lang="ru-RU" sz="1800" dirty="0">
                    <a:latin typeface="+mj-lt"/>
                  </a:rPr>
                  <a:t>Рассмотрим движение материальной точки относительно некоторой системы отчета </a:t>
                </a:r>
                <a:r>
                  <a:rPr lang="en-US" sz="1800" dirty="0">
                    <a:latin typeface="+mj-lt"/>
                  </a:rPr>
                  <a:t>K:</a:t>
                </a:r>
              </a:p>
              <a:p>
                <a:r>
                  <a:rPr lang="ru-RU" sz="1800" dirty="0">
                    <a:latin typeface="+mj-lt"/>
                  </a:rPr>
                  <a:t>Пусть точка переместилась за некоторый промежуток времени из точки пространства М</a:t>
                </a:r>
                <a:r>
                  <a:rPr lang="ru-RU" sz="1800" baseline="-25000" dirty="0">
                    <a:latin typeface="+mj-lt"/>
                  </a:rPr>
                  <a:t>1 </a:t>
                </a:r>
                <a:r>
                  <a:rPr lang="ru-RU" sz="1800" dirty="0">
                    <a:latin typeface="+mj-lt"/>
                  </a:rPr>
                  <a:t>в точку </a:t>
                </a:r>
                <a:r>
                  <a:rPr lang="en-US" sz="1800" dirty="0">
                    <a:latin typeface="+mj-lt"/>
                  </a:rPr>
                  <a:t>M</a:t>
                </a:r>
                <a:r>
                  <a:rPr lang="en-US" sz="1800" baseline="-25000" dirty="0">
                    <a:latin typeface="+mj-lt"/>
                  </a:rPr>
                  <a:t>2</a:t>
                </a:r>
                <a:r>
                  <a:rPr lang="en-US" sz="1800" dirty="0">
                    <a:latin typeface="+mj-lt"/>
                  </a:rPr>
                  <a:t>. </a:t>
                </a:r>
              </a:p>
              <a:p>
                <a:r>
                  <a:rPr lang="ru-RU" altLang="en-US" sz="1800" dirty="0">
                    <a:latin typeface="+mj-lt"/>
                  </a:rPr>
                  <a:t>Соединим начало координат с точками </a:t>
                </a:r>
                <a:r>
                  <a:rPr lang="ru-RU" sz="1800" dirty="0">
                    <a:latin typeface="+mj-lt"/>
                  </a:rPr>
                  <a:t>М</a:t>
                </a:r>
                <a:r>
                  <a:rPr lang="ru-RU" sz="1800" baseline="-25000" dirty="0">
                    <a:latin typeface="+mj-lt"/>
                  </a:rPr>
                  <a:t>1</a:t>
                </a:r>
                <a:r>
                  <a:rPr lang="ru-RU" altLang="en-US" sz="1800" dirty="0">
                    <a:latin typeface="+mj-lt"/>
                  </a:rPr>
                  <a:t> и </a:t>
                </a:r>
                <a:r>
                  <a:rPr lang="en-US" sz="1800" dirty="0">
                    <a:latin typeface="+mj-lt"/>
                  </a:rPr>
                  <a:t>M</a:t>
                </a:r>
                <a:r>
                  <a:rPr lang="en-US" sz="1800" baseline="-25000" dirty="0">
                    <a:latin typeface="+mj-lt"/>
                  </a:rPr>
                  <a:t>2</a:t>
                </a:r>
                <a:r>
                  <a:rPr lang="ru-RU" altLang="en-US" sz="1800" dirty="0">
                    <a:latin typeface="+mj-lt"/>
                  </a:rPr>
                  <a:t> - это радиус-векторы </a:t>
                </a:r>
                <a14:m>
                  <m:oMath xmlns:m="http://schemas.openxmlformats.org/officeDocument/2006/math">
                    <m:r>
                      <a:rPr lang="en-US" altLang="en-US" sz="1800" b="0" i="1" smtClean="0">
                        <a:latin typeface="Cambria Math" panose="02040503050406030204" pitchFamily="18" charset="0"/>
                      </a:rPr>
                      <m:t>𝑟</m:t>
                    </m:r>
                    <m:r>
                      <a:rPr lang="en-US" altLang="en-US" sz="1800" b="0" i="1" smtClean="0">
                        <a:latin typeface="Cambria Math" panose="02040503050406030204" pitchFamily="18" charset="0"/>
                      </a:rPr>
                      <m:t>(</m:t>
                    </m:r>
                    <m:sSub>
                      <m:sSubPr>
                        <m:ctrlPr>
                          <a:rPr lang="en-US" altLang="en-US" sz="1800" i="1" smtClean="0">
                            <a:latin typeface="Cambria Math" panose="02040503050406030204" pitchFamily="18" charset="0"/>
                          </a:rPr>
                        </m:ctrlPr>
                      </m:sSubPr>
                      <m:e>
                        <m:r>
                          <a:rPr lang="en-US" altLang="en-US" sz="1800" b="0" i="1" smtClean="0">
                            <a:latin typeface="Cambria Math" panose="02040503050406030204" pitchFamily="18" charset="0"/>
                          </a:rPr>
                          <m:t>𝑡</m:t>
                        </m:r>
                      </m:e>
                      <m:sub>
                        <m:r>
                          <a:rPr lang="en-US" altLang="en-US" sz="1800" b="0" i="1" smtClean="0">
                            <a:latin typeface="Cambria Math" panose="02040503050406030204" pitchFamily="18" charset="0"/>
                          </a:rPr>
                          <m:t>1</m:t>
                        </m:r>
                      </m:sub>
                    </m:sSub>
                    <m:r>
                      <a:rPr lang="en-US" altLang="en-US" sz="1800" b="0" i="1" smtClean="0">
                        <a:latin typeface="Cambria Math" panose="02040503050406030204" pitchFamily="18" charset="0"/>
                      </a:rPr>
                      <m:t>)</m:t>
                    </m:r>
                  </m:oMath>
                </a14:m>
                <a:r>
                  <a:rPr lang="de-DE" altLang="en-US" sz="1800" dirty="0">
                    <a:latin typeface="+mj-lt"/>
                  </a:rPr>
                  <a:t> </a:t>
                </a:r>
                <a:r>
                  <a:rPr lang="ru-RU" altLang="en-US" sz="1800" dirty="0">
                    <a:latin typeface="+mj-lt"/>
                  </a:rPr>
                  <a:t>и </a:t>
                </a:r>
                <a14:m>
                  <m:oMath xmlns:m="http://schemas.openxmlformats.org/officeDocument/2006/math">
                    <m:r>
                      <a:rPr lang="en-US" altLang="en-US" sz="1800" b="0" i="1" smtClean="0">
                        <a:latin typeface="Cambria Math" panose="02040503050406030204" pitchFamily="18" charset="0"/>
                      </a:rPr>
                      <m:t>𝑟</m:t>
                    </m:r>
                    <m:d>
                      <m:dPr>
                        <m:ctrlPr>
                          <a:rPr lang="en-US" altLang="en-US" sz="1800" i="1">
                            <a:latin typeface="Cambria Math" panose="02040503050406030204" pitchFamily="18" charset="0"/>
                          </a:rPr>
                        </m:ctrlPr>
                      </m:dPr>
                      <m:e>
                        <m:sSub>
                          <m:sSubPr>
                            <m:ctrlPr>
                              <a:rPr lang="en-US" altLang="en-US" sz="1800" i="1" smtClean="0">
                                <a:latin typeface="Cambria Math" panose="02040503050406030204" pitchFamily="18" charset="0"/>
                              </a:rPr>
                            </m:ctrlPr>
                          </m:sSubPr>
                          <m:e>
                            <m:r>
                              <a:rPr lang="en-US" altLang="en-US" sz="1800" b="0" i="1" smtClean="0">
                                <a:latin typeface="Cambria Math" panose="02040503050406030204" pitchFamily="18" charset="0"/>
                              </a:rPr>
                              <m:t>𝑡</m:t>
                            </m:r>
                          </m:e>
                          <m:sub>
                            <m:r>
                              <a:rPr lang="ru-RU" altLang="en-US" sz="1800" b="0" i="1" smtClean="0">
                                <a:latin typeface="Cambria Math" panose="02040503050406030204" pitchFamily="18" charset="0"/>
                              </a:rPr>
                              <m:t>2</m:t>
                            </m:r>
                          </m:sub>
                        </m:sSub>
                      </m:e>
                    </m:d>
                    <m:r>
                      <a:rPr lang="ru-RU" altLang="en-US" sz="1800" b="0" i="0" smtClean="0">
                        <a:latin typeface="Cambria Math" panose="02040503050406030204" pitchFamily="18" charset="0"/>
                      </a:rPr>
                      <m:t>.</m:t>
                    </m:r>
                  </m:oMath>
                </a14:m>
                <a:endParaRPr lang="ru-RU" altLang="en-US" sz="1800" dirty="0">
                  <a:latin typeface="+mj-lt"/>
                </a:endParaRPr>
              </a:p>
              <a:p>
                <a:r>
                  <a:rPr lang="ru-RU" altLang="en-US" sz="1800" dirty="0">
                    <a:latin typeface="+mj-lt"/>
                  </a:rPr>
                  <a:t>Уравнения движения,  описывающие положение материальной точки, можно записать в</a:t>
                </a:r>
                <a:r>
                  <a:rPr lang="de-DE" altLang="en-US" sz="1800" dirty="0">
                    <a:latin typeface="+mj-lt"/>
                  </a:rPr>
                  <a:t> </a:t>
                </a:r>
                <a:r>
                  <a:rPr lang="ru-RU" altLang="en-US" sz="1800" dirty="0">
                    <a:latin typeface="+mj-lt"/>
                  </a:rPr>
                  <a:t>векторном виде</a:t>
                </a:r>
                <a:r>
                  <a:rPr lang="en-US" altLang="en-US" sz="1800" dirty="0">
                    <a:latin typeface="+mj-lt"/>
                  </a:rPr>
                  <a:t>:</a:t>
                </a:r>
                <a:r>
                  <a:rPr lang="de-DE" altLang="en-US" sz="1800" dirty="0">
                    <a:latin typeface="+mj-lt"/>
                  </a:rPr>
                  <a:t> </a:t>
                </a:r>
                <a:endParaRPr lang="ru-RU" altLang="en-US" sz="1800" dirty="0">
                  <a:latin typeface="+mj-lt"/>
                </a:endParaRPr>
              </a:p>
              <a:p>
                <a:r>
                  <a:rPr lang="ru-RU" altLang="en-US" sz="1800" dirty="0">
                    <a:latin typeface="+mj-lt"/>
                  </a:rPr>
                  <a:t>     </a:t>
                </a:r>
              </a:p>
              <a:p>
                <a:endParaRPr lang="en-US" altLang="en-US" sz="1800" dirty="0">
                  <a:latin typeface="+mj-lt"/>
                </a:endParaRPr>
              </a:p>
              <a:p>
                <a:r>
                  <a:rPr lang="ru-RU" altLang="en-US" sz="1800" dirty="0">
                    <a:latin typeface="+mj-lt"/>
                  </a:rPr>
                  <a:t> или в координатной</a:t>
                </a:r>
                <a:r>
                  <a:rPr lang="de-DE" altLang="en-US" sz="1800" dirty="0">
                    <a:latin typeface="+mj-lt"/>
                  </a:rPr>
                  <a:t> </a:t>
                </a:r>
                <a:r>
                  <a:rPr lang="ru-RU" altLang="en-US" sz="1800" dirty="0">
                    <a:latin typeface="+mj-lt"/>
                  </a:rPr>
                  <a:t>форме:</a:t>
                </a:r>
                <a:endParaRPr lang="ru-RU" sz="1800" dirty="0">
                  <a:latin typeface="+mj-lt"/>
                </a:endParaRPr>
              </a:p>
            </p:txBody>
          </p:sp>
        </mc:Choice>
        <mc:Fallback xmlns="">
          <p:sp>
            <p:nvSpPr>
              <p:cNvPr id="10" name="Текст 9">
                <a:extLst>
                  <a:ext uri="{FF2B5EF4-FFF2-40B4-BE49-F238E27FC236}">
                    <a16:creationId xmlns:a16="http://schemas.microsoft.com/office/drawing/2014/main" id="{36DD1949-9CA3-FE53-49F8-818DE30015BC}"/>
                  </a:ext>
                </a:extLst>
              </p:cNvPr>
              <p:cNvSpPr>
                <a:spLocks noGrp="1" noRot="1" noChangeAspect="1" noMove="1" noResize="1" noEditPoints="1" noAdjustHandles="1" noChangeArrowheads="1" noChangeShapeType="1" noTextEdit="1"/>
              </p:cNvSpPr>
              <p:nvPr>
                <p:ph type="body" sz="quarter" idx="17"/>
              </p:nvPr>
            </p:nvSpPr>
            <p:spPr>
              <a:xfrm>
                <a:off x="359994" y="1252912"/>
                <a:ext cx="11468836" cy="5261470"/>
              </a:xfrm>
              <a:blipFill>
                <a:blip r:embed="rId4"/>
                <a:stretch>
                  <a:fillRect l="-425" t="-1159"/>
                </a:stretch>
              </a:blipFill>
            </p:spPr>
            <p:txBody>
              <a:bodyPr/>
              <a:lstStyle/>
              <a:p>
                <a:r>
                  <a:rPr lang="en-US">
                    <a:noFill/>
                  </a:rPr>
                  <a:t> </a:t>
                </a:r>
              </a:p>
            </p:txBody>
          </p:sp>
        </mc:Fallback>
      </mc:AlternateContent>
      <p:sp>
        <p:nvSpPr>
          <p:cNvPr id="12" name="Текст 11">
            <a:extLst>
              <a:ext uri="{FF2B5EF4-FFF2-40B4-BE49-F238E27FC236}">
                <a16:creationId xmlns:a16="http://schemas.microsoft.com/office/drawing/2014/main" id="{5462D9E6-7695-A93E-D7AB-B93901A698CA}"/>
              </a:ext>
            </a:extLst>
          </p:cNvPr>
          <p:cNvSpPr>
            <a:spLocks noGrp="1"/>
          </p:cNvSpPr>
          <p:nvPr>
            <p:ph type="body" sz="quarter" idx="19"/>
          </p:nvPr>
        </p:nvSpPr>
        <p:spPr/>
        <p:txBody>
          <a:bodyPr/>
          <a:lstStyle/>
          <a:p>
            <a:r>
              <a:rPr lang="ru-RU" dirty="0"/>
              <a:t>Кинематика</a:t>
            </a:r>
          </a:p>
        </p:txBody>
      </p:sp>
      <p:graphicFrame>
        <p:nvGraphicFramePr>
          <p:cNvPr id="2" name="Object 1">
            <a:extLst>
              <a:ext uri="{FF2B5EF4-FFF2-40B4-BE49-F238E27FC236}">
                <a16:creationId xmlns:a16="http://schemas.microsoft.com/office/drawing/2014/main" id="{74074384-835A-4D62-AB4C-D3216E59D735}"/>
              </a:ext>
            </a:extLst>
          </p:cNvPr>
          <p:cNvGraphicFramePr>
            <a:graphicFrameLocks noChangeAspect="1"/>
          </p:cNvGraphicFramePr>
          <p:nvPr>
            <p:extLst>
              <p:ext uri="{D42A27DB-BD31-4B8C-83A1-F6EECF244321}">
                <p14:modId xmlns:p14="http://schemas.microsoft.com/office/powerpoint/2010/main" val="3356883915"/>
              </p:ext>
            </p:extLst>
          </p:nvPr>
        </p:nvGraphicFramePr>
        <p:xfrm>
          <a:off x="3565573" y="3271398"/>
          <a:ext cx="1383758" cy="491598"/>
        </p:xfrm>
        <a:graphic>
          <a:graphicData uri="http://schemas.openxmlformats.org/presentationml/2006/ole">
            <mc:AlternateContent xmlns:mc="http://schemas.openxmlformats.org/markup-compatibility/2006">
              <mc:Choice xmlns:v="urn:schemas-microsoft-com:vml" Requires="v">
                <p:oleObj spid="_x0000_s3222" name="Equation" r:id="rId5" imgW="965160" imgH="342720" progId="Equation.DSMT4">
                  <p:embed/>
                </p:oleObj>
              </mc:Choice>
              <mc:Fallback>
                <p:oleObj name="Equation" r:id="rId5" imgW="965160" imgH="342720" progId="Equation.DSMT4">
                  <p:embed/>
                  <p:pic>
                    <p:nvPicPr>
                      <p:cNvPr id="0" name=""/>
                      <p:cNvPicPr/>
                      <p:nvPr/>
                    </p:nvPicPr>
                    <p:blipFill>
                      <a:blip r:embed="rId6"/>
                      <a:stretch>
                        <a:fillRect/>
                      </a:stretch>
                    </p:blipFill>
                    <p:spPr>
                      <a:xfrm>
                        <a:off x="3565573" y="3271398"/>
                        <a:ext cx="1383758" cy="491598"/>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EFF9CAB9-42CA-4F96-8F2E-9B13783136EA}"/>
              </a:ext>
            </a:extLst>
          </p:cNvPr>
          <p:cNvGraphicFramePr>
            <a:graphicFrameLocks noChangeAspect="1"/>
          </p:cNvGraphicFramePr>
          <p:nvPr>
            <p:extLst>
              <p:ext uri="{D42A27DB-BD31-4B8C-83A1-F6EECF244321}">
                <p14:modId xmlns:p14="http://schemas.microsoft.com/office/powerpoint/2010/main" val="1074786191"/>
              </p:ext>
            </p:extLst>
          </p:nvPr>
        </p:nvGraphicFramePr>
        <p:xfrm>
          <a:off x="3278841" y="4514712"/>
          <a:ext cx="1515581" cy="1746213"/>
        </p:xfrm>
        <a:graphic>
          <a:graphicData uri="http://schemas.openxmlformats.org/presentationml/2006/ole">
            <mc:AlternateContent xmlns:mc="http://schemas.openxmlformats.org/markup-compatibility/2006">
              <mc:Choice xmlns:v="urn:schemas-microsoft-com:vml" Requires="v">
                <p:oleObj spid="_x0000_s3223" name="Equation" r:id="rId7" imgW="1168200" imgH="1346040" progId="Equation.DSMT4">
                  <p:embed/>
                </p:oleObj>
              </mc:Choice>
              <mc:Fallback>
                <p:oleObj name="Equation" r:id="rId7" imgW="1168200" imgH="1346040" progId="Equation.DSMT4">
                  <p:embed/>
                  <p:pic>
                    <p:nvPicPr>
                      <p:cNvPr id="0" name=""/>
                      <p:cNvPicPr/>
                      <p:nvPr/>
                    </p:nvPicPr>
                    <p:blipFill>
                      <a:blip r:embed="rId8"/>
                      <a:stretch>
                        <a:fillRect/>
                      </a:stretch>
                    </p:blipFill>
                    <p:spPr>
                      <a:xfrm>
                        <a:off x="3278841" y="4514712"/>
                        <a:ext cx="1515581" cy="1746213"/>
                      </a:xfrm>
                      <a:prstGeom prst="rect">
                        <a:avLst/>
                      </a:prstGeom>
                    </p:spPr>
                  </p:pic>
                </p:oleObj>
              </mc:Fallback>
            </mc:AlternateContent>
          </a:graphicData>
        </a:graphic>
      </p:graphicFrame>
      <p:sp>
        <p:nvSpPr>
          <p:cNvPr id="13" name="Line 5">
            <a:extLst>
              <a:ext uri="{FF2B5EF4-FFF2-40B4-BE49-F238E27FC236}">
                <a16:creationId xmlns:a16="http://schemas.microsoft.com/office/drawing/2014/main" id="{BE8F1485-7E81-4E88-B6CF-024DDAFF3790}"/>
              </a:ext>
            </a:extLst>
          </p:cNvPr>
          <p:cNvSpPr>
            <a:spLocks noChangeShapeType="1"/>
          </p:cNvSpPr>
          <p:nvPr/>
        </p:nvSpPr>
        <p:spPr bwMode="auto">
          <a:xfrm flipH="1">
            <a:off x="7929680" y="5995020"/>
            <a:ext cx="648935" cy="637456"/>
          </a:xfrm>
          <a:prstGeom prst="line">
            <a:avLst/>
          </a:prstGeom>
          <a:noFill/>
          <a:ln w="2857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4" name="Line 6">
            <a:extLst>
              <a:ext uri="{FF2B5EF4-FFF2-40B4-BE49-F238E27FC236}">
                <a16:creationId xmlns:a16="http://schemas.microsoft.com/office/drawing/2014/main" id="{5D390500-E6EB-46FC-980C-4C356C0F8C8C}"/>
              </a:ext>
            </a:extLst>
          </p:cNvPr>
          <p:cNvSpPr>
            <a:spLocks noChangeShapeType="1"/>
          </p:cNvSpPr>
          <p:nvPr/>
        </p:nvSpPr>
        <p:spPr bwMode="auto">
          <a:xfrm>
            <a:off x="8578617" y="5995020"/>
            <a:ext cx="2665413" cy="0"/>
          </a:xfrm>
          <a:prstGeom prst="line">
            <a:avLst/>
          </a:prstGeom>
          <a:noFill/>
          <a:ln w="2857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5" name="Line 7">
            <a:extLst>
              <a:ext uri="{FF2B5EF4-FFF2-40B4-BE49-F238E27FC236}">
                <a16:creationId xmlns:a16="http://schemas.microsoft.com/office/drawing/2014/main" id="{0F9E68BE-56D2-4455-BF1C-0F89F9385F6B}"/>
              </a:ext>
            </a:extLst>
          </p:cNvPr>
          <p:cNvSpPr>
            <a:spLocks noChangeShapeType="1"/>
          </p:cNvSpPr>
          <p:nvPr/>
        </p:nvSpPr>
        <p:spPr bwMode="auto">
          <a:xfrm flipV="1">
            <a:off x="8578616" y="3762996"/>
            <a:ext cx="0" cy="2232025"/>
          </a:xfrm>
          <a:prstGeom prst="line">
            <a:avLst/>
          </a:prstGeom>
          <a:noFill/>
          <a:ln w="2857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6" name="Line 8">
            <a:extLst>
              <a:ext uri="{FF2B5EF4-FFF2-40B4-BE49-F238E27FC236}">
                <a16:creationId xmlns:a16="http://schemas.microsoft.com/office/drawing/2014/main" id="{4F7BEDDA-EAFF-462E-8500-7DA29E19D31F}"/>
              </a:ext>
            </a:extLst>
          </p:cNvPr>
          <p:cNvSpPr>
            <a:spLocks noChangeShapeType="1"/>
          </p:cNvSpPr>
          <p:nvPr/>
        </p:nvSpPr>
        <p:spPr bwMode="auto">
          <a:xfrm flipV="1">
            <a:off x="8578617" y="4483720"/>
            <a:ext cx="576263" cy="1511300"/>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Text Box 9">
            <a:extLst>
              <a:ext uri="{FF2B5EF4-FFF2-40B4-BE49-F238E27FC236}">
                <a16:creationId xmlns:a16="http://schemas.microsoft.com/office/drawing/2014/main" id="{2F413ED6-2847-489A-A048-21F6232162AC}"/>
              </a:ext>
            </a:extLst>
          </p:cNvPr>
          <p:cNvSpPr txBox="1">
            <a:spLocks noChangeArrowheads="1"/>
          </p:cNvSpPr>
          <p:nvPr/>
        </p:nvSpPr>
        <p:spPr bwMode="auto">
          <a:xfrm>
            <a:off x="7508991" y="6372921"/>
            <a:ext cx="4206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en-US" sz="2800" b="1" i="1" dirty="0">
                <a:solidFill>
                  <a:srgbClr val="000000"/>
                </a:solidFill>
                <a:latin typeface="Times New Roman" panose="02020603050405020304" pitchFamily="18" charset="0"/>
              </a:rPr>
              <a:t>X</a:t>
            </a:r>
            <a:endParaRPr kumimoji="1" lang="ru-RU" altLang="en-US" sz="2800" b="1" i="1" dirty="0">
              <a:solidFill>
                <a:srgbClr val="000000"/>
              </a:solidFill>
              <a:latin typeface="Times New Roman" panose="02020603050405020304" pitchFamily="18" charset="0"/>
            </a:endParaRPr>
          </a:p>
        </p:txBody>
      </p:sp>
      <p:sp>
        <p:nvSpPr>
          <p:cNvPr id="18" name="Text Box 10">
            <a:extLst>
              <a:ext uri="{FF2B5EF4-FFF2-40B4-BE49-F238E27FC236}">
                <a16:creationId xmlns:a16="http://schemas.microsoft.com/office/drawing/2014/main" id="{BC2FEE8D-3BFD-4010-B3BE-02F622146FAF}"/>
              </a:ext>
            </a:extLst>
          </p:cNvPr>
          <p:cNvSpPr txBox="1">
            <a:spLocks noChangeArrowheads="1"/>
          </p:cNvSpPr>
          <p:nvPr/>
        </p:nvSpPr>
        <p:spPr bwMode="auto">
          <a:xfrm>
            <a:off x="11244030" y="5707683"/>
            <a:ext cx="4016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en-US" sz="2800" b="1" i="1">
                <a:solidFill>
                  <a:srgbClr val="000000"/>
                </a:solidFill>
                <a:latin typeface="Times New Roman" panose="02020603050405020304" pitchFamily="18" charset="0"/>
              </a:rPr>
              <a:t>Y</a:t>
            </a:r>
            <a:endParaRPr kumimoji="1" lang="ru-RU" altLang="en-US" sz="2800" b="1" i="1">
              <a:solidFill>
                <a:srgbClr val="000000"/>
              </a:solidFill>
              <a:latin typeface="Times New Roman" panose="02020603050405020304" pitchFamily="18" charset="0"/>
            </a:endParaRPr>
          </a:p>
        </p:txBody>
      </p:sp>
      <p:sp>
        <p:nvSpPr>
          <p:cNvPr id="19" name="Text Box 11">
            <a:extLst>
              <a:ext uri="{FF2B5EF4-FFF2-40B4-BE49-F238E27FC236}">
                <a16:creationId xmlns:a16="http://schemas.microsoft.com/office/drawing/2014/main" id="{A4E1052E-DD7F-477B-B449-EF38CE9B6607}"/>
              </a:ext>
            </a:extLst>
          </p:cNvPr>
          <p:cNvSpPr txBox="1">
            <a:spLocks noChangeArrowheads="1"/>
          </p:cNvSpPr>
          <p:nvPr/>
        </p:nvSpPr>
        <p:spPr bwMode="auto">
          <a:xfrm>
            <a:off x="8377797" y="3281191"/>
            <a:ext cx="401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en-US" altLang="en-US" sz="2800" b="1" i="1" dirty="0">
                <a:solidFill>
                  <a:srgbClr val="000000"/>
                </a:solidFill>
                <a:latin typeface="Times New Roman" panose="02020603050405020304" pitchFamily="18" charset="0"/>
              </a:rPr>
              <a:t>Z</a:t>
            </a:r>
            <a:endParaRPr kumimoji="1" lang="ru-RU" altLang="en-US" sz="2800" b="1" i="1" dirty="0">
              <a:solidFill>
                <a:srgbClr val="000000"/>
              </a:solidFill>
              <a:latin typeface="Times New Roman" panose="02020603050405020304" pitchFamily="18" charset="0"/>
            </a:endParaRPr>
          </a:p>
        </p:txBody>
      </p:sp>
      <p:pic>
        <p:nvPicPr>
          <p:cNvPr id="20" name="Picture 12" descr="BD14868_">
            <a:extLst>
              <a:ext uri="{FF2B5EF4-FFF2-40B4-BE49-F238E27FC236}">
                <a16:creationId xmlns:a16="http://schemas.microsoft.com/office/drawing/2014/main" id="{7FDB93CB-E619-4DF8-B941-F271B2A82A1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83441" y="4267820"/>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14">
            <a:extLst>
              <a:ext uri="{FF2B5EF4-FFF2-40B4-BE49-F238E27FC236}">
                <a16:creationId xmlns:a16="http://schemas.microsoft.com/office/drawing/2014/main" id="{08A8689A-B8DA-4D76-82AA-EE6E312E8850}"/>
              </a:ext>
            </a:extLst>
          </p:cNvPr>
          <p:cNvSpPr>
            <a:spLocks noChangeShapeType="1"/>
          </p:cNvSpPr>
          <p:nvPr/>
        </p:nvSpPr>
        <p:spPr bwMode="auto">
          <a:xfrm flipV="1">
            <a:off x="8578617" y="4410696"/>
            <a:ext cx="1655763" cy="1584325"/>
          </a:xfrm>
          <a:prstGeom prst="line">
            <a:avLst/>
          </a:prstGeom>
          <a:noFill/>
          <a:ln w="571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Text Box 15">
            <a:extLst>
              <a:ext uri="{FF2B5EF4-FFF2-40B4-BE49-F238E27FC236}">
                <a16:creationId xmlns:a16="http://schemas.microsoft.com/office/drawing/2014/main" id="{666E6FB4-30CF-4A1C-8AEE-AC5CECDCEB5B}"/>
              </a:ext>
            </a:extLst>
          </p:cNvPr>
          <p:cNvSpPr txBox="1">
            <a:spLocks noChangeArrowheads="1"/>
          </p:cNvSpPr>
          <p:nvPr/>
        </p:nvSpPr>
        <p:spPr bwMode="auto">
          <a:xfrm>
            <a:off x="8938979" y="3813795"/>
            <a:ext cx="557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en-US" sz="2400" b="1" i="1">
                <a:solidFill>
                  <a:srgbClr val="000000"/>
                </a:solidFill>
                <a:latin typeface="Times New Roman" panose="02020603050405020304" pitchFamily="18" charset="0"/>
              </a:rPr>
              <a:t>М</a:t>
            </a:r>
            <a:r>
              <a:rPr kumimoji="1" lang="en-US" altLang="en-US" sz="2400" b="1" i="1" baseline="-25000">
                <a:solidFill>
                  <a:srgbClr val="000000"/>
                </a:solidFill>
                <a:latin typeface="Times New Roman" panose="02020603050405020304" pitchFamily="18" charset="0"/>
              </a:rPr>
              <a:t>1</a:t>
            </a:r>
            <a:endParaRPr kumimoji="1" lang="ru-RU" altLang="en-US" sz="2400" b="1" i="1" baseline="-25000">
              <a:solidFill>
                <a:srgbClr val="000000"/>
              </a:solidFill>
              <a:latin typeface="Times New Roman" panose="02020603050405020304" pitchFamily="18" charset="0"/>
            </a:endParaRPr>
          </a:p>
        </p:txBody>
      </p:sp>
      <p:sp>
        <p:nvSpPr>
          <p:cNvPr id="24" name="Text Box 16">
            <a:extLst>
              <a:ext uri="{FF2B5EF4-FFF2-40B4-BE49-F238E27FC236}">
                <a16:creationId xmlns:a16="http://schemas.microsoft.com/office/drawing/2014/main" id="{21615A54-8E24-43F5-8CA1-D7E9BB1FFC46}"/>
              </a:ext>
            </a:extLst>
          </p:cNvPr>
          <p:cNvSpPr txBox="1">
            <a:spLocks noChangeArrowheads="1"/>
          </p:cNvSpPr>
          <p:nvPr/>
        </p:nvSpPr>
        <p:spPr bwMode="auto">
          <a:xfrm>
            <a:off x="9927992" y="3783633"/>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kumimoji="1" lang="ru-RU" altLang="en-US" sz="2400" b="1" i="1">
                <a:solidFill>
                  <a:srgbClr val="000000"/>
                </a:solidFill>
                <a:latin typeface="Times New Roman" panose="02020603050405020304" pitchFamily="18" charset="0"/>
              </a:rPr>
              <a:t>М</a:t>
            </a:r>
            <a:r>
              <a:rPr kumimoji="1" lang="en-US" altLang="en-US" sz="2400" b="1" i="1" baseline="-25000">
                <a:solidFill>
                  <a:srgbClr val="000000"/>
                </a:solidFill>
                <a:latin typeface="Times New Roman" panose="02020603050405020304" pitchFamily="18" charset="0"/>
              </a:rPr>
              <a:t>2</a:t>
            </a:r>
            <a:endParaRPr kumimoji="1" lang="ru-RU" altLang="en-US" sz="2400" b="1" i="1" baseline="-25000">
              <a:solidFill>
                <a:srgbClr val="000000"/>
              </a:solidFill>
              <a:latin typeface="Times New Roman" panose="02020603050405020304" pitchFamily="18" charset="0"/>
            </a:endParaRPr>
          </a:p>
        </p:txBody>
      </p:sp>
      <p:pic>
        <p:nvPicPr>
          <p:cNvPr id="25" name="Picture 17" descr="BD14753_">
            <a:extLst>
              <a:ext uri="{FF2B5EF4-FFF2-40B4-BE49-F238E27FC236}">
                <a16:creationId xmlns:a16="http://schemas.microsoft.com/office/drawing/2014/main" id="{131B6A4A-92C7-4715-BF5E-17426968DC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91505" y="4267820"/>
            <a:ext cx="230187"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8" descr="BD14753_">
            <a:extLst>
              <a:ext uri="{FF2B5EF4-FFF2-40B4-BE49-F238E27FC236}">
                <a16:creationId xmlns:a16="http://schemas.microsoft.com/office/drawing/2014/main" id="{81BA3F98-AC46-41D4-B030-F8A786EA229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83441" y="4267820"/>
            <a:ext cx="230188"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20">
            <a:extLst>
              <a:ext uri="{FF2B5EF4-FFF2-40B4-BE49-F238E27FC236}">
                <a16:creationId xmlns:a16="http://schemas.microsoft.com/office/drawing/2014/main" id="{8CAF7076-7515-411C-BF57-C749CEB87766}"/>
              </a:ext>
            </a:extLst>
          </p:cNvPr>
          <p:cNvSpPr>
            <a:spLocks noChangeArrowheads="1"/>
          </p:cNvSpPr>
          <p:nvPr/>
        </p:nvSpPr>
        <p:spPr bwMode="auto">
          <a:xfrm>
            <a:off x="9686692" y="491552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de-DE" altLang="en-US" sz="2400" b="1">
                <a:solidFill>
                  <a:srgbClr val="000000"/>
                </a:solidFill>
                <a:latin typeface="Times New Roman" panose="02020603050405020304" pitchFamily="18" charset="0"/>
              </a:rPr>
              <a:t>r</a:t>
            </a:r>
            <a:r>
              <a:rPr lang="de-DE" altLang="en-US" sz="2400">
                <a:solidFill>
                  <a:srgbClr val="000000"/>
                </a:solidFill>
                <a:latin typeface="Times New Roman" panose="02020603050405020304" pitchFamily="18" charset="0"/>
              </a:rPr>
              <a:t>(</a:t>
            </a:r>
            <a:r>
              <a:rPr lang="de-DE" altLang="en-US" sz="2400" i="1">
                <a:solidFill>
                  <a:srgbClr val="000000"/>
                </a:solidFill>
                <a:latin typeface="Times New Roman" panose="02020603050405020304" pitchFamily="18" charset="0"/>
              </a:rPr>
              <a:t>t</a:t>
            </a:r>
            <a:r>
              <a:rPr lang="ru-RU" altLang="en-US" sz="2400" i="1" baseline="-25000">
                <a:solidFill>
                  <a:srgbClr val="000000"/>
                </a:solidFill>
                <a:latin typeface="Times New Roman" panose="02020603050405020304" pitchFamily="18" charset="0"/>
              </a:rPr>
              <a:t>2</a:t>
            </a:r>
            <a:r>
              <a:rPr lang="de-DE" altLang="en-US" sz="2400">
                <a:solidFill>
                  <a:srgbClr val="000000"/>
                </a:solidFill>
                <a:latin typeface="Times New Roman" panose="02020603050405020304" pitchFamily="18" charset="0"/>
              </a:rPr>
              <a:t>)</a:t>
            </a:r>
            <a:endParaRPr lang="ru-RU" altLang="en-US" sz="2400">
              <a:solidFill>
                <a:srgbClr val="000000"/>
              </a:solidFill>
              <a:latin typeface="Times New Roman" panose="02020603050405020304" pitchFamily="18" charset="0"/>
            </a:endParaRPr>
          </a:p>
        </p:txBody>
      </p:sp>
      <p:sp>
        <p:nvSpPr>
          <p:cNvPr id="28" name="Text Box 23">
            <a:extLst>
              <a:ext uri="{FF2B5EF4-FFF2-40B4-BE49-F238E27FC236}">
                <a16:creationId xmlns:a16="http://schemas.microsoft.com/office/drawing/2014/main" id="{8946CA3D-A794-46A3-B451-10AF4342ABBB}"/>
              </a:ext>
            </a:extLst>
          </p:cNvPr>
          <p:cNvSpPr txBox="1">
            <a:spLocks noChangeArrowheads="1"/>
          </p:cNvSpPr>
          <p:nvPr/>
        </p:nvSpPr>
        <p:spPr bwMode="auto">
          <a:xfrm>
            <a:off x="10451867" y="419479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i="1">
                <a:solidFill>
                  <a:srgbClr val="000000"/>
                </a:solidFill>
                <a:latin typeface="Times New Roman" panose="02020603050405020304" pitchFamily="18" charset="0"/>
              </a:rPr>
              <a:t>L</a:t>
            </a:r>
            <a:endParaRPr lang="ru-RU" altLang="en-US" sz="2400" i="1">
              <a:solidFill>
                <a:srgbClr val="000000"/>
              </a:solidFill>
              <a:latin typeface="Times New Roman" panose="02020603050405020304" pitchFamily="18" charset="0"/>
            </a:endParaRPr>
          </a:p>
        </p:txBody>
      </p:sp>
      <p:sp>
        <p:nvSpPr>
          <p:cNvPr id="29" name="Text Box 24">
            <a:extLst>
              <a:ext uri="{FF2B5EF4-FFF2-40B4-BE49-F238E27FC236}">
                <a16:creationId xmlns:a16="http://schemas.microsoft.com/office/drawing/2014/main" id="{3417197B-8CAE-46DE-B7BB-E04555B4367B}"/>
              </a:ext>
            </a:extLst>
          </p:cNvPr>
          <p:cNvSpPr txBox="1">
            <a:spLocks noChangeArrowheads="1"/>
          </p:cNvSpPr>
          <p:nvPr/>
        </p:nvSpPr>
        <p:spPr bwMode="auto">
          <a:xfrm>
            <a:off x="8137292" y="5636246"/>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a:solidFill>
                  <a:srgbClr val="000000"/>
                </a:solidFill>
                <a:latin typeface="Times New Roman" panose="02020603050405020304" pitchFamily="18" charset="0"/>
              </a:rPr>
              <a:t>O</a:t>
            </a:r>
            <a:endParaRPr lang="ru-RU" altLang="en-US" sz="2800" b="1" i="1">
              <a:solidFill>
                <a:srgbClr val="000000"/>
              </a:solidFill>
              <a:latin typeface="Times New Roman" panose="02020603050405020304" pitchFamily="18" charset="0"/>
            </a:endParaRPr>
          </a:p>
        </p:txBody>
      </p:sp>
      <p:sp>
        <p:nvSpPr>
          <p:cNvPr id="30" name="Arc 22">
            <a:extLst>
              <a:ext uri="{FF2B5EF4-FFF2-40B4-BE49-F238E27FC236}">
                <a16:creationId xmlns:a16="http://schemas.microsoft.com/office/drawing/2014/main" id="{55335E7C-7811-48E9-9076-72E7545CE10D}"/>
              </a:ext>
            </a:extLst>
          </p:cNvPr>
          <p:cNvSpPr>
            <a:spLocks/>
          </p:cNvSpPr>
          <p:nvPr/>
        </p:nvSpPr>
        <p:spPr bwMode="auto">
          <a:xfrm rot="2610311" flipV="1">
            <a:off x="9427959" y="3332145"/>
            <a:ext cx="971828" cy="1546709"/>
          </a:xfrm>
          <a:custGeom>
            <a:avLst/>
            <a:gdLst>
              <a:gd name="T0" fmla="*/ 2147483647 w 20174"/>
              <a:gd name="T1" fmla="*/ 0 h 21451"/>
              <a:gd name="T2" fmla="*/ 2147483647 w 20174"/>
              <a:gd name="T3" fmla="*/ 2147483647 h 21451"/>
              <a:gd name="T4" fmla="*/ 0 w 20174"/>
              <a:gd name="T5" fmla="*/ 2147483647 h 21451"/>
              <a:gd name="T6" fmla="*/ 0 60000 65536"/>
              <a:gd name="T7" fmla="*/ 0 60000 65536"/>
              <a:gd name="T8" fmla="*/ 0 60000 65536"/>
              <a:gd name="T9" fmla="*/ 0 w 20174"/>
              <a:gd name="T10" fmla="*/ 0 h 21451"/>
              <a:gd name="T11" fmla="*/ 20174 w 20174"/>
              <a:gd name="T12" fmla="*/ 21451 h 21451"/>
            </a:gdLst>
            <a:ahLst/>
            <a:cxnLst>
              <a:cxn ang="T6">
                <a:pos x="T0" y="T1"/>
              </a:cxn>
              <a:cxn ang="T7">
                <a:pos x="T2" y="T3"/>
              </a:cxn>
              <a:cxn ang="T8">
                <a:pos x="T4" y="T5"/>
              </a:cxn>
            </a:cxnLst>
            <a:rect l="T9" t="T10" r="T11" b="T12"/>
            <a:pathLst>
              <a:path w="20174" h="21451" fill="none" extrusionOk="0">
                <a:moveTo>
                  <a:pt x="2536" y="0"/>
                </a:moveTo>
                <a:cubicBezTo>
                  <a:pt x="10511" y="943"/>
                  <a:pt x="17304" y="6232"/>
                  <a:pt x="20173" y="13732"/>
                </a:cubicBezTo>
              </a:path>
              <a:path w="20174" h="21451" stroke="0" extrusionOk="0">
                <a:moveTo>
                  <a:pt x="2536" y="0"/>
                </a:moveTo>
                <a:cubicBezTo>
                  <a:pt x="10511" y="943"/>
                  <a:pt x="17304" y="6232"/>
                  <a:pt x="20173" y="13732"/>
                </a:cubicBezTo>
                <a:lnTo>
                  <a:pt x="0" y="21451"/>
                </a:lnTo>
                <a:close/>
              </a:path>
            </a:pathLst>
          </a:custGeom>
          <a:noFill/>
          <a:ln w="3810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1" name="Rectangle 20">
            <a:extLst>
              <a:ext uri="{FF2B5EF4-FFF2-40B4-BE49-F238E27FC236}">
                <a16:creationId xmlns:a16="http://schemas.microsoft.com/office/drawing/2014/main" id="{3662AC70-9E93-4DF9-917B-2A8433439B69}"/>
              </a:ext>
            </a:extLst>
          </p:cNvPr>
          <p:cNvSpPr>
            <a:spLocks noChangeArrowheads="1"/>
          </p:cNvSpPr>
          <p:nvPr/>
        </p:nvSpPr>
        <p:spPr bwMode="auto">
          <a:xfrm>
            <a:off x="9065980" y="4547219"/>
            <a:ext cx="7136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de-DE" altLang="en-US" sz="2400" b="1" dirty="0">
                <a:solidFill>
                  <a:srgbClr val="000000"/>
                </a:solidFill>
                <a:latin typeface="Times New Roman" panose="02020603050405020304" pitchFamily="18" charset="0"/>
              </a:rPr>
              <a:t>r</a:t>
            </a:r>
            <a:r>
              <a:rPr lang="de-DE" altLang="en-US" sz="2400" dirty="0">
                <a:solidFill>
                  <a:srgbClr val="000000"/>
                </a:solidFill>
                <a:latin typeface="Times New Roman" panose="02020603050405020304" pitchFamily="18" charset="0"/>
              </a:rPr>
              <a:t>(</a:t>
            </a:r>
            <a:r>
              <a:rPr lang="de-DE" altLang="en-US" sz="2400" i="1" dirty="0">
                <a:solidFill>
                  <a:srgbClr val="000000"/>
                </a:solidFill>
                <a:latin typeface="Times New Roman" panose="02020603050405020304" pitchFamily="18" charset="0"/>
              </a:rPr>
              <a:t>t</a:t>
            </a:r>
            <a:r>
              <a:rPr lang="en-US" altLang="en-US" sz="2400" i="1" baseline="-25000" dirty="0">
                <a:solidFill>
                  <a:srgbClr val="000000"/>
                </a:solidFill>
                <a:latin typeface="Times New Roman" panose="02020603050405020304" pitchFamily="18" charset="0"/>
              </a:rPr>
              <a:t>1</a:t>
            </a:r>
            <a:r>
              <a:rPr lang="de-DE" altLang="en-US" sz="2400" dirty="0">
                <a:solidFill>
                  <a:srgbClr val="000000"/>
                </a:solidFill>
                <a:latin typeface="Times New Roman" panose="02020603050405020304" pitchFamily="18" charset="0"/>
              </a:rPr>
              <a:t>)</a:t>
            </a:r>
            <a:endParaRPr lang="ru-RU" altLang="en-US" sz="2400" dirty="0">
              <a:solidFill>
                <a:srgbClr val="000000"/>
              </a:solidFill>
              <a:latin typeface="Times New Roman" panose="02020603050405020304" pitchFamily="18" charset="0"/>
            </a:endParaRPr>
          </a:p>
        </p:txBody>
      </p:sp>
      <p:sp>
        <p:nvSpPr>
          <p:cNvPr id="32" name="TextBox 31">
            <a:extLst>
              <a:ext uri="{FF2B5EF4-FFF2-40B4-BE49-F238E27FC236}">
                <a16:creationId xmlns:a16="http://schemas.microsoft.com/office/drawing/2014/main" id="{E7E654AA-8EB0-40DD-85B9-C30535DF3D2A}"/>
              </a:ext>
            </a:extLst>
          </p:cNvPr>
          <p:cNvSpPr txBox="1"/>
          <p:nvPr/>
        </p:nvSpPr>
        <p:spPr>
          <a:xfrm>
            <a:off x="7793983" y="4893298"/>
            <a:ext cx="659780" cy="461665"/>
          </a:xfrm>
          <a:prstGeom prst="rect">
            <a:avLst/>
          </a:prstGeom>
          <a:noFill/>
        </p:spPr>
        <p:txBody>
          <a:bodyPr wrap="square">
            <a:spAutoFit/>
          </a:bodyPr>
          <a:lstStyle/>
          <a:p>
            <a:r>
              <a:rPr lang="en-US" sz="2400" b="1" dirty="0"/>
              <a:t>K</a:t>
            </a:r>
            <a:endParaRPr lang="en-US" dirty="0"/>
          </a:p>
        </p:txBody>
      </p:sp>
      <p:sp>
        <p:nvSpPr>
          <p:cNvPr id="34" name="TextBox 33">
            <a:extLst>
              <a:ext uri="{FF2B5EF4-FFF2-40B4-BE49-F238E27FC236}">
                <a16:creationId xmlns:a16="http://schemas.microsoft.com/office/drawing/2014/main" id="{3669CE5C-6B11-4258-8800-4CE04E05949A}"/>
              </a:ext>
            </a:extLst>
          </p:cNvPr>
          <p:cNvSpPr txBox="1"/>
          <p:nvPr/>
        </p:nvSpPr>
        <p:spPr>
          <a:xfrm>
            <a:off x="5232137" y="5144120"/>
            <a:ext cx="563137" cy="369332"/>
          </a:xfrm>
          <a:prstGeom prst="rect">
            <a:avLst/>
          </a:prstGeom>
          <a:noFill/>
        </p:spPr>
        <p:txBody>
          <a:bodyPr wrap="square">
            <a:spAutoFit/>
          </a:bodyPr>
          <a:lstStyle/>
          <a:p>
            <a:r>
              <a:rPr lang="ru-RU" altLang="en-US" b="1" dirty="0">
                <a:cs typeface="Times New Roman" panose="02020603050405020304" pitchFamily="18" charset="0"/>
              </a:rPr>
              <a:t>(1</a:t>
            </a:r>
            <a:r>
              <a:rPr lang="ru-RU" b="1" dirty="0">
                <a:cs typeface="Times New Roman" panose="02020603050405020304" pitchFamily="18" charset="0"/>
              </a:rPr>
              <a:t>)</a:t>
            </a:r>
            <a:endParaRPr lang="en-US" dirty="0"/>
          </a:p>
        </p:txBody>
      </p:sp>
    </p:spTree>
    <p:extLst>
      <p:ext uri="{BB962C8B-B14F-4D97-AF65-F5344CB8AC3E}">
        <p14:creationId xmlns:p14="http://schemas.microsoft.com/office/powerpoint/2010/main" val="381522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52"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Scale>
                                      <p:cBhvr>
                                        <p:cTn id="11"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2" dur="1000" decel="50000" fill="hold">
                                          <p:stCondLst>
                                            <p:cond delay="0"/>
                                          </p:stCondLst>
                                        </p:cTn>
                                        <p:tgtEl>
                                          <p:spTgt spid="19"/>
                                        </p:tgtEl>
                                        <p:attrNameLst>
                                          <p:attrName>ppt_x</p:attrName>
                                          <p:attrName>ppt_y</p:attrName>
                                        </p:attrNameLst>
                                      </p:cBhvr>
                                    </p:animMotion>
                                    <p:animEffect transition="in" filter="fade">
                                      <p:cBhvr>
                                        <p:cTn id="13" dur="1000"/>
                                        <p:tgtEl>
                                          <p:spTgt spid="19"/>
                                        </p:tgtEl>
                                      </p:cBhvr>
                                    </p:animEffect>
                                  </p:childTnLst>
                                </p:cTn>
                              </p:par>
                              <p:par>
                                <p:cTn id="14" presetID="52"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Scale>
                                      <p:cBhvr>
                                        <p:cTn id="16" dur="1000" decel="50000" fill="hold">
                                          <p:stCondLst>
                                            <p:cond delay="0"/>
                                          </p:stCondLst>
                                        </p:cTn>
                                        <p:tgtEl>
                                          <p:spTgt spid="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7" dur="1000" decel="50000" fill="hold">
                                          <p:stCondLst>
                                            <p:cond delay="0"/>
                                          </p:stCondLst>
                                        </p:cTn>
                                        <p:tgtEl>
                                          <p:spTgt spid="15"/>
                                        </p:tgtEl>
                                        <p:attrNameLst>
                                          <p:attrName>ppt_x</p:attrName>
                                          <p:attrName>ppt_y</p:attrName>
                                        </p:attrNameLst>
                                      </p:cBhvr>
                                    </p:animMotion>
                                    <p:animEffect transition="in" filter="fade">
                                      <p:cBhvr>
                                        <p:cTn id="18" dur="1000"/>
                                        <p:tgtEl>
                                          <p:spTgt spid="15"/>
                                        </p:tgtEl>
                                      </p:cBhvr>
                                    </p:animEffect>
                                  </p:childTnLst>
                                </p:cTn>
                              </p:par>
                              <p:par>
                                <p:cTn id="19" presetID="52"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Scale>
                                      <p:cBhvr>
                                        <p:cTn id="21" dur="1000" decel="50000" fill="hold">
                                          <p:stCondLst>
                                            <p:cond delay="0"/>
                                          </p:stCondLst>
                                        </p:cTn>
                                        <p:tgtEl>
                                          <p:spTgt spid="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18"/>
                                        </p:tgtEl>
                                        <p:attrNameLst>
                                          <p:attrName>ppt_x</p:attrName>
                                          <p:attrName>ppt_y</p:attrName>
                                        </p:attrNameLst>
                                      </p:cBhvr>
                                    </p:animMotion>
                                    <p:animEffect transition="in" filter="fade">
                                      <p:cBhvr>
                                        <p:cTn id="23" dur="1000"/>
                                        <p:tgtEl>
                                          <p:spTgt spid="18"/>
                                        </p:tgtEl>
                                      </p:cBhvr>
                                    </p:animEffect>
                                  </p:childTnLst>
                                </p:cTn>
                              </p:par>
                              <p:par>
                                <p:cTn id="24" presetID="52"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Scale>
                                      <p:cBhvr>
                                        <p:cTn id="26" dur="1000" decel="50000" fill="hold">
                                          <p:stCondLst>
                                            <p:cond delay="0"/>
                                          </p:stCondLst>
                                        </p:cTn>
                                        <p:tgtEl>
                                          <p:spTgt spid="2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7" dur="1000" decel="50000" fill="hold">
                                          <p:stCondLst>
                                            <p:cond delay="0"/>
                                          </p:stCondLst>
                                        </p:cTn>
                                        <p:tgtEl>
                                          <p:spTgt spid="29"/>
                                        </p:tgtEl>
                                        <p:attrNameLst>
                                          <p:attrName>ppt_x</p:attrName>
                                          <p:attrName>ppt_y</p:attrName>
                                        </p:attrNameLst>
                                      </p:cBhvr>
                                    </p:animMotion>
                                    <p:animEffect transition="in" filter="fade">
                                      <p:cBhvr>
                                        <p:cTn id="28" dur="1000"/>
                                        <p:tgtEl>
                                          <p:spTgt spid="29"/>
                                        </p:tgtEl>
                                      </p:cBhvr>
                                    </p:animEffect>
                                  </p:childTnLst>
                                </p:cTn>
                              </p:par>
                              <p:par>
                                <p:cTn id="29" presetID="52"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Scale>
                                      <p:cBhvr>
                                        <p:cTn id="31" dur="1000" decel="50000" fill="hold">
                                          <p:stCondLst>
                                            <p:cond delay="0"/>
                                          </p:stCondLst>
                                        </p:cTn>
                                        <p:tgtEl>
                                          <p:spTgt spid="1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14"/>
                                        </p:tgtEl>
                                        <p:attrNameLst>
                                          <p:attrName>ppt_x</p:attrName>
                                          <p:attrName>ppt_y</p:attrName>
                                        </p:attrNameLst>
                                      </p:cBhvr>
                                    </p:animMotion>
                                    <p:animEffect transition="in" filter="fade">
                                      <p:cBhvr>
                                        <p:cTn id="33" dur="1000"/>
                                        <p:tgtEl>
                                          <p:spTgt spid="14"/>
                                        </p:tgtEl>
                                      </p:cBhvr>
                                    </p:animEffect>
                                  </p:childTnLst>
                                </p:cTn>
                              </p:par>
                              <p:par>
                                <p:cTn id="34" presetID="52"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Scale>
                                      <p:cBhvr>
                                        <p:cTn id="36" dur="1000" decel="50000" fill="hold">
                                          <p:stCondLst>
                                            <p:cond delay="0"/>
                                          </p:stCondLst>
                                        </p:cTn>
                                        <p:tgtEl>
                                          <p:spTgt spid="1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13"/>
                                        </p:tgtEl>
                                        <p:attrNameLst>
                                          <p:attrName>ppt_x</p:attrName>
                                          <p:attrName>ppt_y</p:attrName>
                                        </p:attrNameLst>
                                      </p:cBhvr>
                                    </p:animMotion>
                                    <p:animEffect transition="in" filter="fade">
                                      <p:cBhvr>
                                        <p:cTn id="38" dur="1000"/>
                                        <p:tgtEl>
                                          <p:spTgt spid="13"/>
                                        </p:tgtEl>
                                      </p:cBhvr>
                                    </p:animEffect>
                                  </p:childTnLst>
                                </p:cTn>
                              </p:par>
                              <p:par>
                                <p:cTn id="39" presetID="52"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Scale>
                                      <p:cBhvr>
                                        <p:cTn id="41"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2" dur="1000" decel="50000" fill="hold">
                                          <p:stCondLst>
                                            <p:cond delay="0"/>
                                          </p:stCondLst>
                                        </p:cTn>
                                        <p:tgtEl>
                                          <p:spTgt spid="17"/>
                                        </p:tgtEl>
                                        <p:attrNameLst>
                                          <p:attrName>ppt_x</p:attrName>
                                          <p:attrName>ppt_y</p:attrName>
                                        </p:attrNameLst>
                                      </p:cBhvr>
                                    </p:animMotion>
                                    <p:animEffect transition="in" filter="fade">
                                      <p:cBhvr>
                                        <p:cTn id="43" dur="1000"/>
                                        <p:tgtEl>
                                          <p:spTgt spid="17"/>
                                        </p:tgtEl>
                                      </p:cBhvr>
                                    </p:animEffect>
                                  </p:childTnLst>
                                </p:cTn>
                              </p:par>
                            </p:childTnLst>
                          </p:cTn>
                        </p:par>
                        <p:par>
                          <p:cTn id="44" fill="hold">
                            <p:stCondLst>
                              <p:cond delay="1500"/>
                            </p:stCondLst>
                            <p:childTnLst>
                              <p:par>
                                <p:cTn id="45" presetID="1" presetClass="entr" presetSubtype="0"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par>
                          <p:cTn id="47" fill="hold">
                            <p:stCondLst>
                              <p:cond delay="1500"/>
                            </p:stCondLst>
                            <p:childTnLst>
                              <p:par>
                                <p:cTn id="48" presetID="37" presetClass="path" presetSubtype="0" repeatCount="indefinite" accel="50000" decel="50000" fill="hold" nodeType="afterEffect">
                                  <p:stCondLst>
                                    <p:cond delay="0"/>
                                  </p:stCondLst>
                                  <p:childTnLst>
                                    <p:animMotion origin="layout" path="M -0.07483 -0.03676 L -0.00573 0.0007 C 0.00868 0.00925 0.03038 0.01411 0.05295 0.01411 C 0.07865 0.01411 0.09931 0.00925 0.11372 0.0007 L 0.18299 -0.03676 " pathEditMode="fixed" rAng="0" ptsTypes="FffFF">
                                      <p:cBhvr>
                                        <p:cTn id="49" dur="2000" fill="hold"/>
                                        <p:tgtEl>
                                          <p:spTgt spid="20"/>
                                        </p:tgtEl>
                                        <p:attrNameLst>
                                          <p:attrName>ppt_x</p:attrName>
                                          <p:attrName>ppt_y</p:attrName>
                                        </p:attrNameLst>
                                      </p:cBhvr>
                                      <p:rCtr x="12882" y="2543"/>
                                    </p:animMotion>
                                  </p:childTnLst>
                                </p:cTn>
                              </p:par>
                            </p:childTnLst>
                          </p:cTn>
                        </p:par>
                        <p:par>
                          <p:cTn id="50" fill="hold">
                            <p:stCondLst>
                              <p:cond delay="3500"/>
                            </p:stCondLst>
                            <p:childTnLst>
                              <p:par>
                                <p:cTn id="51" presetID="53" presetClass="entr" presetSubtype="0" fill="hold" grpId="0" nodeType="after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p:cTn id="53" dur="500" fill="hold"/>
                                        <p:tgtEl>
                                          <p:spTgt spid="23"/>
                                        </p:tgtEl>
                                        <p:attrNameLst>
                                          <p:attrName>ppt_w</p:attrName>
                                        </p:attrNameLst>
                                      </p:cBhvr>
                                      <p:tavLst>
                                        <p:tav tm="0">
                                          <p:val>
                                            <p:fltVal val="0"/>
                                          </p:val>
                                        </p:tav>
                                        <p:tav tm="100000">
                                          <p:val>
                                            <p:strVal val="#ppt_w"/>
                                          </p:val>
                                        </p:tav>
                                      </p:tavLst>
                                    </p:anim>
                                    <p:anim calcmode="lin" valueType="num">
                                      <p:cBhvr>
                                        <p:cTn id="54" dur="500" fill="hold"/>
                                        <p:tgtEl>
                                          <p:spTgt spid="23"/>
                                        </p:tgtEl>
                                        <p:attrNameLst>
                                          <p:attrName>ppt_h</p:attrName>
                                        </p:attrNameLst>
                                      </p:cBhvr>
                                      <p:tavLst>
                                        <p:tav tm="0">
                                          <p:val>
                                            <p:fltVal val="0"/>
                                          </p:val>
                                        </p:tav>
                                        <p:tav tm="100000">
                                          <p:val>
                                            <p:strVal val="#ppt_h"/>
                                          </p:val>
                                        </p:tav>
                                      </p:tavLst>
                                    </p:anim>
                                    <p:animEffect transition="in" filter="fade">
                                      <p:cBhvr>
                                        <p:cTn id="55" dur="500"/>
                                        <p:tgtEl>
                                          <p:spTgt spid="23"/>
                                        </p:tgtEl>
                                      </p:cBhvr>
                                    </p:animEffect>
                                  </p:childTnLst>
                                </p:cTn>
                              </p:par>
                            </p:childTnLst>
                          </p:cTn>
                        </p:par>
                        <p:par>
                          <p:cTn id="56" fill="hold">
                            <p:stCondLst>
                              <p:cond delay="4000"/>
                            </p:stCondLst>
                            <p:childTnLst>
                              <p:par>
                                <p:cTn id="57" presetID="53" presetClass="entr" presetSubtype="0"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p:cTn id="59" dur="500" fill="hold"/>
                                        <p:tgtEl>
                                          <p:spTgt spid="26"/>
                                        </p:tgtEl>
                                        <p:attrNameLst>
                                          <p:attrName>ppt_w</p:attrName>
                                        </p:attrNameLst>
                                      </p:cBhvr>
                                      <p:tavLst>
                                        <p:tav tm="0">
                                          <p:val>
                                            <p:fltVal val="0"/>
                                          </p:val>
                                        </p:tav>
                                        <p:tav tm="100000">
                                          <p:val>
                                            <p:strVal val="#ppt_w"/>
                                          </p:val>
                                        </p:tav>
                                      </p:tavLst>
                                    </p:anim>
                                    <p:anim calcmode="lin" valueType="num">
                                      <p:cBhvr>
                                        <p:cTn id="60" dur="500" fill="hold"/>
                                        <p:tgtEl>
                                          <p:spTgt spid="26"/>
                                        </p:tgtEl>
                                        <p:attrNameLst>
                                          <p:attrName>ppt_h</p:attrName>
                                        </p:attrNameLst>
                                      </p:cBhvr>
                                      <p:tavLst>
                                        <p:tav tm="0">
                                          <p:val>
                                            <p:fltVal val="0"/>
                                          </p:val>
                                        </p:tav>
                                        <p:tav tm="100000">
                                          <p:val>
                                            <p:strVal val="#ppt_h"/>
                                          </p:val>
                                        </p:tav>
                                      </p:tavLst>
                                    </p:anim>
                                    <p:animEffect transition="in" filter="fade">
                                      <p:cBhvr>
                                        <p:cTn id="61" dur="500"/>
                                        <p:tgtEl>
                                          <p:spTgt spid="26"/>
                                        </p:tgtEl>
                                      </p:cBhvr>
                                    </p:animEffect>
                                  </p:childTnLst>
                                </p:cTn>
                              </p:par>
                              <p:par>
                                <p:cTn id="62" presetID="53" presetClass="entr" presetSubtype="0"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 calcmode="lin" valueType="num">
                                      <p:cBhvr>
                                        <p:cTn id="64" dur="500" fill="hold"/>
                                        <p:tgtEl>
                                          <p:spTgt spid="24"/>
                                        </p:tgtEl>
                                        <p:attrNameLst>
                                          <p:attrName>ppt_w</p:attrName>
                                        </p:attrNameLst>
                                      </p:cBhvr>
                                      <p:tavLst>
                                        <p:tav tm="0">
                                          <p:val>
                                            <p:fltVal val="0"/>
                                          </p:val>
                                        </p:tav>
                                        <p:tav tm="100000">
                                          <p:val>
                                            <p:strVal val="#ppt_w"/>
                                          </p:val>
                                        </p:tav>
                                      </p:tavLst>
                                    </p:anim>
                                    <p:anim calcmode="lin" valueType="num">
                                      <p:cBhvr>
                                        <p:cTn id="65" dur="500" fill="hold"/>
                                        <p:tgtEl>
                                          <p:spTgt spid="24"/>
                                        </p:tgtEl>
                                        <p:attrNameLst>
                                          <p:attrName>ppt_h</p:attrName>
                                        </p:attrNameLst>
                                      </p:cBhvr>
                                      <p:tavLst>
                                        <p:tav tm="0">
                                          <p:val>
                                            <p:fltVal val="0"/>
                                          </p:val>
                                        </p:tav>
                                        <p:tav tm="100000">
                                          <p:val>
                                            <p:strVal val="#ppt_h"/>
                                          </p:val>
                                        </p:tav>
                                      </p:tavLst>
                                    </p:anim>
                                    <p:animEffect transition="in" filter="fade">
                                      <p:cBhvr>
                                        <p:cTn id="66" dur="500"/>
                                        <p:tgtEl>
                                          <p:spTgt spid="24"/>
                                        </p:tgtEl>
                                      </p:cBhvr>
                                    </p:animEffect>
                                  </p:childTnLst>
                                </p:cTn>
                              </p:par>
                            </p:childTnLst>
                          </p:cTn>
                        </p:par>
                        <p:par>
                          <p:cTn id="67" fill="hold">
                            <p:stCondLst>
                              <p:cond delay="4500"/>
                            </p:stCondLst>
                            <p:childTnLst>
                              <p:par>
                                <p:cTn id="68" presetID="53" presetClass="entr" presetSubtype="0" fill="hold" nodeType="after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p:cTn id="70" dur="500" fill="hold"/>
                                        <p:tgtEl>
                                          <p:spTgt spid="25"/>
                                        </p:tgtEl>
                                        <p:attrNameLst>
                                          <p:attrName>ppt_w</p:attrName>
                                        </p:attrNameLst>
                                      </p:cBhvr>
                                      <p:tavLst>
                                        <p:tav tm="0">
                                          <p:val>
                                            <p:fltVal val="0"/>
                                          </p:val>
                                        </p:tav>
                                        <p:tav tm="100000">
                                          <p:val>
                                            <p:strVal val="#ppt_w"/>
                                          </p:val>
                                        </p:tav>
                                      </p:tavLst>
                                    </p:anim>
                                    <p:anim calcmode="lin" valueType="num">
                                      <p:cBhvr>
                                        <p:cTn id="71" dur="500" fill="hold"/>
                                        <p:tgtEl>
                                          <p:spTgt spid="25"/>
                                        </p:tgtEl>
                                        <p:attrNameLst>
                                          <p:attrName>ppt_h</p:attrName>
                                        </p:attrNameLst>
                                      </p:cBhvr>
                                      <p:tavLst>
                                        <p:tav tm="0">
                                          <p:val>
                                            <p:fltVal val="0"/>
                                          </p:val>
                                        </p:tav>
                                        <p:tav tm="100000">
                                          <p:val>
                                            <p:strVal val="#ppt_h"/>
                                          </p:val>
                                        </p:tav>
                                      </p:tavLst>
                                    </p:anim>
                                    <p:animEffect transition="in" filter="fade">
                                      <p:cBhvr>
                                        <p:cTn id="72" dur="500"/>
                                        <p:tgtEl>
                                          <p:spTgt spid="25"/>
                                        </p:tgtEl>
                                      </p:cBhvr>
                                    </p:animEffect>
                                  </p:childTnLst>
                                </p:cTn>
                              </p:par>
                            </p:childTnLst>
                          </p:cTn>
                        </p:par>
                        <p:par>
                          <p:cTn id="73" fill="hold">
                            <p:stCondLst>
                              <p:cond delay="5000"/>
                            </p:stCondLst>
                            <p:childTnLst>
                              <p:par>
                                <p:cTn id="74" presetID="22" presetClass="entr" presetSubtype="4" fill="hold" nodeType="after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wipe(down)">
                                      <p:cBhvr>
                                        <p:cTn id="76" dur="500"/>
                                        <p:tgtEl>
                                          <p:spTgt spid="16"/>
                                        </p:tgtEl>
                                      </p:cBhvr>
                                    </p:animEffect>
                                  </p:childTnLst>
                                </p:cTn>
                              </p:par>
                            </p:childTnLst>
                          </p:cTn>
                        </p:par>
                        <p:par>
                          <p:cTn id="77" fill="hold">
                            <p:stCondLst>
                              <p:cond delay="5500"/>
                            </p:stCondLst>
                            <p:childTnLst>
                              <p:par>
                                <p:cTn id="78" presetID="22" presetClass="entr" presetSubtype="4" fill="hold"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wipe(down)">
                                      <p:cBhvr>
                                        <p:cTn id="80" dur="500"/>
                                        <p:tgtEl>
                                          <p:spTgt spid="22"/>
                                        </p:tgtEl>
                                      </p:cBhvr>
                                    </p:animEffect>
                                  </p:childTnLst>
                                </p:cTn>
                              </p:par>
                            </p:childTnLst>
                          </p:cTn>
                        </p:par>
                        <p:par>
                          <p:cTn id="81" fill="hold">
                            <p:stCondLst>
                              <p:cond delay="6000"/>
                            </p:stCondLst>
                            <p:childTnLst>
                              <p:par>
                                <p:cTn id="82" presetID="53" presetClass="entr" presetSubtype="0" fill="hold" grpId="0" nodeType="afterEffect">
                                  <p:stCondLst>
                                    <p:cond delay="0"/>
                                  </p:stCondLst>
                                  <p:childTnLst>
                                    <p:set>
                                      <p:cBhvr>
                                        <p:cTn id="83" dur="1" fill="hold">
                                          <p:stCondLst>
                                            <p:cond delay="0"/>
                                          </p:stCondLst>
                                        </p:cTn>
                                        <p:tgtEl>
                                          <p:spTgt spid="27"/>
                                        </p:tgtEl>
                                        <p:attrNameLst>
                                          <p:attrName>style.visibility</p:attrName>
                                        </p:attrNameLst>
                                      </p:cBhvr>
                                      <p:to>
                                        <p:strVal val="visible"/>
                                      </p:to>
                                    </p:set>
                                    <p:anim calcmode="lin" valueType="num">
                                      <p:cBhvr>
                                        <p:cTn id="84" dur="500" fill="hold"/>
                                        <p:tgtEl>
                                          <p:spTgt spid="27"/>
                                        </p:tgtEl>
                                        <p:attrNameLst>
                                          <p:attrName>ppt_w</p:attrName>
                                        </p:attrNameLst>
                                      </p:cBhvr>
                                      <p:tavLst>
                                        <p:tav tm="0">
                                          <p:val>
                                            <p:fltVal val="0"/>
                                          </p:val>
                                        </p:tav>
                                        <p:tav tm="100000">
                                          <p:val>
                                            <p:strVal val="#ppt_w"/>
                                          </p:val>
                                        </p:tav>
                                      </p:tavLst>
                                    </p:anim>
                                    <p:anim calcmode="lin" valueType="num">
                                      <p:cBhvr>
                                        <p:cTn id="85" dur="500" fill="hold"/>
                                        <p:tgtEl>
                                          <p:spTgt spid="27"/>
                                        </p:tgtEl>
                                        <p:attrNameLst>
                                          <p:attrName>ppt_h</p:attrName>
                                        </p:attrNameLst>
                                      </p:cBhvr>
                                      <p:tavLst>
                                        <p:tav tm="0">
                                          <p:val>
                                            <p:fltVal val="0"/>
                                          </p:val>
                                        </p:tav>
                                        <p:tav tm="100000">
                                          <p:val>
                                            <p:strVal val="#ppt_h"/>
                                          </p:val>
                                        </p:tav>
                                      </p:tavLst>
                                    </p:anim>
                                    <p:animEffect transition="in" filter="fade">
                                      <p:cBhvr>
                                        <p:cTn id="86" dur="500"/>
                                        <p:tgtEl>
                                          <p:spTgt spid="27"/>
                                        </p:tgtEl>
                                      </p:cBhvr>
                                    </p:animEffect>
                                  </p:childTnLst>
                                </p:cTn>
                              </p:par>
                            </p:childTnLst>
                          </p:cTn>
                        </p:par>
                        <p:par>
                          <p:cTn id="87" fill="hold">
                            <p:stCondLst>
                              <p:cond delay="6500"/>
                            </p:stCondLst>
                            <p:childTnLst>
                              <p:par>
                                <p:cTn id="88" presetID="22" presetClass="entr" presetSubtype="8" fill="hold" grpId="0" nodeType="after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wipe(left)">
                                      <p:cBhvr>
                                        <p:cTn id="90" dur="500"/>
                                        <p:tgtEl>
                                          <p:spTgt spid="30"/>
                                        </p:tgtEl>
                                      </p:cBhvr>
                                    </p:animEffect>
                                  </p:childTnLst>
                                </p:cTn>
                              </p:par>
                            </p:childTnLst>
                          </p:cTn>
                        </p:par>
                        <p:par>
                          <p:cTn id="91" fill="hold">
                            <p:stCondLst>
                              <p:cond delay="7000"/>
                            </p:stCondLst>
                            <p:childTnLst>
                              <p:par>
                                <p:cTn id="92" presetID="53" presetClass="entr" presetSubtype="0" fill="hold" grpId="0" nodeType="after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p:cTn id="94" dur="500" fill="hold"/>
                                        <p:tgtEl>
                                          <p:spTgt spid="31"/>
                                        </p:tgtEl>
                                        <p:attrNameLst>
                                          <p:attrName>ppt_w</p:attrName>
                                        </p:attrNameLst>
                                      </p:cBhvr>
                                      <p:tavLst>
                                        <p:tav tm="0">
                                          <p:val>
                                            <p:fltVal val="0"/>
                                          </p:val>
                                        </p:tav>
                                        <p:tav tm="100000">
                                          <p:val>
                                            <p:strVal val="#ppt_w"/>
                                          </p:val>
                                        </p:tav>
                                      </p:tavLst>
                                    </p:anim>
                                    <p:anim calcmode="lin" valueType="num">
                                      <p:cBhvr>
                                        <p:cTn id="95" dur="500" fill="hold"/>
                                        <p:tgtEl>
                                          <p:spTgt spid="31"/>
                                        </p:tgtEl>
                                        <p:attrNameLst>
                                          <p:attrName>ppt_h</p:attrName>
                                        </p:attrNameLst>
                                      </p:cBhvr>
                                      <p:tavLst>
                                        <p:tav tm="0">
                                          <p:val>
                                            <p:fltVal val="0"/>
                                          </p:val>
                                        </p:tav>
                                        <p:tav tm="100000">
                                          <p:val>
                                            <p:strVal val="#ppt_h"/>
                                          </p:val>
                                        </p:tav>
                                      </p:tavLst>
                                    </p:anim>
                                    <p:animEffect transition="in" filter="fade">
                                      <p:cBhvr>
                                        <p:cTn id="9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27" grpId="0"/>
      <p:bldP spid="28" grpId="0"/>
      <p:bldP spid="29" grpId="0"/>
      <p:bldP spid="30" grpId="0" animBg="1"/>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9424" y="1484971"/>
                <a:ext cx="11422644" cy="3888058"/>
              </a:xfrm>
            </p:spPr>
            <p:txBody>
              <a:bodyPr/>
              <a:lstStyle/>
              <a:p>
                <a:pPr algn="just"/>
                <a:r>
                  <a:rPr lang="ru-RU" altLang="en-US" sz="2400" i="1" dirty="0"/>
                  <a:t>	</a:t>
                </a:r>
                <a:r>
                  <a:rPr lang="ru-RU" altLang="en-US" sz="2400" dirty="0"/>
                  <a:t>Уравнения на предыдущем слайде эквивалентны</a:t>
                </a:r>
                <a:r>
                  <a:rPr lang="en-US" altLang="en-US" sz="2400" dirty="0"/>
                  <a:t> </a:t>
                </a:r>
                <a:r>
                  <a:rPr lang="ru-RU" altLang="en-US" sz="2400" dirty="0"/>
                  <a:t>векторному уравнени</a:t>
                </a:r>
                <a:r>
                  <a:rPr lang="ru-RU" altLang="en-US" dirty="0"/>
                  <a:t>ю</a:t>
                </a:r>
                <a:r>
                  <a:rPr lang="en-US" altLang="en-US" sz="2400" dirty="0"/>
                  <a:t>:</a:t>
                </a:r>
                <a:endParaRPr lang="ru-RU" altLang="en-US" sz="2400" dirty="0"/>
              </a:p>
              <a:p>
                <a:pPr algn="just"/>
                <a:endParaRPr lang="ru-RU" altLang="en-US" sz="2400" dirty="0"/>
              </a:p>
              <a:p>
                <a:pPr algn="just"/>
                <a:endParaRPr lang="ru-RU" altLang="en-US" dirty="0">
                  <a:solidFill>
                    <a:srgbClr val="FF0000"/>
                  </a:solidFill>
                </a:endParaRPr>
              </a:p>
              <a:p>
                <a:pPr algn="just" eaLnBrk="1" hangingPunct="1"/>
                <a:r>
                  <a:rPr lang="ru-RU" altLang="en-US" sz="2400" dirty="0">
                    <a:cs typeface="Times New Roman" panose="02020603050405020304" pitchFamily="18" charset="0"/>
                  </a:rPr>
                  <a:t>где </a:t>
                </a:r>
                <a:r>
                  <a:rPr lang="ru-RU" altLang="en-US" sz="2400" i="1" dirty="0">
                    <a:cs typeface="Times New Roman" panose="02020603050405020304" pitchFamily="18" charset="0"/>
                  </a:rPr>
                  <a:t>х, у, </a:t>
                </a:r>
                <a:r>
                  <a:rPr lang="en-US" altLang="en-US" sz="2400" i="1" dirty="0">
                    <a:cs typeface="Times New Roman" panose="02020603050405020304" pitchFamily="18" charset="0"/>
                  </a:rPr>
                  <a:t>z</a:t>
                </a:r>
                <a:r>
                  <a:rPr lang="ru-RU" altLang="en-US" sz="2400" dirty="0">
                    <a:cs typeface="Times New Roman" panose="02020603050405020304" pitchFamily="18" charset="0"/>
                  </a:rPr>
                  <a:t> – проекции  радиус-вектора</a:t>
                </a:r>
                <a:r>
                  <a:rPr lang="en-US" altLang="en-US" sz="2400" dirty="0">
                    <a:cs typeface="Times New Roman" panose="02020603050405020304" pitchFamily="18" charset="0"/>
                  </a:rPr>
                  <a:t> </a:t>
                </a:r>
                <a14:m>
                  <m:oMath xmlns:m="http://schemas.openxmlformats.org/officeDocument/2006/math">
                    <m:acc>
                      <m:accPr>
                        <m:chr m:val="̅"/>
                        <m:ctrlPr>
                          <a:rPr lang="en-US" altLang="en-US" sz="2400" i="1" smtClean="0">
                            <a:solidFill>
                              <a:schemeClr val="tx1"/>
                            </a:solidFill>
                            <a:latin typeface="Cambria Math" panose="02040503050406030204" pitchFamily="18" charset="0"/>
                            <a:cs typeface="Times New Roman" panose="02020603050405020304" pitchFamily="18" charset="0"/>
                          </a:rPr>
                        </m:ctrlPr>
                      </m:accPr>
                      <m:e>
                        <m:r>
                          <a:rPr lang="en-US" altLang="en-US" sz="2400" b="0" i="1" smtClean="0">
                            <a:solidFill>
                              <a:schemeClr val="tx1"/>
                            </a:solidFill>
                            <a:latin typeface="Cambria Math" panose="02040503050406030204" pitchFamily="18" charset="0"/>
                            <a:cs typeface="Times New Roman" panose="02020603050405020304" pitchFamily="18" charset="0"/>
                          </a:rPr>
                          <m:t>𝑟</m:t>
                        </m:r>
                      </m:e>
                    </m:acc>
                    <m:r>
                      <a:rPr lang="en-US" altLang="en-US" sz="2400" b="0" i="1" smtClean="0">
                        <a:solidFill>
                          <a:schemeClr val="tx1"/>
                        </a:solidFill>
                        <a:latin typeface="Cambria Math" panose="02040503050406030204" pitchFamily="18" charset="0"/>
                        <a:cs typeface="Times New Roman" panose="02020603050405020304" pitchFamily="18" charset="0"/>
                      </a:rPr>
                      <m:t> </m:t>
                    </m:r>
                  </m:oMath>
                </a14:m>
                <a:r>
                  <a:rPr lang="en-US" altLang="en-US" sz="2400" dirty="0">
                    <a:solidFill>
                      <a:schemeClr val="tx1"/>
                    </a:solidFill>
                    <a:cs typeface="Times New Roman" panose="02020603050405020304" pitchFamily="18" charset="0"/>
                  </a:rPr>
                  <a:t> </a:t>
                </a:r>
                <a:r>
                  <a:rPr lang="ru-RU" altLang="en-US" sz="2400" dirty="0">
                    <a:cs typeface="Times New Roman" panose="02020603050405020304" pitchFamily="18" charset="0"/>
                  </a:rPr>
                  <a:t>на оси координат, а </a:t>
                </a:r>
                <a:r>
                  <a:rPr lang="en-US" altLang="en-US" sz="2400" b="1" i="1" dirty="0" err="1">
                    <a:cs typeface="Times New Roman" panose="02020603050405020304" pitchFamily="18" charset="0"/>
                  </a:rPr>
                  <a:t>i</a:t>
                </a:r>
                <a:r>
                  <a:rPr lang="ru-RU" altLang="en-US" sz="2400" b="1" i="1" dirty="0">
                    <a:cs typeface="Times New Roman" panose="02020603050405020304" pitchFamily="18" charset="0"/>
                  </a:rPr>
                  <a:t>, </a:t>
                </a:r>
                <a:r>
                  <a:rPr lang="en-US" altLang="en-US" sz="2400" b="1" i="1" dirty="0">
                    <a:cs typeface="Times New Roman" panose="02020603050405020304" pitchFamily="18" charset="0"/>
                  </a:rPr>
                  <a:t>j</a:t>
                </a:r>
                <a:r>
                  <a:rPr lang="ru-RU" altLang="en-US" sz="2400" b="1" i="1" dirty="0">
                    <a:cs typeface="Times New Roman" panose="02020603050405020304" pitchFamily="18" charset="0"/>
                  </a:rPr>
                  <a:t>, </a:t>
                </a:r>
                <a:r>
                  <a:rPr lang="en-US" altLang="en-US" sz="2400" b="1" i="1" dirty="0">
                    <a:cs typeface="Times New Roman" panose="02020603050405020304" pitchFamily="18" charset="0"/>
                  </a:rPr>
                  <a:t>k</a:t>
                </a:r>
                <a:r>
                  <a:rPr lang="en-US" altLang="en-US" sz="2400" dirty="0">
                    <a:cs typeface="Times New Roman" panose="02020603050405020304" pitchFamily="18" charset="0"/>
                  </a:rPr>
                  <a:t> </a:t>
                </a:r>
                <a:r>
                  <a:rPr lang="ru-RU" altLang="en-US" sz="2400" dirty="0">
                    <a:cs typeface="Times New Roman" panose="02020603050405020304" pitchFamily="18" charset="0"/>
                  </a:rPr>
                  <a:t>– </a:t>
                </a:r>
                <a:r>
                  <a:rPr lang="ru-RU" altLang="en-US" b="1" dirty="0">
                    <a:solidFill>
                      <a:schemeClr val="accent5"/>
                    </a:solidFill>
                  </a:rPr>
                  <a:t>единичные векторы</a:t>
                </a:r>
                <a:r>
                  <a:rPr lang="en-US" altLang="en-US" b="1" dirty="0">
                    <a:solidFill>
                      <a:schemeClr val="accent5"/>
                    </a:solidFill>
                  </a:rPr>
                  <a:t> </a:t>
                </a:r>
                <a:r>
                  <a:rPr lang="ru-RU" altLang="en-US" b="1" dirty="0">
                    <a:solidFill>
                      <a:schemeClr val="accent5"/>
                    </a:solidFill>
                  </a:rPr>
                  <a:t>(орты), </a:t>
                </a:r>
                <a:r>
                  <a:rPr lang="ru-RU" altLang="en-US" sz="2400" dirty="0">
                    <a:cs typeface="Times New Roman" panose="02020603050405020304" pitchFamily="18" charset="0"/>
                  </a:rPr>
                  <a:t>направленные по соответствующим осям.</a:t>
                </a:r>
              </a:p>
              <a:p>
                <a:pPr algn="just" eaLnBrk="1" hangingPunct="1"/>
                <a:endParaRPr lang="ru-RU" altLang="en-US" sz="2400" dirty="0"/>
              </a:p>
              <a:p>
                <a:pPr algn="just"/>
                <a:r>
                  <a:rPr lang="en-US" altLang="en-US" sz="2400" dirty="0">
                    <a:cs typeface="Times New Roman" panose="02020603050405020304" pitchFamily="18" charset="0"/>
                  </a:rPr>
                  <a:t>	</a:t>
                </a:r>
                <a:r>
                  <a:rPr lang="ru-RU" altLang="en-US" sz="2400" dirty="0">
                    <a:cs typeface="Times New Roman" panose="02020603050405020304" pitchFamily="18" charset="0"/>
                  </a:rPr>
                  <a:t>Уравнения </a:t>
                </a:r>
                <a:r>
                  <a:rPr lang="ru-RU" altLang="en-US" b="1" dirty="0">
                    <a:cs typeface="Times New Roman" panose="02020603050405020304" pitchFamily="18" charset="0"/>
                  </a:rPr>
                  <a:t>(</a:t>
                </a:r>
                <a:r>
                  <a:rPr lang="en-US" sz="2400" b="1" dirty="0">
                    <a:cs typeface="Times New Roman" panose="02020603050405020304" pitchFamily="18" charset="0"/>
                  </a:rPr>
                  <a:t>1</a:t>
                </a:r>
                <a:r>
                  <a:rPr lang="ru-RU" b="1" dirty="0">
                    <a:cs typeface="Times New Roman" panose="02020603050405020304" pitchFamily="18" charset="0"/>
                  </a:rPr>
                  <a:t>)</a:t>
                </a:r>
                <a:r>
                  <a:rPr lang="en-US" sz="2400" b="1" dirty="0">
                    <a:cs typeface="Times New Roman" panose="02020603050405020304" pitchFamily="18" charset="0"/>
                  </a:rPr>
                  <a:t> </a:t>
                </a:r>
                <a:r>
                  <a:rPr lang="ru-RU" altLang="en-US" sz="2400" dirty="0">
                    <a:cs typeface="Times New Roman" panose="02020603050405020304" pitchFamily="18" charset="0"/>
                  </a:rPr>
                  <a:t>и </a:t>
                </a:r>
                <a:r>
                  <a:rPr lang="ru-RU" altLang="en-US" b="1" dirty="0">
                    <a:cs typeface="Times New Roman" panose="02020603050405020304" pitchFamily="18" charset="0"/>
                  </a:rPr>
                  <a:t>(</a:t>
                </a:r>
                <a:r>
                  <a:rPr lang="en-US" sz="2400" b="1" dirty="0">
                    <a:cs typeface="Times New Roman" panose="02020603050405020304" pitchFamily="18" charset="0"/>
                  </a:rPr>
                  <a:t>2</a:t>
                </a:r>
                <a:r>
                  <a:rPr lang="ru-RU" b="1" dirty="0">
                    <a:cs typeface="Times New Roman" panose="02020603050405020304" pitchFamily="18" charset="0"/>
                  </a:rPr>
                  <a:t>)</a:t>
                </a:r>
                <a:r>
                  <a:rPr lang="en-US" sz="2400" b="1" dirty="0">
                    <a:cs typeface="Times New Roman" panose="02020603050405020304" pitchFamily="18" charset="0"/>
                  </a:rPr>
                  <a:t> </a:t>
                </a:r>
                <a:r>
                  <a:rPr lang="ru-RU" altLang="en-US" sz="2400" dirty="0">
                    <a:cs typeface="Times New Roman" panose="02020603050405020304" pitchFamily="18" charset="0"/>
                  </a:rPr>
                  <a:t> называются </a:t>
                </a:r>
                <a:r>
                  <a:rPr lang="ru-RU" altLang="en-US" b="1" dirty="0">
                    <a:solidFill>
                      <a:schemeClr val="accent5"/>
                    </a:solidFill>
                  </a:rPr>
                  <a:t>кинематическими уравнениями движения материальной точки.</a:t>
                </a:r>
              </a:p>
              <a:p>
                <a:pPr algn="just"/>
                <a:endParaRPr lang="ru-RU" altLang="en-US" sz="2400" dirty="0">
                  <a:solidFill>
                    <a:srgbClr val="FF0000"/>
                  </a:solidFill>
                </a:endParaRPr>
              </a:p>
            </p:txBody>
          </p:sp>
        </mc:Choice>
        <mc:Fallback xmlns="">
          <p:sp>
            <p:nvSpPr>
              <p:cNvPr id="10" name="Текст 9">
                <a:extLst>
                  <a:ext uri="{FF2B5EF4-FFF2-40B4-BE49-F238E27FC236}">
                    <a16:creationId xmlns:a16="http://schemas.microsoft.com/office/drawing/2014/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79424" y="1484971"/>
                <a:ext cx="11422644" cy="3888058"/>
              </a:xfrm>
              <a:blipFill>
                <a:blip r:embed="rId4"/>
                <a:stretch>
                  <a:fillRect l="-854" t="-2041" r="-854" b="-7221"/>
                </a:stretch>
              </a:blipFill>
            </p:spPr>
            <p:txBody>
              <a:bodyPr/>
              <a:lstStyle/>
              <a:p>
                <a:r>
                  <a:rPr lang="en-US">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a:t>
            </a:r>
          </a:p>
        </p:txBody>
      </p:sp>
      <p:graphicFrame>
        <p:nvGraphicFramePr>
          <p:cNvPr id="2" name="Object 1">
            <a:extLst>
              <a:ext uri="{FF2B5EF4-FFF2-40B4-BE49-F238E27FC236}">
                <a16:creationId xmlns:a16="http://schemas.microsoft.com/office/drawing/2014/main" id="{C9805C85-E410-43A5-8D3E-1A7FB9B76A23}"/>
              </a:ext>
            </a:extLst>
          </p:cNvPr>
          <p:cNvGraphicFramePr>
            <a:graphicFrameLocks noChangeAspect="1"/>
          </p:cNvGraphicFramePr>
          <p:nvPr>
            <p:extLst>
              <p:ext uri="{D42A27DB-BD31-4B8C-83A1-F6EECF244321}">
                <p14:modId xmlns:p14="http://schemas.microsoft.com/office/powerpoint/2010/main" val="3925049953"/>
              </p:ext>
            </p:extLst>
          </p:nvPr>
        </p:nvGraphicFramePr>
        <p:xfrm>
          <a:off x="4433345" y="2393988"/>
          <a:ext cx="3718254" cy="588003"/>
        </p:xfrm>
        <a:graphic>
          <a:graphicData uri="http://schemas.openxmlformats.org/presentationml/2006/ole">
            <mc:AlternateContent xmlns:mc="http://schemas.openxmlformats.org/markup-compatibility/2006">
              <mc:Choice xmlns:v="urn:schemas-microsoft-com:vml" Requires="v">
                <p:oleObj spid="_x0000_s4169" name="Equation" r:id="rId5" imgW="2730240" imgH="431640" progId="Equation.DSMT4">
                  <p:embed/>
                </p:oleObj>
              </mc:Choice>
              <mc:Fallback>
                <p:oleObj name="Equation" r:id="rId5" imgW="2730240" imgH="431640" progId="Equation.DSMT4">
                  <p:embed/>
                  <p:pic>
                    <p:nvPicPr>
                      <p:cNvPr id="0" name=""/>
                      <p:cNvPicPr/>
                      <p:nvPr/>
                    </p:nvPicPr>
                    <p:blipFill>
                      <a:blip r:embed="rId6"/>
                      <a:stretch>
                        <a:fillRect/>
                      </a:stretch>
                    </p:blipFill>
                    <p:spPr>
                      <a:xfrm>
                        <a:off x="4433345" y="2393988"/>
                        <a:ext cx="3718254" cy="588003"/>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6972C847-9444-4C16-92EE-4D85875757FA}"/>
              </a:ext>
            </a:extLst>
          </p:cNvPr>
          <p:cNvSpPr txBox="1"/>
          <p:nvPr/>
        </p:nvSpPr>
        <p:spPr>
          <a:xfrm>
            <a:off x="10699595" y="2425223"/>
            <a:ext cx="563137" cy="369332"/>
          </a:xfrm>
          <a:prstGeom prst="rect">
            <a:avLst/>
          </a:prstGeom>
          <a:noFill/>
        </p:spPr>
        <p:txBody>
          <a:bodyPr wrap="square">
            <a:spAutoFit/>
          </a:bodyPr>
          <a:lstStyle/>
          <a:p>
            <a:r>
              <a:rPr lang="ru-RU" altLang="en-US" b="1" dirty="0">
                <a:cs typeface="Times New Roman" panose="02020603050405020304" pitchFamily="18" charset="0"/>
              </a:rPr>
              <a:t>(</a:t>
            </a:r>
            <a:r>
              <a:rPr lang="en-US" sz="1800" b="1" dirty="0">
                <a:cs typeface="Times New Roman" panose="02020603050405020304" pitchFamily="18" charset="0"/>
              </a:rPr>
              <a:t>2</a:t>
            </a:r>
            <a:r>
              <a:rPr lang="ru-RU" b="1" dirty="0">
                <a:cs typeface="Times New Roman" panose="02020603050405020304" pitchFamily="18" charset="0"/>
              </a:rPr>
              <a:t>)</a:t>
            </a:r>
            <a:endParaRPr lang="en-US" dirty="0"/>
          </a:p>
        </p:txBody>
      </p:sp>
    </p:spTree>
    <p:extLst>
      <p:ext uri="{BB962C8B-B14F-4D97-AF65-F5344CB8AC3E}">
        <p14:creationId xmlns:p14="http://schemas.microsoft.com/office/powerpoint/2010/main" val="2061876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9424" y="906965"/>
            <a:ext cx="11454370" cy="5575373"/>
          </a:xfrm>
        </p:spPr>
        <p:txBody>
          <a:bodyPr/>
          <a:lstStyle/>
          <a:p>
            <a:pPr algn="just"/>
            <a:r>
              <a:rPr lang="ru-RU" altLang="en-US" sz="2400" i="1" dirty="0"/>
              <a:t>	</a:t>
            </a:r>
            <a:r>
              <a:rPr lang="ru-RU" altLang="en-US" sz="2800" dirty="0"/>
              <a:t>Число независимых координат, полностью определяющих положение точки в пространстве, называется</a:t>
            </a:r>
            <a:r>
              <a:rPr lang="ru-RU" altLang="en-US" sz="2800" b="1" dirty="0"/>
              <a:t> </a:t>
            </a:r>
            <a:r>
              <a:rPr lang="ru-RU" altLang="en-US" sz="2800" b="1" dirty="0">
                <a:solidFill>
                  <a:schemeClr val="accent5"/>
                </a:solidFill>
              </a:rPr>
              <a:t>числом степеней свободы.</a:t>
            </a:r>
          </a:p>
          <a:p>
            <a:pPr algn="just" eaLnBrk="1" hangingPunct="1"/>
            <a:r>
              <a:rPr lang="ru-RU" altLang="en-US" sz="2800" dirty="0">
                <a:solidFill>
                  <a:srgbClr val="FF0000"/>
                </a:solidFill>
              </a:rPr>
              <a:t>	</a:t>
            </a:r>
            <a:r>
              <a:rPr lang="ru-RU" altLang="en-US" sz="2800" dirty="0"/>
              <a:t>Примеры</a:t>
            </a:r>
            <a:r>
              <a:rPr lang="en-US" altLang="en-US" sz="2800" dirty="0"/>
              <a:t>: </a:t>
            </a:r>
            <a:r>
              <a:rPr lang="ru-RU" altLang="en-US" sz="2800" dirty="0"/>
              <a:t>если материальная точка свободно движется в пространстве, то она имеет три степени свободы (координаты </a:t>
            </a:r>
            <a:r>
              <a:rPr lang="ru-RU" altLang="en-US" sz="2800" i="1" dirty="0"/>
              <a:t>х, у, </a:t>
            </a:r>
            <a:r>
              <a:rPr lang="en-US" altLang="en-US" sz="2800" i="1" dirty="0"/>
              <a:t>z</a:t>
            </a:r>
            <a:r>
              <a:rPr lang="ru-RU" altLang="en-US" sz="2800" dirty="0"/>
              <a:t>). Если она движется на плоскости – две степени свободы. Если вдоль линии – одна степень свободы.</a:t>
            </a:r>
          </a:p>
          <a:p>
            <a:r>
              <a:rPr lang="ru-RU" sz="2800" dirty="0"/>
              <a:t>	Движение математического маятника, закреплённого на жестком стержне, при переходе в полярную систему координат можно описать 1 координатой – углом. Поэтому у него 1 степень свободы. </a:t>
            </a:r>
          </a:p>
        </p:txBody>
      </p:sp>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a:t>
            </a:r>
          </a:p>
        </p:txBody>
      </p:sp>
    </p:spTree>
    <p:extLst>
      <p:ext uri="{BB962C8B-B14F-4D97-AF65-F5344CB8AC3E}">
        <p14:creationId xmlns:p14="http://schemas.microsoft.com/office/powerpoint/2010/main" val="2023132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6"/>
            <a:ext cx="11229975" cy="1423509"/>
          </a:xfrm>
        </p:spPr>
        <p:txBody>
          <a:bodyPr/>
          <a:lstStyle/>
          <a:p>
            <a:r>
              <a:rPr lang="ru-RU" dirty="0"/>
              <a:t>Кинематика материальной точки. </a:t>
            </a:r>
            <a:br>
              <a:rPr lang="ru-RU" dirty="0"/>
            </a:br>
            <a:r>
              <a:rPr lang="ru-RU" dirty="0"/>
              <a:t>Путь и перемещение </a:t>
            </a:r>
          </a:p>
        </p:txBody>
      </p:sp>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9424" y="2428715"/>
                <a:ext cx="5965981" cy="3127375"/>
              </a:xfrm>
            </p:spPr>
            <p:txBody>
              <a:bodyPr/>
              <a:lstStyle/>
              <a:p>
                <a:r>
                  <a:rPr lang="ru-RU" altLang="en-US" sz="2400" dirty="0"/>
                  <a:t>Положение точки </a:t>
                </a:r>
                <a:r>
                  <a:rPr lang="ru-RU" altLang="en-US" sz="2400" i="1" dirty="0"/>
                  <a:t>А</a:t>
                </a:r>
                <a:r>
                  <a:rPr lang="ru-RU" altLang="en-US" sz="2400" dirty="0"/>
                  <a:t> в пространстве можно задать</a:t>
                </a:r>
                <a:r>
                  <a:rPr lang="en-US" altLang="en-US" sz="2400" dirty="0"/>
                  <a:t> </a:t>
                </a:r>
                <a:r>
                  <a:rPr lang="ru-RU" altLang="en-US" sz="2400" dirty="0"/>
                  <a:t>с помощью </a:t>
                </a:r>
                <a14:m>
                  <m:oMath xmlns:m="http://schemas.openxmlformats.org/officeDocument/2006/math">
                    <m:acc>
                      <m:accPr>
                        <m:chr m:val="̅"/>
                        <m:ctrlPr>
                          <a:rPr lang="en-US" altLang="en-US" sz="2400" i="1" smtClean="0">
                            <a:latin typeface="Cambria Math" panose="02040503050406030204" pitchFamily="18" charset="0"/>
                            <a:cs typeface="Times New Roman" panose="02020603050405020304" pitchFamily="18" charset="0"/>
                          </a:rPr>
                        </m:ctrlPr>
                      </m:accPr>
                      <m:e>
                        <m:r>
                          <a:rPr lang="en-US" altLang="en-US" sz="2400" i="1">
                            <a:latin typeface="Cambria Math" panose="02040503050406030204" pitchFamily="18" charset="0"/>
                            <a:cs typeface="Times New Roman" panose="02020603050405020304" pitchFamily="18" charset="0"/>
                          </a:rPr>
                          <m:t>𝑟</m:t>
                        </m:r>
                      </m:e>
                    </m:acc>
                  </m:oMath>
                </a14:m>
                <a:r>
                  <a:rPr lang="ru-RU" altLang="en-US" sz="2400" dirty="0"/>
                  <a:t> радиус-вектора</a:t>
                </a:r>
                <a:r>
                  <a:rPr lang="en-US" altLang="en-US" sz="2400" dirty="0"/>
                  <a:t>   </a:t>
                </a:r>
                <a:r>
                  <a:rPr lang="ru-RU" altLang="en-US" sz="2400" dirty="0"/>
                  <a:t> </a:t>
                </a:r>
                <a:r>
                  <a:rPr lang="en-US" altLang="en-US" sz="2400" dirty="0"/>
                  <a:t>   </a:t>
                </a:r>
                <a:r>
                  <a:rPr lang="ru-RU" altLang="en-US" sz="2400" dirty="0"/>
                  <a:t>проведенного из точки отсчета </a:t>
                </a:r>
                <a:r>
                  <a:rPr lang="ru-RU" altLang="en-US" sz="2400" i="1" dirty="0"/>
                  <a:t>О </a:t>
                </a:r>
                <a:r>
                  <a:rPr lang="ru-RU" altLang="en-US" sz="2400" dirty="0"/>
                  <a:t>или начала координат</a:t>
                </a:r>
                <a:endParaRPr lang="ru-RU" dirty="0"/>
              </a:p>
            </p:txBody>
          </p:sp>
        </mc:Choice>
        <mc:Fallback xmlns="">
          <p:sp>
            <p:nvSpPr>
              <p:cNvPr id="10" name="Текст 9">
                <a:extLst>
                  <a:ext uri="{FF2B5EF4-FFF2-40B4-BE49-F238E27FC236}">
                    <a16:creationId xmlns="" xmlns:a16="http://schemas.microsoft.com/office/drawing/2014/main"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79424" y="2428715"/>
                <a:ext cx="5965981" cy="3127375"/>
              </a:xfrm>
              <a:blipFill rotWithShape="1">
                <a:blip r:embed="rId3"/>
                <a:stretch>
                  <a:fillRect l="-1636" t="-2534"/>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pic>
        <p:nvPicPr>
          <p:cNvPr id="3" name="Picture 2">
            <a:extLst>
              <a:ext uri="{FF2B5EF4-FFF2-40B4-BE49-F238E27FC236}">
                <a16:creationId xmlns:a16="http://schemas.microsoft.com/office/drawing/2014/main" id="{3677DD8F-396D-427C-AE22-0762FB7F1AA2}"/>
              </a:ext>
            </a:extLst>
          </p:cNvPr>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6445405" y="1678456"/>
            <a:ext cx="5398662" cy="3633356"/>
          </a:xfrm>
          <a:prstGeom prst="rect">
            <a:avLst/>
          </a:prstGeom>
        </p:spPr>
      </p:pic>
    </p:spTree>
    <p:extLst>
      <p:ext uri="{BB962C8B-B14F-4D97-AF65-F5344CB8AC3E}">
        <p14:creationId xmlns:p14="http://schemas.microsoft.com/office/powerpoint/2010/main" val="405292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42389" y="1028406"/>
                <a:ext cx="10853796" cy="5127067"/>
              </a:xfrm>
            </p:spPr>
            <p:txBody>
              <a:bodyPr/>
              <a:lstStyle/>
              <a:p>
                <a:r>
                  <a:rPr lang="ru-RU" altLang="en-US" dirty="0"/>
                  <a:t>При движении точки </a:t>
                </a:r>
                <a:r>
                  <a:rPr lang="ru-RU" altLang="en-US" i="1" dirty="0"/>
                  <a:t>А</a:t>
                </a:r>
                <a:r>
                  <a:rPr lang="ru-RU" altLang="en-US" dirty="0"/>
                  <a:t> из точки 1 в точку 2 её радиус-вектор</a:t>
                </a:r>
                <a:r>
                  <a:rPr lang="en-US" altLang="en-US" dirty="0"/>
                  <a:t> </a:t>
                </a:r>
                <a:r>
                  <a:rPr lang="ru-RU" altLang="en-US" dirty="0"/>
                  <a:t>изменяется и по величине, и по направлению, т.е. </a:t>
                </a:r>
                <a14:m>
                  <m:oMath xmlns:m="http://schemas.openxmlformats.org/officeDocument/2006/math">
                    <m:acc>
                      <m:accPr>
                        <m:chr m:val="̅"/>
                        <m:ctrlPr>
                          <a:rPr lang="en-US" altLang="en-US" i="1">
                            <a:latin typeface="Cambria Math" panose="02040503050406030204" pitchFamily="18" charset="0"/>
                            <a:cs typeface="Times New Roman" panose="02020603050405020304" pitchFamily="18" charset="0"/>
                          </a:rPr>
                        </m:ctrlPr>
                      </m:accPr>
                      <m:e>
                        <m:r>
                          <a:rPr lang="en-US" altLang="en-US" i="1">
                            <a:latin typeface="Cambria Math" panose="02040503050406030204" pitchFamily="18" charset="0"/>
                            <a:cs typeface="Times New Roman" panose="02020603050405020304" pitchFamily="18" charset="0"/>
                          </a:rPr>
                          <m:t>𝑟</m:t>
                        </m:r>
                      </m:e>
                    </m:acc>
                  </m:oMath>
                </a14:m>
                <a:r>
                  <a:rPr lang="en-US" altLang="en-US" dirty="0"/>
                  <a:t> </a:t>
                </a:r>
                <a:r>
                  <a:rPr lang="ru-RU" altLang="en-US" dirty="0"/>
                  <a:t>зависит от времени </a:t>
                </a:r>
                <a:r>
                  <a:rPr lang="ru-RU" altLang="en-US" i="1" dirty="0"/>
                  <a:t>t.</a:t>
                </a:r>
                <a:endParaRPr lang="ru-RU" altLang="en-US" dirty="0"/>
              </a:p>
              <a:p>
                <a:endParaRPr lang="ru-RU" altLang="en-US" i="1" dirty="0"/>
              </a:p>
              <a:p>
                <a:r>
                  <a:rPr lang="ru-RU" altLang="en-US" i="1" dirty="0"/>
                  <a:t>Геометрическое</a:t>
                </a:r>
                <a:r>
                  <a:rPr lang="en-US" altLang="en-US" i="1" dirty="0"/>
                  <a:t> </a:t>
                </a:r>
                <a:r>
                  <a:rPr lang="ru-RU" altLang="en-US" i="1" dirty="0"/>
                  <a:t>место</a:t>
                </a:r>
                <a:r>
                  <a:rPr lang="en-US" altLang="en-US" i="1" dirty="0"/>
                  <a:t> </a:t>
                </a:r>
                <a:r>
                  <a:rPr lang="ru-RU" altLang="en-US" i="1" dirty="0"/>
                  <a:t>точек концов</a:t>
                </a:r>
                <a:r>
                  <a:rPr lang="en-US" altLang="en-US" i="1" dirty="0"/>
                  <a:t> </a:t>
                </a:r>
                <a14:m>
                  <m:oMath xmlns:m="http://schemas.openxmlformats.org/officeDocument/2006/math">
                    <m:acc>
                      <m:accPr>
                        <m:chr m:val="̅"/>
                        <m:ctrlPr>
                          <a:rPr lang="en-US" altLang="en-US" i="1">
                            <a:latin typeface="Cambria Math" panose="02040503050406030204" pitchFamily="18" charset="0"/>
                            <a:cs typeface="Times New Roman" panose="02020603050405020304" pitchFamily="18" charset="0"/>
                          </a:rPr>
                        </m:ctrlPr>
                      </m:accPr>
                      <m:e>
                        <m:r>
                          <a:rPr lang="en-US" altLang="en-US" i="1">
                            <a:latin typeface="Cambria Math" panose="02040503050406030204" pitchFamily="18" charset="0"/>
                            <a:cs typeface="Times New Roman" panose="02020603050405020304" pitchFamily="18" charset="0"/>
                          </a:rPr>
                          <m:t>𝑟</m:t>
                        </m:r>
                      </m:e>
                    </m:acc>
                    <m:r>
                      <a:rPr lang="en-US" altLang="en-US" i="1">
                        <a:latin typeface="Cambria Math" panose="02040503050406030204" pitchFamily="18" charset="0"/>
                        <a:cs typeface="Times New Roman" panose="02020603050405020304" pitchFamily="18" charset="0"/>
                      </a:rPr>
                      <m:t> </m:t>
                    </m:r>
                  </m:oMath>
                </a14:m>
                <a:r>
                  <a:rPr lang="ru-RU" altLang="en-US" i="1" dirty="0"/>
                  <a:t>называется</a:t>
                </a:r>
                <a:r>
                  <a:rPr lang="en-US" altLang="en-US" i="1" dirty="0"/>
                  <a:t> </a:t>
                </a:r>
                <a:r>
                  <a:rPr lang="ru-RU" altLang="en-US" b="1" dirty="0">
                    <a:solidFill>
                      <a:schemeClr val="accent5"/>
                    </a:solidFill>
                  </a:rPr>
                  <a:t>траекторией точки</a:t>
                </a:r>
                <a:r>
                  <a:rPr lang="ru-RU" altLang="en-US" i="1" dirty="0"/>
                  <a:t>.</a:t>
                </a:r>
              </a:p>
              <a:p>
                <a:endParaRPr lang="ru-RU" altLang="en-US" i="1" dirty="0"/>
              </a:p>
              <a:p>
                <a:r>
                  <a:rPr lang="ru-RU" altLang="en-US" i="1" dirty="0">
                    <a:solidFill>
                      <a:srgbClr val="FF0000"/>
                    </a:solidFill>
                  </a:rPr>
                  <a:t> </a:t>
                </a:r>
                <a:r>
                  <a:rPr lang="ru-RU" altLang="en-US" b="1" dirty="0">
                    <a:solidFill>
                      <a:schemeClr val="accent5"/>
                    </a:solidFill>
                  </a:rPr>
                  <a:t>Длина траектории есть путь Δ</a:t>
                </a:r>
                <a:r>
                  <a:rPr lang="en-US" altLang="en-US" b="1" dirty="0">
                    <a:solidFill>
                      <a:schemeClr val="accent5"/>
                    </a:solidFill>
                  </a:rPr>
                  <a:t>S</a:t>
                </a:r>
                <a:r>
                  <a:rPr lang="ru-RU" altLang="en-US" dirty="0"/>
                  <a:t>.</a:t>
                </a:r>
                <a:r>
                  <a:rPr lang="ru-RU" altLang="en-US" i="1" dirty="0"/>
                  <a:t> </a:t>
                </a:r>
                <a:r>
                  <a:rPr lang="ru-RU" altLang="en-US" dirty="0"/>
                  <a:t>Если точка движется по</a:t>
                </a:r>
                <a:r>
                  <a:rPr lang="en-US" altLang="en-US" dirty="0"/>
                  <a:t> </a:t>
                </a:r>
                <a:r>
                  <a:rPr lang="ru-RU" altLang="en-US" dirty="0"/>
                  <a:t>прямой, то приращение</a:t>
                </a:r>
                <a:r>
                  <a:rPr lang="en-US" altLang="en-US" dirty="0"/>
                  <a:t> </a:t>
                </a:r>
                <a14:m>
                  <m:oMath xmlns:m="http://schemas.openxmlformats.org/officeDocument/2006/math">
                    <m:d>
                      <m:dPr>
                        <m:begChr m:val="|"/>
                        <m:endChr m:val="|"/>
                        <m:ctrlPr>
                          <a:rPr lang="en-US" altLang="en-US" i="1">
                            <a:latin typeface="Cambria Math" panose="02040503050406030204" pitchFamily="18" charset="0"/>
                          </a:rPr>
                        </m:ctrlPr>
                      </m:dPr>
                      <m:e>
                        <m:r>
                          <a:rPr lang="en-US" altLang="en-US" i="1">
                            <a:latin typeface="Cambria Math" panose="02040503050406030204" pitchFamily="18" charset="0"/>
                            <a:ea typeface="Cambria Math" panose="02040503050406030204" pitchFamily="18" charset="0"/>
                          </a:rPr>
                          <m:t>∆</m:t>
                        </m:r>
                        <m:acc>
                          <m:accPr>
                            <m:chr m:val="̅"/>
                            <m:ctrlPr>
                              <a:rPr lang="en-US" altLang="en-US" i="1">
                                <a:latin typeface="Cambria Math" panose="02040503050406030204" pitchFamily="18" charset="0"/>
                                <a:ea typeface="Cambria Math" panose="02040503050406030204" pitchFamily="18" charset="0"/>
                              </a:rPr>
                            </m:ctrlPr>
                          </m:accPr>
                          <m:e>
                            <m:r>
                              <a:rPr lang="en-US" altLang="en-US" i="1">
                                <a:latin typeface="Cambria Math" panose="02040503050406030204" pitchFamily="18" charset="0"/>
                                <a:ea typeface="Cambria Math" panose="02040503050406030204" pitchFamily="18" charset="0"/>
                              </a:rPr>
                              <m:t>𝑟</m:t>
                            </m:r>
                          </m:e>
                        </m:acc>
                      </m:e>
                    </m:d>
                  </m:oMath>
                </a14:m>
                <a:r>
                  <a:rPr lang="en-US" altLang="en-US" dirty="0"/>
                  <a:t> </a:t>
                </a:r>
                <a:r>
                  <a:rPr lang="ru-RU" altLang="en-US" dirty="0"/>
                  <a:t>равно пути </a:t>
                </a:r>
                <a:r>
                  <a:rPr lang="ru-RU" altLang="en-US" dirty="0">
                    <a:sym typeface="Symbol" panose="05050102010706020507" pitchFamily="18" charset="2"/>
                  </a:rPr>
                  <a:t></a:t>
                </a:r>
                <a:r>
                  <a:rPr lang="en-US" altLang="en-US" i="1" dirty="0"/>
                  <a:t>S</a:t>
                </a:r>
                <a:r>
                  <a:rPr lang="ru-RU" altLang="en-US" dirty="0">
                    <a:sym typeface="Symbol" panose="05050102010706020507" pitchFamily="18" charset="2"/>
                  </a:rPr>
                  <a:t>.</a:t>
                </a:r>
              </a:p>
            </p:txBody>
          </p:sp>
        </mc:Choice>
        <mc:Fallback xmlns="">
          <p:sp>
            <p:nvSpPr>
              <p:cNvPr id="10" name="Текст 9">
                <a:extLst>
                  <a:ext uri="{FF2B5EF4-FFF2-40B4-BE49-F238E27FC236}">
                    <a16:creationId xmlns="" xmlns:a16="http://schemas.microsoft.com/office/drawing/2014/main"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42389" y="1028406"/>
                <a:ext cx="10853796" cy="5127067"/>
              </a:xfrm>
              <a:blipFill rotWithShape="1">
                <a:blip r:embed="rId3"/>
                <a:stretch>
                  <a:fillRect l="-899" t="-1546" r="-393"/>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spTree>
    <p:extLst>
      <p:ext uri="{BB962C8B-B14F-4D97-AF65-F5344CB8AC3E}">
        <p14:creationId xmlns:p14="http://schemas.microsoft.com/office/powerpoint/2010/main" val="165074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42389" y="1028407"/>
                <a:ext cx="10872382" cy="1714794"/>
              </a:xfrm>
            </p:spPr>
            <p:txBody>
              <a:bodyPr/>
              <a:lstStyle/>
              <a:p>
                <a:pPr algn="just"/>
                <a:r>
                  <a:rPr lang="ru-RU" altLang="en-US" dirty="0">
                    <a:sym typeface="Symbol" panose="05050102010706020507" pitchFamily="18" charset="2"/>
                  </a:rPr>
                  <a:t>Пусть за время </a:t>
                </a:r>
                <a:r>
                  <a:rPr lang="en-US" altLang="en-US" i="1" dirty="0"/>
                  <a:t>t</a:t>
                </a:r>
                <a:r>
                  <a:rPr lang="ru-RU" altLang="en-US" dirty="0">
                    <a:sym typeface="Symbol" panose="05050102010706020507" pitchFamily="18" charset="2"/>
                  </a:rPr>
                  <a:t> точка </a:t>
                </a:r>
                <a:r>
                  <a:rPr lang="ru-RU" altLang="en-US" i="1" dirty="0">
                    <a:sym typeface="Symbol" panose="05050102010706020507" pitchFamily="18" charset="2"/>
                  </a:rPr>
                  <a:t>А</a:t>
                </a:r>
                <a:r>
                  <a:rPr lang="ru-RU" altLang="en-US" dirty="0">
                    <a:sym typeface="Symbol" panose="05050102010706020507" pitchFamily="18" charset="2"/>
                  </a:rPr>
                  <a:t> переместилась из точки 1 в точку 2.</a:t>
                </a:r>
              </a:p>
              <a:p>
                <a:pPr algn="just"/>
                <a:endParaRPr lang="ru-RU" altLang="en-US" dirty="0">
                  <a:sym typeface="Symbol" panose="05050102010706020507" pitchFamily="18" charset="2"/>
                </a:endParaRPr>
              </a:p>
              <a:p>
                <a:pPr algn="just"/>
                <a:r>
                  <a:rPr lang="ru-RU" altLang="en-US" b="1" dirty="0">
                    <a:solidFill>
                      <a:schemeClr val="accent5"/>
                    </a:solidFill>
                    <a:sym typeface="Symbol" panose="05050102010706020507" pitchFamily="18" charset="2"/>
                  </a:rPr>
                  <a:t>Вектор перемещения</a:t>
                </a:r>
                <a:r>
                  <a:rPr lang="en-US" altLang="en-US" b="1" dirty="0">
                    <a:solidFill>
                      <a:schemeClr val="accent5"/>
                    </a:solidFill>
                    <a:sym typeface="Symbol" panose="05050102010706020507" pitchFamily="18" charset="2"/>
                  </a:rPr>
                  <a:t> </a:t>
                </a:r>
                <a14:m>
                  <m:oMath xmlns:m="http://schemas.openxmlformats.org/officeDocument/2006/math">
                    <m:r>
                      <a:rPr lang="en-US" altLang="en-US" b="1">
                        <a:solidFill>
                          <a:schemeClr val="accent5"/>
                        </a:solidFill>
                        <a:latin typeface="Cambria Math" panose="02040503050406030204" pitchFamily="18" charset="0"/>
                      </a:rPr>
                      <m:t>∆</m:t>
                    </m:r>
                    <m:acc>
                      <m:accPr>
                        <m:chr m:val="⃗"/>
                        <m:ctrlPr>
                          <a:rPr lang="en-US" altLang="en-US" b="1" i="1" smtClean="0">
                            <a:solidFill>
                              <a:schemeClr val="accent5"/>
                            </a:solidFill>
                            <a:latin typeface="Cambria Math" panose="02040503050406030204" pitchFamily="18" charset="0"/>
                          </a:rPr>
                        </m:ctrlPr>
                      </m:accPr>
                      <m:e>
                        <m:r>
                          <a:rPr lang="en-US" altLang="en-US" b="1" i="1" smtClean="0">
                            <a:solidFill>
                              <a:schemeClr val="accent5"/>
                            </a:solidFill>
                            <a:latin typeface="Cambria Math"/>
                          </a:rPr>
                          <m:t>𝒓</m:t>
                        </m:r>
                      </m:e>
                    </m:acc>
                  </m:oMath>
                </a14:m>
                <a:r>
                  <a:rPr lang="ru-RU" altLang="en-US" b="1" dirty="0">
                    <a:solidFill>
                      <a:schemeClr val="accent5"/>
                    </a:solidFill>
                    <a:sym typeface="Symbol" panose="05050102010706020507" pitchFamily="18" charset="2"/>
                  </a:rPr>
                  <a:t> </a:t>
                </a:r>
                <a:r>
                  <a:rPr lang="en-US" altLang="en-US" b="1" dirty="0">
                    <a:solidFill>
                      <a:schemeClr val="accent5"/>
                    </a:solidFill>
                    <a:sym typeface="Symbol" panose="05050102010706020507" pitchFamily="18" charset="2"/>
                  </a:rPr>
                  <a:t> </a:t>
                </a:r>
                <a:r>
                  <a:rPr lang="ru-RU" altLang="en-US" b="1" dirty="0">
                    <a:solidFill>
                      <a:schemeClr val="accent5"/>
                    </a:solidFill>
                    <a:sym typeface="Symbol" panose="05050102010706020507" pitchFamily="18" charset="2"/>
                  </a:rPr>
                  <a:t>есть приращение</a:t>
                </a:r>
                <a14:m>
                  <m:oMath xmlns:m="http://schemas.openxmlformats.org/officeDocument/2006/math">
                    <m:r>
                      <a:rPr lang="en-US" altLang="en-US" b="1">
                        <a:solidFill>
                          <a:schemeClr val="accent5"/>
                        </a:solidFill>
                        <a:latin typeface="Cambria Math" panose="02040503050406030204" pitchFamily="18" charset="0"/>
                      </a:rPr>
                      <m:t> </m:t>
                    </m:r>
                    <m:sSub>
                      <m:sSubPr>
                        <m:ctrlPr>
                          <a:rPr lang="en-US" altLang="en-US" b="1" i="1">
                            <a:solidFill>
                              <a:schemeClr val="accent5"/>
                            </a:solidFill>
                            <a:latin typeface="Cambria Math" panose="02040503050406030204" pitchFamily="18" charset="0"/>
                          </a:rPr>
                        </m:ctrlPr>
                      </m:sSubPr>
                      <m:e>
                        <m:acc>
                          <m:accPr>
                            <m:chr m:val="̅"/>
                            <m:ctrlPr>
                              <a:rPr lang="en-US" altLang="en-US" b="1" i="1">
                                <a:solidFill>
                                  <a:schemeClr val="accent5"/>
                                </a:solidFill>
                                <a:latin typeface="Cambria Math" panose="02040503050406030204" pitchFamily="18" charset="0"/>
                              </a:rPr>
                            </m:ctrlPr>
                          </m:accPr>
                          <m:e>
                            <m:r>
                              <a:rPr lang="en-US" altLang="en-US" b="1">
                                <a:solidFill>
                                  <a:schemeClr val="accent5"/>
                                </a:solidFill>
                                <a:latin typeface="Cambria Math" panose="02040503050406030204" pitchFamily="18" charset="0"/>
                              </a:rPr>
                              <m:t>𝑟</m:t>
                            </m:r>
                          </m:e>
                        </m:acc>
                      </m:e>
                      <m:sub>
                        <m:r>
                          <a:rPr lang="en-US" altLang="en-US" b="1">
                            <a:solidFill>
                              <a:schemeClr val="accent5"/>
                            </a:solidFill>
                            <a:latin typeface="Cambria Math" panose="02040503050406030204" pitchFamily="18" charset="0"/>
                          </a:rPr>
                          <m:t>1</m:t>
                        </m:r>
                      </m:sub>
                    </m:sSub>
                  </m:oMath>
                </a14:m>
                <a:r>
                  <a:rPr lang="en-US" altLang="en-US" b="1" dirty="0">
                    <a:solidFill>
                      <a:schemeClr val="accent5"/>
                    </a:solidFill>
                    <a:sym typeface="Symbol" panose="05050102010706020507" pitchFamily="18" charset="2"/>
                  </a:rPr>
                  <a:t> </a:t>
                </a:r>
                <a:r>
                  <a:rPr lang="ru-RU" altLang="en-US" b="1" dirty="0">
                    <a:solidFill>
                      <a:schemeClr val="accent5"/>
                    </a:solidFill>
                    <a:sym typeface="Symbol" panose="05050102010706020507" pitchFamily="18" charset="2"/>
                  </a:rPr>
                  <a:t>за время </a:t>
                </a:r>
                <a:r>
                  <a:rPr lang="en-US" altLang="en-US" b="1" dirty="0">
                    <a:solidFill>
                      <a:schemeClr val="accent5"/>
                    </a:solidFill>
                  </a:rPr>
                  <a:t>t</a:t>
                </a:r>
              </a:p>
            </p:txBody>
          </p:sp>
        </mc:Choice>
        <mc:Fallback xmlns="">
          <p:sp>
            <p:nvSpPr>
              <p:cNvPr id="10" name="Текст 9">
                <a:extLst>
                  <a:ext uri="{FF2B5EF4-FFF2-40B4-BE49-F238E27FC236}">
                    <a16:creationId xmlns:a16="http://schemas.microsoft.com/office/drawing/2014/main" xmlns=""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42389" y="1028407"/>
                <a:ext cx="10872382" cy="1714794"/>
              </a:xfrm>
              <a:blipFill rotWithShape="1">
                <a:blip r:embed="rId4"/>
                <a:stretch>
                  <a:fillRect l="-897" t="-5338"/>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graphicFrame>
        <p:nvGraphicFramePr>
          <p:cNvPr id="5" name="Object 18">
            <a:extLst>
              <a:ext uri="{FF2B5EF4-FFF2-40B4-BE49-F238E27FC236}">
                <a16:creationId xmlns:a16="http://schemas.microsoft.com/office/drawing/2014/main" id="{3ABD87EB-AFDC-4FBF-BA3C-EAE609BB9EDB}"/>
              </a:ext>
            </a:extLst>
          </p:cNvPr>
          <p:cNvGraphicFramePr>
            <a:graphicFrameLocks noChangeAspect="1"/>
          </p:cNvGraphicFramePr>
          <p:nvPr>
            <p:extLst>
              <p:ext uri="{D42A27DB-BD31-4B8C-83A1-F6EECF244321}">
                <p14:modId xmlns:p14="http://schemas.microsoft.com/office/powerpoint/2010/main" val="2144338202"/>
              </p:ext>
            </p:extLst>
          </p:nvPr>
        </p:nvGraphicFramePr>
        <p:xfrm>
          <a:off x="2803217" y="2694033"/>
          <a:ext cx="7257420" cy="675458"/>
        </p:xfrm>
        <a:graphic>
          <a:graphicData uri="http://schemas.openxmlformats.org/presentationml/2006/ole">
            <mc:AlternateContent xmlns:mc="http://schemas.openxmlformats.org/markup-compatibility/2006">
              <mc:Choice xmlns:v="urn:schemas-microsoft-com:vml" Requires="v">
                <p:oleObj spid="_x0000_s5335" name="Equation" r:id="rId5" imgW="5562360" imgH="431640" progId="Equation.DSMT4">
                  <p:embed/>
                </p:oleObj>
              </mc:Choice>
              <mc:Fallback>
                <p:oleObj name="Equation" r:id="rId5" imgW="5562360" imgH="431640" progId="Equation.DSMT4">
                  <p:embed/>
                  <p:pic>
                    <p:nvPicPr>
                      <p:cNvPr id="7172" name="Object 18">
                        <a:extLst>
                          <a:ext uri="{FF2B5EF4-FFF2-40B4-BE49-F238E27FC236}">
                            <a16:creationId xmlns:a16="http://schemas.microsoft.com/office/drawing/2014/main" id="{978DDBFC-5721-4F50-8B2B-1A94498F106A}"/>
                          </a:ext>
                        </a:extLst>
                      </p:cNvPr>
                      <p:cNvPicPr>
                        <a:picLocks noChangeAspect="1" noChangeArrowheads="1"/>
                      </p:cNvPicPr>
                      <p:nvPr/>
                    </p:nvPicPr>
                    <p:blipFill>
                      <a:blip r:embed="rId6"/>
                      <a:srcRect/>
                      <a:stretch>
                        <a:fillRect/>
                      </a:stretch>
                    </p:blipFill>
                    <p:spPr bwMode="auto">
                      <a:xfrm>
                        <a:off x="2803217" y="2694033"/>
                        <a:ext cx="7257420" cy="675458"/>
                      </a:xfrm>
                      <a:prstGeom prst="rect">
                        <a:avLst/>
                      </a:prstGeom>
                      <a:noFill/>
                    </p:spPr>
                  </p:pic>
                </p:oleObj>
              </mc:Fallback>
            </mc:AlternateContent>
          </a:graphicData>
        </a:graphic>
      </p:graphicFrame>
      <p:graphicFrame>
        <p:nvGraphicFramePr>
          <p:cNvPr id="6" name="Object 21">
            <a:extLst>
              <a:ext uri="{FF2B5EF4-FFF2-40B4-BE49-F238E27FC236}">
                <a16:creationId xmlns:a16="http://schemas.microsoft.com/office/drawing/2014/main" id="{36EE5F85-6F18-46A6-ABFF-F339BE4CF7EF}"/>
              </a:ext>
            </a:extLst>
          </p:cNvPr>
          <p:cNvGraphicFramePr>
            <a:graphicFrameLocks noChangeAspect="1"/>
          </p:cNvGraphicFramePr>
          <p:nvPr>
            <p:extLst>
              <p:ext uri="{D42A27DB-BD31-4B8C-83A1-F6EECF244321}">
                <p14:modId xmlns:p14="http://schemas.microsoft.com/office/powerpoint/2010/main" val="2576352798"/>
              </p:ext>
            </p:extLst>
          </p:nvPr>
        </p:nvGraphicFramePr>
        <p:xfrm>
          <a:off x="3692424" y="4013662"/>
          <a:ext cx="4117834" cy="549543"/>
        </p:xfrm>
        <a:graphic>
          <a:graphicData uri="http://schemas.openxmlformats.org/presentationml/2006/ole">
            <mc:AlternateContent xmlns:mc="http://schemas.openxmlformats.org/markup-compatibility/2006">
              <mc:Choice xmlns:v="urn:schemas-microsoft-com:vml" Requires="v">
                <p:oleObj spid="_x0000_s5336" name="Equation" r:id="rId7" imgW="2628720" imgH="355320" progId="Equation.DSMT4">
                  <p:embed/>
                </p:oleObj>
              </mc:Choice>
              <mc:Fallback>
                <p:oleObj name="Equation" r:id="rId7" imgW="2628720" imgH="355320" progId="Equation.DSMT4">
                  <p:embed/>
                  <p:pic>
                    <p:nvPicPr>
                      <p:cNvPr id="7173" name="Object 21">
                        <a:extLst>
                          <a:ext uri="{FF2B5EF4-FFF2-40B4-BE49-F238E27FC236}">
                            <a16:creationId xmlns:a16="http://schemas.microsoft.com/office/drawing/2014/main" id="{C0F2E7D1-D854-4EEF-B00E-CD51AB3894DB}"/>
                          </a:ext>
                        </a:extLst>
                      </p:cNvPr>
                      <p:cNvPicPr>
                        <a:picLocks noChangeAspect="1" noChangeArrowheads="1"/>
                      </p:cNvPicPr>
                      <p:nvPr/>
                    </p:nvPicPr>
                    <p:blipFill>
                      <a:blip r:embed="rId8"/>
                      <a:srcRect/>
                      <a:stretch>
                        <a:fillRect/>
                      </a:stretch>
                    </p:blipFill>
                    <p:spPr bwMode="auto">
                      <a:xfrm>
                        <a:off x="3692424" y="4013662"/>
                        <a:ext cx="4117834" cy="549543"/>
                      </a:xfrm>
                      <a:prstGeom prst="rect">
                        <a:avLst/>
                      </a:prstGeom>
                      <a:noFill/>
                    </p:spPr>
                  </p:pic>
                </p:oleObj>
              </mc:Fallback>
            </mc:AlternateContent>
          </a:graphicData>
        </a:graphic>
      </p:graphicFrame>
      <p:graphicFrame>
        <p:nvGraphicFramePr>
          <p:cNvPr id="7" name="Object 24">
            <a:extLst>
              <a:ext uri="{FF2B5EF4-FFF2-40B4-BE49-F238E27FC236}">
                <a16:creationId xmlns:a16="http://schemas.microsoft.com/office/drawing/2014/main" id="{18B10352-BAB4-495C-A3F8-969D4180ADD7}"/>
              </a:ext>
            </a:extLst>
          </p:cNvPr>
          <p:cNvGraphicFramePr>
            <a:graphicFrameLocks noChangeAspect="1"/>
          </p:cNvGraphicFramePr>
          <p:nvPr>
            <p:extLst>
              <p:ext uri="{D42A27DB-BD31-4B8C-83A1-F6EECF244321}">
                <p14:modId xmlns:p14="http://schemas.microsoft.com/office/powerpoint/2010/main" val="3832917620"/>
              </p:ext>
            </p:extLst>
          </p:nvPr>
        </p:nvGraphicFramePr>
        <p:xfrm>
          <a:off x="3762413" y="5072107"/>
          <a:ext cx="4050053" cy="682205"/>
        </p:xfrm>
        <a:graphic>
          <a:graphicData uri="http://schemas.openxmlformats.org/presentationml/2006/ole">
            <mc:AlternateContent xmlns:mc="http://schemas.openxmlformats.org/markup-compatibility/2006">
              <mc:Choice xmlns:v="urn:schemas-microsoft-com:vml" Requires="v">
                <p:oleObj spid="_x0000_s5337" name="Equation" r:id="rId9" imgW="2984400" imgH="507960" progId="Equation.DSMT4">
                  <p:embed/>
                </p:oleObj>
              </mc:Choice>
              <mc:Fallback>
                <p:oleObj name="Equation" r:id="rId9" imgW="2984400" imgH="507960" progId="Equation.DSMT4">
                  <p:embed/>
                  <p:pic>
                    <p:nvPicPr>
                      <p:cNvPr id="7174" name="Object 24">
                        <a:extLst>
                          <a:ext uri="{FF2B5EF4-FFF2-40B4-BE49-F238E27FC236}">
                            <a16:creationId xmlns:a16="http://schemas.microsoft.com/office/drawing/2014/main" id="{0E4DAB37-F869-4C4E-AF47-50A5DEDE61A4}"/>
                          </a:ext>
                        </a:extLst>
                      </p:cNvPr>
                      <p:cNvPicPr>
                        <a:picLocks noChangeAspect="1" noChangeArrowheads="1"/>
                      </p:cNvPicPr>
                      <p:nvPr/>
                    </p:nvPicPr>
                    <p:blipFill>
                      <a:blip r:embed="rId10"/>
                      <a:srcRect/>
                      <a:stretch>
                        <a:fillRect/>
                      </a:stretch>
                    </p:blipFill>
                    <p:spPr bwMode="auto">
                      <a:xfrm>
                        <a:off x="3762413" y="5072107"/>
                        <a:ext cx="4050053" cy="682205"/>
                      </a:xfrm>
                      <a:prstGeom prst="rect">
                        <a:avLst/>
                      </a:prstGeom>
                      <a:noFill/>
                    </p:spPr>
                  </p:pic>
                </p:oleObj>
              </mc:Fallback>
            </mc:AlternateContent>
          </a:graphicData>
        </a:graphic>
      </p:graphicFrame>
      <p:sp>
        <p:nvSpPr>
          <p:cNvPr id="8" name="TextBox 7">
            <a:extLst>
              <a:ext uri="{FF2B5EF4-FFF2-40B4-BE49-F238E27FC236}">
                <a16:creationId xmlns:a16="http://schemas.microsoft.com/office/drawing/2014/main" id="{4E747D45-A9E0-42C7-B64C-C1BA16F31CCE}"/>
              </a:ext>
            </a:extLst>
          </p:cNvPr>
          <p:cNvSpPr txBox="1"/>
          <p:nvPr/>
        </p:nvSpPr>
        <p:spPr>
          <a:xfrm>
            <a:off x="10944921" y="3000666"/>
            <a:ext cx="563137" cy="369332"/>
          </a:xfrm>
          <a:prstGeom prst="rect">
            <a:avLst/>
          </a:prstGeom>
          <a:noFill/>
        </p:spPr>
        <p:txBody>
          <a:bodyPr wrap="square">
            <a:spAutoFit/>
          </a:bodyPr>
          <a:lstStyle/>
          <a:p>
            <a:r>
              <a:rPr lang="ru-RU" altLang="en-US" b="1" dirty="0">
                <a:cs typeface="Times New Roman" panose="02020603050405020304" pitchFamily="18" charset="0"/>
              </a:rPr>
              <a:t>(3</a:t>
            </a:r>
            <a:r>
              <a:rPr lang="ru-RU" b="1" dirty="0">
                <a:cs typeface="Times New Roman" panose="02020603050405020304" pitchFamily="18" charset="0"/>
              </a:rPr>
              <a:t>)</a:t>
            </a:r>
            <a:endParaRPr lang="en-US" dirty="0"/>
          </a:p>
        </p:txBody>
      </p:sp>
      <p:sp>
        <p:nvSpPr>
          <p:cNvPr id="11" name="TextBox 10">
            <a:extLst>
              <a:ext uri="{FF2B5EF4-FFF2-40B4-BE49-F238E27FC236}">
                <a16:creationId xmlns:a16="http://schemas.microsoft.com/office/drawing/2014/main" id="{41A24E59-2921-42CE-A75A-CC1DB4BC56B0}"/>
              </a:ext>
            </a:extLst>
          </p:cNvPr>
          <p:cNvSpPr txBox="1"/>
          <p:nvPr/>
        </p:nvSpPr>
        <p:spPr>
          <a:xfrm>
            <a:off x="10944921" y="4139226"/>
            <a:ext cx="563137" cy="369332"/>
          </a:xfrm>
          <a:prstGeom prst="rect">
            <a:avLst/>
          </a:prstGeom>
          <a:noFill/>
        </p:spPr>
        <p:txBody>
          <a:bodyPr wrap="square">
            <a:spAutoFit/>
          </a:bodyPr>
          <a:lstStyle/>
          <a:p>
            <a:r>
              <a:rPr lang="ru-RU" b="1" dirty="0">
                <a:cs typeface="Times New Roman" panose="02020603050405020304" pitchFamily="18" charset="0"/>
              </a:rPr>
              <a:t>(4)</a:t>
            </a:r>
            <a:endParaRPr lang="en-US" dirty="0"/>
          </a:p>
        </p:txBody>
      </p:sp>
      <p:sp>
        <p:nvSpPr>
          <p:cNvPr id="12" name="TextBox 11">
            <a:extLst>
              <a:ext uri="{FF2B5EF4-FFF2-40B4-BE49-F238E27FC236}">
                <a16:creationId xmlns:a16="http://schemas.microsoft.com/office/drawing/2014/main" id="{FF144DDE-F7A5-4D96-A6CA-0DC85FCE68D2}"/>
              </a:ext>
            </a:extLst>
          </p:cNvPr>
          <p:cNvSpPr txBox="1"/>
          <p:nvPr/>
        </p:nvSpPr>
        <p:spPr>
          <a:xfrm>
            <a:off x="10944921" y="5303438"/>
            <a:ext cx="518532" cy="369332"/>
          </a:xfrm>
          <a:prstGeom prst="rect">
            <a:avLst/>
          </a:prstGeom>
          <a:noFill/>
        </p:spPr>
        <p:txBody>
          <a:bodyPr wrap="square">
            <a:spAutoFit/>
          </a:bodyPr>
          <a:lstStyle/>
          <a:p>
            <a:r>
              <a:rPr lang="ru-RU" b="1" dirty="0">
                <a:cs typeface="Times New Roman" panose="02020603050405020304" pitchFamily="18" charset="0"/>
              </a:rPr>
              <a:t>(5)</a:t>
            </a:r>
            <a:endParaRPr lang="en-US" dirty="0"/>
          </a:p>
        </p:txBody>
      </p:sp>
    </p:spTree>
    <p:extLst>
      <p:ext uri="{BB962C8B-B14F-4D97-AF65-F5344CB8AC3E}">
        <p14:creationId xmlns:p14="http://schemas.microsoft.com/office/powerpoint/2010/main" val="2204444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6"/>
            <a:ext cx="11229975" cy="1423509"/>
          </a:xfrm>
        </p:spPr>
        <p:txBody>
          <a:bodyPr/>
          <a:lstStyle/>
          <a:p>
            <a:r>
              <a:rPr lang="ru-RU" dirty="0"/>
              <a:t>Скорость</a:t>
            </a:r>
          </a:p>
        </p:txBody>
      </p:sp>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572583" y="2193450"/>
                <a:ext cx="5965981" cy="3127375"/>
              </a:xfrm>
            </p:spPr>
            <p:txBody>
              <a:bodyPr/>
              <a:lstStyle/>
              <a:p>
                <a:r>
                  <a:rPr lang="ru-RU" altLang="en-US" b="1" dirty="0">
                    <a:solidFill>
                      <a:schemeClr val="accent5"/>
                    </a:solidFill>
                  </a:rPr>
                  <a:t>Средний вектор</a:t>
                </a:r>
                <a:r>
                  <a:rPr lang="en-US" altLang="en-US" b="1" dirty="0">
                    <a:solidFill>
                      <a:schemeClr val="accent5"/>
                    </a:solidFill>
                  </a:rPr>
                  <a:t> </a:t>
                </a:r>
                <a:r>
                  <a:rPr lang="ru-RU" altLang="en-US" b="1" dirty="0">
                    <a:solidFill>
                      <a:schemeClr val="accent5"/>
                    </a:solidFill>
                  </a:rPr>
                  <a:t>скорости </a:t>
                </a:r>
                <a:r>
                  <a:rPr lang="ru-RU" altLang="en-US" sz="2400" dirty="0"/>
                  <a:t>определяется как отношение вектора перемещения </a:t>
                </a:r>
                <a14:m>
                  <m:oMath xmlns:m="http://schemas.openxmlformats.org/officeDocument/2006/math">
                    <m:r>
                      <a:rPr lang="en-US" altLang="en-US" sz="2400" i="1">
                        <a:latin typeface="Cambria Math" panose="02040503050406030204" pitchFamily="18" charset="0"/>
                        <a:ea typeface="Cambria Math" panose="02040503050406030204" pitchFamily="18" charset="0"/>
                      </a:rPr>
                      <m:t>∆</m:t>
                    </m:r>
                    <m:acc>
                      <m:accPr>
                        <m:chr m:val="̅"/>
                        <m:ctrlPr>
                          <a:rPr lang="en-US" altLang="en-US" sz="2400" i="1">
                            <a:latin typeface="Cambria Math" panose="02040503050406030204" pitchFamily="18" charset="0"/>
                            <a:ea typeface="Cambria Math" panose="02040503050406030204" pitchFamily="18" charset="0"/>
                          </a:rPr>
                        </m:ctrlPr>
                      </m:accPr>
                      <m:e>
                        <m:r>
                          <a:rPr lang="en-US" altLang="en-US" sz="2400" i="1">
                            <a:latin typeface="Cambria Math" panose="02040503050406030204" pitchFamily="18" charset="0"/>
                            <a:ea typeface="Cambria Math" panose="02040503050406030204" pitchFamily="18" charset="0"/>
                          </a:rPr>
                          <m:t>𝑟</m:t>
                        </m:r>
                      </m:e>
                    </m:acc>
                  </m:oMath>
                </a14:m>
                <a:r>
                  <a:rPr lang="ru-RU" altLang="en-US" sz="2400" dirty="0"/>
                  <a:t> ко </a:t>
                </a:r>
                <a:r>
                  <a:rPr lang="en-US" altLang="en-US" sz="2400" dirty="0"/>
                  <a:t>   </a:t>
                </a:r>
                <a:r>
                  <a:rPr lang="ru-RU" altLang="en-US" sz="2400" dirty="0"/>
                  <a:t>времени</a:t>
                </a:r>
                <a:r>
                  <a:rPr lang="en-US" altLang="en-US" sz="2400" dirty="0"/>
                  <a:t> </a:t>
                </a:r>
                <a:r>
                  <a:rPr lang="ru-RU" altLang="en-US" sz="2400" dirty="0">
                    <a:sym typeface="Symbol" panose="05050102010706020507" pitchFamily="18" charset="2"/>
                  </a:rPr>
                  <a:t></a:t>
                </a:r>
                <a:r>
                  <a:rPr lang="en-US" altLang="en-US" sz="2400" i="1" dirty="0"/>
                  <a:t>t</a:t>
                </a:r>
                <a:r>
                  <a:rPr lang="ru-RU" altLang="en-US" sz="2400" i="1" dirty="0">
                    <a:sym typeface="Symbol" panose="05050102010706020507" pitchFamily="18" charset="2"/>
                  </a:rPr>
                  <a:t>,</a:t>
                </a:r>
                <a:r>
                  <a:rPr lang="en-US" altLang="en-US" sz="2400" i="1" dirty="0">
                    <a:sym typeface="Symbol" panose="05050102010706020507" pitchFamily="18" charset="2"/>
                  </a:rPr>
                  <a:t> </a:t>
                </a:r>
                <a:r>
                  <a:rPr lang="ru-RU" altLang="en-US" sz="2400" dirty="0">
                    <a:sym typeface="Symbol" panose="05050102010706020507" pitchFamily="18" charset="2"/>
                  </a:rPr>
                  <a:t>за</a:t>
                </a:r>
                <a:r>
                  <a:rPr lang="en-US" altLang="en-US" sz="2400" dirty="0">
                    <a:sym typeface="Symbol" panose="05050102010706020507" pitchFamily="18" charset="2"/>
                  </a:rPr>
                  <a:t> </a:t>
                </a:r>
                <a:r>
                  <a:rPr lang="ru-RU" altLang="en-US" sz="2400" dirty="0">
                    <a:sym typeface="Symbol" panose="05050102010706020507" pitchFamily="18" charset="2"/>
                  </a:rPr>
                  <a:t>которое это перемещение произошло</a:t>
                </a:r>
                <a:r>
                  <a:rPr lang="ru-RU" altLang="en-US" sz="2000" dirty="0">
                    <a:sym typeface="Symbol" panose="05050102010706020507" pitchFamily="18" charset="2"/>
                  </a:rPr>
                  <a:t>:</a:t>
                </a:r>
                <a:endParaRPr lang="en-US" altLang="en-US" sz="2000" dirty="0">
                  <a:sym typeface="Symbol" panose="05050102010706020507" pitchFamily="18" charset="2"/>
                </a:endParaRPr>
              </a:p>
            </p:txBody>
          </p:sp>
        </mc:Choice>
        <mc:Fallback xmlns="">
          <p:sp>
            <p:nvSpPr>
              <p:cNvPr id="10" name="Текст 9">
                <a:extLst>
                  <a:ext uri="{FF2B5EF4-FFF2-40B4-BE49-F238E27FC236}">
                    <a16:creationId xmlns:a16="http://schemas.microsoft.com/office/drawing/2014/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572583" y="2193450"/>
                <a:ext cx="5965981" cy="3127375"/>
              </a:xfrm>
              <a:blipFill>
                <a:blip r:embed="rId4"/>
                <a:stretch>
                  <a:fillRect l="-1634" t="-2534"/>
                </a:stretch>
              </a:blipFill>
            </p:spPr>
            <p:txBody>
              <a:bodyPr/>
              <a:lstStyle/>
              <a:p>
                <a:r>
                  <a:rPr lang="en-US">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pic>
        <p:nvPicPr>
          <p:cNvPr id="3" name="Picture 2">
            <a:extLst>
              <a:ext uri="{FF2B5EF4-FFF2-40B4-BE49-F238E27FC236}">
                <a16:creationId xmlns:a16="http://schemas.microsoft.com/office/drawing/2014/main" id="{3677DD8F-396D-427C-AE22-0762FB7F1AA2}"/>
              </a:ext>
            </a:extLst>
          </p:cNvPr>
          <p:cNvPicPr>
            <a:picLocks noChangeAspect="1"/>
          </p:cNvPicPr>
          <p:nvPr/>
        </p:nvPicPr>
        <p:blipFill>
          <a:blip r:embed="rId5">
            <a:extLst>
              <a:ext uri="{BEBA8EAE-BF5A-486C-A8C5-ECC9F3942E4B}">
                <a14:imgProps xmlns:a14="http://schemas.microsoft.com/office/drawing/2010/main">
                  <a14:imgLayer r:embed="rId6">
                    <a14:imgEffect>
                      <a14:saturation sat="33000"/>
                    </a14:imgEffect>
                  </a14:imgLayer>
                </a14:imgProps>
              </a:ext>
            </a:extLst>
          </a:blip>
          <a:stretch>
            <a:fillRect/>
          </a:stretch>
        </p:blipFill>
        <p:spPr>
          <a:xfrm>
            <a:off x="6445252" y="2193450"/>
            <a:ext cx="5398662" cy="3633356"/>
          </a:xfrm>
          <a:prstGeom prst="rect">
            <a:avLst/>
          </a:prstGeom>
        </p:spPr>
      </p:pic>
      <p:graphicFrame>
        <p:nvGraphicFramePr>
          <p:cNvPr id="2" name="Object 1">
            <a:extLst>
              <a:ext uri="{FF2B5EF4-FFF2-40B4-BE49-F238E27FC236}">
                <a16:creationId xmlns:a16="http://schemas.microsoft.com/office/drawing/2014/main" id="{68F261F5-C041-4061-A010-0DA70C3C5BF3}"/>
              </a:ext>
            </a:extLst>
          </p:cNvPr>
          <p:cNvGraphicFramePr>
            <a:graphicFrameLocks noChangeAspect="1"/>
          </p:cNvGraphicFramePr>
          <p:nvPr>
            <p:extLst>
              <p:ext uri="{D42A27DB-BD31-4B8C-83A1-F6EECF244321}">
                <p14:modId xmlns:p14="http://schemas.microsoft.com/office/powerpoint/2010/main" val="2105821811"/>
              </p:ext>
            </p:extLst>
          </p:nvPr>
        </p:nvGraphicFramePr>
        <p:xfrm>
          <a:off x="1824977" y="4305359"/>
          <a:ext cx="2302450" cy="1259831"/>
        </p:xfrm>
        <a:graphic>
          <a:graphicData uri="http://schemas.openxmlformats.org/presentationml/2006/ole">
            <mc:AlternateContent xmlns:mc="http://schemas.openxmlformats.org/markup-compatibility/2006">
              <mc:Choice xmlns:v="urn:schemas-microsoft-com:vml" Requires="v">
                <p:oleObj spid="_x0000_s6216" name="Equation" r:id="rId7" imgW="1346040" imgH="736560" progId="Equation.DSMT4">
                  <p:embed/>
                </p:oleObj>
              </mc:Choice>
              <mc:Fallback>
                <p:oleObj name="Equation" r:id="rId7" imgW="1346040" imgH="736560" progId="Equation.DSMT4">
                  <p:embed/>
                  <p:pic>
                    <p:nvPicPr>
                      <p:cNvPr id="0" name=""/>
                      <p:cNvPicPr/>
                      <p:nvPr/>
                    </p:nvPicPr>
                    <p:blipFill>
                      <a:blip r:embed="rId8"/>
                      <a:stretch>
                        <a:fillRect/>
                      </a:stretch>
                    </p:blipFill>
                    <p:spPr>
                      <a:xfrm>
                        <a:off x="1824977" y="4305359"/>
                        <a:ext cx="2302450" cy="1259831"/>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55127338-3336-4A20-B810-F56686B37B53}"/>
              </a:ext>
            </a:extLst>
          </p:cNvPr>
          <p:cNvSpPr txBox="1"/>
          <p:nvPr/>
        </p:nvSpPr>
        <p:spPr>
          <a:xfrm>
            <a:off x="5228217" y="4750609"/>
            <a:ext cx="518532" cy="369332"/>
          </a:xfrm>
          <a:prstGeom prst="rect">
            <a:avLst/>
          </a:prstGeom>
          <a:noFill/>
        </p:spPr>
        <p:txBody>
          <a:bodyPr wrap="square">
            <a:spAutoFit/>
          </a:bodyPr>
          <a:lstStyle/>
          <a:p>
            <a:r>
              <a:rPr lang="ru-RU" b="1" dirty="0">
                <a:cs typeface="Times New Roman" panose="02020603050405020304" pitchFamily="18" charset="0"/>
              </a:rPr>
              <a:t>(6)</a:t>
            </a:r>
            <a:endParaRPr lang="en-US" dirty="0"/>
          </a:p>
        </p:txBody>
      </p:sp>
    </p:spTree>
    <p:extLst>
      <p:ext uri="{BB962C8B-B14F-4D97-AF65-F5344CB8AC3E}">
        <p14:creationId xmlns:p14="http://schemas.microsoft.com/office/powerpoint/2010/main" val="3078300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6"/>
            <a:ext cx="11229975" cy="1423509"/>
          </a:xfrm>
        </p:spPr>
        <p:txBody>
          <a:bodyPr/>
          <a:lstStyle/>
          <a:p>
            <a:r>
              <a:rPr lang="ru-RU" dirty="0"/>
              <a:t>Мгновенная скорость</a:t>
            </a:r>
          </a:p>
        </p:txBody>
      </p:sp>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347933" y="1919554"/>
            <a:ext cx="6335365" cy="4481246"/>
          </a:xfrm>
        </p:spPr>
        <p:txBody>
          <a:bodyPr/>
          <a:lstStyle/>
          <a:p>
            <a:r>
              <a:rPr lang="ru-RU" altLang="en-US" b="1" dirty="0">
                <a:solidFill>
                  <a:schemeClr val="accent5"/>
                </a:solidFill>
                <a:sym typeface="Symbol" panose="05050102010706020507" pitchFamily="18" charset="2"/>
              </a:rPr>
              <a:t>Мгновенная скорость</a:t>
            </a:r>
            <a:r>
              <a:rPr lang="en-US" altLang="en-US" b="1" dirty="0">
                <a:solidFill>
                  <a:schemeClr val="accent5"/>
                </a:solidFill>
                <a:sym typeface="Symbol" panose="05050102010706020507" pitchFamily="18" charset="2"/>
              </a:rPr>
              <a:t> </a:t>
            </a:r>
            <a:r>
              <a:rPr lang="ru-RU" altLang="en-US" b="1" i="1" dirty="0">
                <a:sym typeface="Symbol" panose="05050102010706020507" pitchFamily="18" charset="2"/>
              </a:rPr>
              <a:t>-</a:t>
            </a:r>
            <a:r>
              <a:rPr lang="en-US" altLang="en-US" b="1" i="1" dirty="0">
                <a:sym typeface="Symbol" panose="05050102010706020507" pitchFamily="18" charset="2"/>
              </a:rPr>
              <a:t> </a:t>
            </a:r>
            <a:r>
              <a:rPr lang="ru-RU" altLang="en-US" i="1" dirty="0">
                <a:sym typeface="Symbol" panose="05050102010706020507" pitchFamily="18" charset="2"/>
              </a:rPr>
              <a:t>это вектор, который указывает направление и величину скорости точки А в данный момент времени. </a:t>
            </a:r>
            <a:r>
              <a:rPr lang="ru-RU" altLang="en-US" dirty="0">
                <a:sym typeface="Symbol" panose="05050102010706020507" pitchFamily="18" charset="2"/>
              </a:rPr>
              <a:t>Он определяется как первая производная по времени и направлен по касательной к траектории точки А в данной точке, в сторону движения</a:t>
            </a:r>
            <a:r>
              <a:rPr lang="ru-RU" altLang="en-US" i="1" dirty="0">
                <a:sym typeface="Symbol" panose="05050102010706020507" pitchFamily="18" charset="2"/>
              </a:rPr>
              <a:t>.</a:t>
            </a:r>
          </a:p>
        </p:txBody>
      </p:sp>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pic>
        <p:nvPicPr>
          <p:cNvPr id="3" name="Picture 2">
            <a:extLst>
              <a:ext uri="{FF2B5EF4-FFF2-40B4-BE49-F238E27FC236}">
                <a16:creationId xmlns:a16="http://schemas.microsoft.com/office/drawing/2014/main" id="{3677DD8F-396D-427C-AE22-0762FB7F1AA2}"/>
              </a:ext>
            </a:extLst>
          </p:cNvPr>
          <p:cNvPicPr>
            <a:picLocks noChangeAspect="1"/>
          </p:cNvPicPr>
          <p:nvPr/>
        </p:nvPicPr>
        <p:blipFill>
          <a:blip r:embed="rId4">
            <a:extLst>
              <a:ext uri="{BEBA8EAE-BF5A-486C-A8C5-ECC9F3942E4B}">
                <a14:imgProps xmlns:a14="http://schemas.microsoft.com/office/drawing/2010/main">
                  <a14:imgLayer r:embed="rId5">
                    <a14:imgEffect>
                      <a14:saturation sat="33000"/>
                    </a14:imgEffect>
                  </a14:imgLayer>
                </a14:imgProps>
              </a:ext>
            </a:extLst>
          </a:blip>
          <a:stretch>
            <a:fillRect/>
          </a:stretch>
        </p:blipFill>
        <p:spPr>
          <a:xfrm>
            <a:off x="7153846" y="2117735"/>
            <a:ext cx="4894068" cy="3293759"/>
          </a:xfrm>
          <a:prstGeom prst="rect">
            <a:avLst/>
          </a:prstGeom>
        </p:spPr>
      </p:pic>
      <p:sp>
        <p:nvSpPr>
          <p:cNvPr id="9" name="TextBox 8">
            <a:extLst>
              <a:ext uri="{FF2B5EF4-FFF2-40B4-BE49-F238E27FC236}">
                <a16:creationId xmlns:a16="http://schemas.microsoft.com/office/drawing/2014/main" id="{55127338-3336-4A20-B810-F56686B37B53}"/>
              </a:ext>
            </a:extLst>
          </p:cNvPr>
          <p:cNvSpPr txBox="1"/>
          <p:nvPr/>
        </p:nvSpPr>
        <p:spPr>
          <a:xfrm>
            <a:off x="5228722" y="5487209"/>
            <a:ext cx="518532" cy="369332"/>
          </a:xfrm>
          <a:prstGeom prst="rect">
            <a:avLst/>
          </a:prstGeom>
          <a:noFill/>
        </p:spPr>
        <p:txBody>
          <a:bodyPr wrap="square">
            <a:spAutoFit/>
          </a:bodyPr>
          <a:lstStyle/>
          <a:p>
            <a:r>
              <a:rPr lang="ru-RU" b="1" dirty="0">
                <a:cs typeface="Times New Roman" panose="02020603050405020304" pitchFamily="18" charset="0"/>
              </a:rPr>
              <a:t>(7)</a:t>
            </a:r>
            <a:endParaRPr lang="en-US" dirty="0"/>
          </a:p>
        </p:txBody>
      </p:sp>
      <p:graphicFrame>
        <p:nvGraphicFramePr>
          <p:cNvPr id="4" name="Object 3">
            <a:extLst>
              <a:ext uri="{FF2B5EF4-FFF2-40B4-BE49-F238E27FC236}">
                <a16:creationId xmlns:a16="http://schemas.microsoft.com/office/drawing/2014/main" id="{685F8DC0-2B5B-4AE3-A116-460EF2C647A6}"/>
              </a:ext>
            </a:extLst>
          </p:cNvPr>
          <p:cNvGraphicFramePr>
            <a:graphicFrameLocks noChangeAspect="1"/>
          </p:cNvGraphicFramePr>
          <p:nvPr>
            <p:extLst>
              <p:ext uri="{D42A27DB-BD31-4B8C-83A1-F6EECF244321}">
                <p14:modId xmlns:p14="http://schemas.microsoft.com/office/powerpoint/2010/main" val="1933651182"/>
              </p:ext>
            </p:extLst>
          </p:nvPr>
        </p:nvGraphicFramePr>
        <p:xfrm>
          <a:off x="1006615" y="5218338"/>
          <a:ext cx="3002079" cy="1095098"/>
        </p:xfrm>
        <a:graphic>
          <a:graphicData uri="http://schemas.openxmlformats.org/presentationml/2006/ole">
            <mc:AlternateContent xmlns:mc="http://schemas.openxmlformats.org/markup-compatibility/2006">
              <mc:Choice xmlns:v="urn:schemas-microsoft-com:vml" Requires="v">
                <p:oleObj spid="_x0000_s7242" name="Equation" r:id="rId6" imgW="2019240" imgH="736560" progId="Equation.DSMT4">
                  <p:embed/>
                </p:oleObj>
              </mc:Choice>
              <mc:Fallback>
                <p:oleObj name="Equation" r:id="rId6" imgW="2019240" imgH="736560" progId="Equation.DSMT4">
                  <p:embed/>
                  <p:pic>
                    <p:nvPicPr>
                      <p:cNvPr id="0" name=""/>
                      <p:cNvPicPr/>
                      <p:nvPr/>
                    </p:nvPicPr>
                    <p:blipFill>
                      <a:blip r:embed="rId7"/>
                      <a:stretch>
                        <a:fillRect/>
                      </a:stretch>
                    </p:blipFill>
                    <p:spPr>
                      <a:xfrm>
                        <a:off x="1006615" y="5218338"/>
                        <a:ext cx="3002079" cy="1095098"/>
                      </a:xfrm>
                      <a:prstGeom prst="rect">
                        <a:avLst/>
                      </a:prstGeom>
                    </p:spPr>
                  </p:pic>
                </p:oleObj>
              </mc:Fallback>
            </mc:AlternateContent>
          </a:graphicData>
        </a:graphic>
      </p:graphicFrame>
    </p:spTree>
    <p:extLst>
      <p:ext uri="{BB962C8B-B14F-4D97-AF65-F5344CB8AC3E}">
        <p14:creationId xmlns:p14="http://schemas.microsoft.com/office/powerpoint/2010/main" val="621026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6"/>
            <a:ext cx="11229975" cy="1423509"/>
          </a:xfrm>
        </p:spPr>
        <p:txBody>
          <a:bodyPr/>
          <a:lstStyle/>
          <a:p>
            <a:r>
              <a:rPr lang="ru-RU" dirty="0"/>
              <a:t>Путь </a:t>
            </a:r>
          </a:p>
        </p:txBody>
      </p:sp>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16233" y="3599925"/>
                <a:ext cx="11102976" cy="3788839"/>
              </a:xfrm>
            </p:spPr>
            <p:txBody>
              <a:bodyPr/>
              <a:lstStyle/>
              <a:p>
                <a:r>
                  <a:rPr lang="ru-RU" altLang="en-US" dirty="0">
                    <a:sym typeface="Symbol" panose="05050102010706020507" pitchFamily="18" charset="2"/>
                  </a:rPr>
                  <a:t>При </a:t>
                </a:r>
                <a14:m>
                  <m:oMath xmlns:m="http://schemas.openxmlformats.org/officeDocument/2006/math">
                    <m:r>
                      <a:rPr lang="en-US" altLang="en-US" b="0" i="0" smtClean="0">
                        <a:latin typeface="Cambria Math" panose="02040503050406030204" pitchFamily="18" charset="0"/>
                        <a:ea typeface="Cambria Math" panose="02040503050406030204" pitchFamily="18" charset="0"/>
                        <a:sym typeface="Symbol" panose="05050102010706020507" pitchFamily="18" charset="2"/>
                      </a:rPr>
                      <m:t>∆</m:t>
                    </m:r>
                    <m:r>
                      <m:rPr>
                        <m:sty m:val="p"/>
                      </m:rPr>
                      <a:rPr lang="en-US" altLang="en-US" b="0" i="0" smtClean="0">
                        <a:latin typeface="Cambria Math" panose="02040503050406030204" pitchFamily="18" charset="0"/>
                        <a:sym typeface="Symbol" panose="05050102010706020507" pitchFamily="18" charset="2"/>
                      </a:rPr>
                      <m:t>t</m:t>
                    </m:r>
                    <m:r>
                      <a:rPr lang="en-US" altLang="en-US" b="0" i="0" smtClean="0">
                        <a:latin typeface="Cambria Math" panose="02040503050406030204" pitchFamily="18" charset="0"/>
                        <a:sym typeface="Symbol" panose="05050102010706020507" pitchFamily="18" charset="2"/>
                      </a:rPr>
                      <m:t> →0</m:t>
                    </m:r>
                  </m:oMath>
                </a14:m>
                <a:r>
                  <a:rPr lang="en-US" altLang="en-US" dirty="0">
                    <a:sym typeface="Symbol" panose="05050102010706020507" pitchFamily="18" charset="2"/>
                  </a:rPr>
                  <a:t> </a:t>
                </a:r>
                <a:r>
                  <a:rPr lang="ru-RU" altLang="en-US" dirty="0">
                    <a:sym typeface="Symbol" panose="05050102010706020507" pitchFamily="18" charset="2"/>
                  </a:rPr>
                  <a:t>на бесконечно малом участке траектории, перемещение  совпадает с формой этой траектории</a:t>
                </a:r>
                <a:r>
                  <a:rPr lang="ru-RU" altLang="en-US" i="1" dirty="0">
                    <a:sym typeface="Symbol" panose="05050102010706020507" pitchFamily="18" charset="2"/>
                  </a:rPr>
                  <a:t>. В этом случае мгновенную скорость можно выразить через скалярную величину – </a:t>
                </a:r>
                <a:r>
                  <a:rPr lang="ru-RU" altLang="en-US" b="1" dirty="0">
                    <a:solidFill>
                      <a:schemeClr val="accent5"/>
                    </a:solidFill>
                    <a:sym typeface="Symbol" panose="05050102010706020507" pitchFamily="18" charset="2"/>
                  </a:rPr>
                  <a:t>путь</a:t>
                </a:r>
                <a:r>
                  <a:rPr lang="ru-RU" altLang="en-US" i="1" dirty="0">
                    <a:sym typeface="Symbol" panose="05050102010706020507" pitchFamily="18" charset="2"/>
                  </a:rPr>
                  <a:t>. </a:t>
                </a:r>
                <a:endParaRPr lang="en-US" altLang="en-US" i="1" dirty="0">
                  <a:sym typeface="Symbol" panose="05050102010706020507" pitchFamily="18" charset="2"/>
                </a:endParaRPr>
              </a:p>
              <a:p>
                <a:endParaRPr lang="en-US" altLang="en-US" i="1" dirty="0">
                  <a:sym typeface="Symbol" panose="05050102010706020507" pitchFamily="18" charset="2"/>
                </a:endParaRPr>
              </a:p>
              <a:p>
                <a:endParaRPr lang="en-US" altLang="en-US" i="1" dirty="0">
                  <a:sym typeface="Symbol" panose="05050102010706020507" pitchFamily="18" charset="2"/>
                </a:endParaRPr>
              </a:p>
              <a:p>
                <a:r>
                  <a:rPr lang="ru-RU" altLang="en-US" dirty="0">
                    <a:sym typeface="Symbol" panose="05050102010706020507" pitchFamily="18" charset="2"/>
                  </a:rPr>
                  <a:t>Отсюда можно ввести более известное определение термина </a:t>
                </a:r>
                <a:r>
                  <a:rPr lang="ru-RU" altLang="en-US" b="1" dirty="0">
                    <a:solidFill>
                      <a:schemeClr val="accent5"/>
                    </a:solidFill>
                    <a:sym typeface="Symbol" panose="05050102010706020507" pitchFamily="18" charset="2"/>
                  </a:rPr>
                  <a:t>путь</a:t>
                </a:r>
                <a:r>
                  <a:rPr lang="ru-RU" altLang="en-US" i="1" dirty="0">
                    <a:sym typeface="Symbol" panose="05050102010706020507" pitchFamily="18" charset="2"/>
                  </a:rPr>
                  <a:t> – длина траектории.</a:t>
                </a:r>
                <a:endParaRPr lang="en-US" altLang="en-US" i="1" dirty="0">
                  <a:sym typeface="Symbol" panose="05050102010706020507" pitchFamily="18" charset="2"/>
                </a:endParaRPr>
              </a:p>
            </p:txBody>
          </p:sp>
        </mc:Choice>
        <mc:Fallback xmlns="">
          <p:sp>
            <p:nvSpPr>
              <p:cNvPr id="10" name="Текст 9">
                <a:extLst>
                  <a:ext uri="{FF2B5EF4-FFF2-40B4-BE49-F238E27FC236}">
                    <a16:creationId xmlns:a16="http://schemas.microsoft.com/office/drawing/2014/main" xmlns=""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16233" y="3599925"/>
                <a:ext cx="11102976" cy="3788839"/>
              </a:xfrm>
              <a:blipFill rotWithShape="1">
                <a:blip r:embed="rId4"/>
                <a:stretch>
                  <a:fillRect l="-823" t="-2093"/>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sp>
        <p:nvSpPr>
          <p:cNvPr id="9" name="TextBox 8">
            <a:extLst>
              <a:ext uri="{FF2B5EF4-FFF2-40B4-BE49-F238E27FC236}">
                <a16:creationId xmlns:a16="http://schemas.microsoft.com/office/drawing/2014/main" id="{55127338-3336-4A20-B810-F56686B37B53}"/>
              </a:ext>
            </a:extLst>
          </p:cNvPr>
          <p:cNvSpPr txBox="1"/>
          <p:nvPr/>
        </p:nvSpPr>
        <p:spPr>
          <a:xfrm>
            <a:off x="8762380" y="2596523"/>
            <a:ext cx="518532" cy="369332"/>
          </a:xfrm>
          <a:prstGeom prst="rect">
            <a:avLst/>
          </a:prstGeom>
          <a:noFill/>
        </p:spPr>
        <p:txBody>
          <a:bodyPr wrap="square">
            <a:spAutoFit/>
          </a:bodyPr>
          <a:lstStyle/>
          <a:p>
            <a:r>
              <a:rPr lang="ru-RU" b="1" dirty="0">
                <a:cs typeface="Times New Roman" panose="02020603050405020304" pitchFamily="18" charset="0"/>
              </a:rPr>
              <a:t>(8)</a:t>
            </a:r>
            <a:endParaRPr lang="en-US" dirty="0"/>
          </a:p>
        </p:txBody>
      </p:sp>
      <p:graphicFrame>
        <p:nvGraphicFramePr>
          <p:cNvPr id="2" name="Object 1">
            <a:extLst>
              <a:ext uri="{FF2B5EF4-FFF2-40B4-BE49-F238E27FC236}">
                <a16:creationId xmlns:a16="http://schemas.microsoft.com/office/drawing/2014/main" id="{D39F8CC4-E6E2-4B69-BA1C-3DC3F936AEB1}"/>
              </a:ext>
            </a:extLst>
          </p:cNvPr>
          <p:cNvGraphicFramePr>
            <a:graphicFrameLocks noChangeAspect="1"/>
          </p:cNvGraphicFramePr>
          <p:nvPr>
            <p:extLst>
              <p:ext uri="{D42A27DB-BD31-4B8C-83A1-F6EECF244321}">
                <p14:modId xmlns:p14="http://schemas.microsoft.com/office/powerpoint/2010/main" val="2669661294"/>
              </p:ext>
            </p:extLst>
          </p:nvPr>
        </p:nvGraphicFramePr>
        <p:xfrm>
          <a:off x="4348896" y="1852224"/>
          <a:ext cx="1602710" cy="854779"/>
        </p:xfrm>
        <a:graphic>
          <a:graphicData uri="http://schemas.openxmlformats.org/presentationml/2006/ole">
            <mc:AlternateContent xmlns:mc="http://schemas.openxmlformats.org/markup-compatibility/2006">
              <mc:Choice xmlns:v="urn:schemas-microsoft-com:vml" Requires="v">
                <p:oleObj spid="_x0000_s8396" name="Equation" r:id="rId5" imgW="1523880" imgH="812520" progId="Equation.DSMT4">
                  <p:embed/>
                </p:oleObj>
              </mc:Choice>
              <mc:Fallback>
                <p:oleObj name="Equation" r:id="rId5" imgW="1523880" imgH="812520" progId="Equation.DSMT4">
                  <p:embed/>
                  <p:pic>
                    <p:nvPicPr>
                      <p:cNvPr id="0" name=""/>
                      <p:cNvPicPr/>
                      <p:nvPr/>
                    </p:nvPicPr>
                    <p:blipFill>
                      <a:blip r:embed="rId6"/>
                      <a:stretch>
                        <a:fillRect/>
                      </a:stretch>
                    </p:blipFill>
                    <p:spPr>
                      <a:xfrm>
                        <a:off x="4348896" y="1852224"/>
                        <a:ext cx="1602710" cy="854779"/>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4A348E10-B9FB-49FE-900D-0DF5F99EEF82}"/>
              </a:ext>
            </a:extLst>
          </p:cNvPr>
          <p:cNvSpPr txBox="1"/>
          <p:nvPr/>
        </p:nvSpPr>
        <p:spPr>
          <a:xfrm>
            <a:off x="416233" y="1144338"/>
            <a:ext cx="11293167" cy="707886"/>
          </a:xfrm>
          <a:prstGeom prst="rect">
            <a:avLst/>
          </a:prstGeom>
          <a:noFill/>
        </p:spPr>
        <p:txBody>
          <a:bodyPr wrap="square">
            <a:spAutoFit/>
          </a:bodyPr>
          <a:lstStyle/>
          <a:p>
            <a:r>
              <a:rPr lang="ru-RU" sz="2000" dirty="0">
                <a:latin typeface="+mj-lt"/>
              </a:rPr>
              <a:t>Модуль вектора скорости будем зад</a:t>
            </a:r>
            <a:r>
              <a:rPr lang="en-US" sz="2000" dirty="0">
                <a:latin typeface="+mj-lt"/>
              </a:rPr>
              <a:t>a</a:t>
            </a:r>
            <a:r>
              <a:rPr lang="ru-RU" sz="2000" dirty="0" err="1">
                <a:latin typeface="+mj-lt"/>
              </a:rPr>
              <a:t>вать</a:t>
            </a:r>
            <a:r>
              <a:rPr lang="ru-RU" sz="2000" dirty="0">
                <a:latin typeface="+mj-lt"/>
              </a:rPr>
              <a:t> следующей формулой (в векторном и координатном виде)</a:t>
            </a:r>
            <a:r>
              <a:rPr lang="en-US" sz="2000" dirty="0">
                <a:latin typeface="+mj-lt"/>
              </a:rPr>
              <a:t>:</a:t>
            </a:r>
          </a:p>
        </p:txBody>
      </p:sp>
      <p:graphicFrame>
        <p:nvGraphicFramePr>
          <p:cNvPr id="6" name="Object 5">
            <a:extLst>
              <a:ext uri="{FF2B5EF4-FFF2-40B4-BE49-F238E27FC236}">
                <a16:creationId xmlns:a16="http://schemas.microsoft.com/office/drawing/2014/main" id="{3C218D0E-988C-4193-B757-9B2A0A75A45C}"/>
              </a:ext>
            </a:extLst>
          </p:cNvPr>
          <p:cNvGraphicFramePr>
            <a:graphicFrameLocks noChangeAspect="1"/>
          </p:cNvGraphicFramePr>
          <p:nvPr>
            <p:extLst>
              <p:ext uri="{D42A27DB-BD31-4B8C-83A1-F6EECF244321}">
                <p14:modId xmlns:p14="http://schemas.microsoft.com/office/powerpoint/2010/main" val="611873843"/>
              </p:ext>
            </p:extLst>
          </p:nvPr>
        </p:nvGraphicFramePr>
        <p:xfrm>
          <a:off x="3459834" y="4959882"/>
          <a:ext cx="4470745" cy="870145"/>
        </p:xfrm>
        <a:graphic>
          <a:graphicData uri="http://schemas.openxmlformats.org/presentationml/2006/ole">
            <mc:AlternateContent xmlns:mc="http://schemas.openxmlformats.org/markup-compatibility/2006">
              <mc:Choice xmlns:v="urn:schemas-microsoft-com:vml" Requires="v">
                <p:oleObj spid="_x0000_s8397" name="Equation" r:id="rId7" imgW="3784320" imgH="736560" progId="Equation.DSMT4">
                  <p:embed/>
                </p:oleObj>
              </mc:Choice>
              <mc:Fallback>
                <p:oleObj name="Equation" r:id="rId7" imgW="3784320" imgH="736560" progId="Equation.DSMT4">
                  <p:embed/>
                  <p:pic>
                    <p:nvPicPr>
                      <p:cNvPr id="0" name=""/>
                      <p:cNvPicPr/>
                      <p:nvPr/>
                    </p:nvPicPr>
                    <p:blipFill>
                      <a:blip r:embed="rId8"/>
                      <a:stretch>
                        <a:fillRect/>
                      </a:stretch>
                    </p:blipFill>
                    <p:spPr>
                      <a:xfrm>
                        <a:off x="3459834" y="4959882"/>
                        <a:ext cx="4470745" cy="870145"/>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59059AD7-A132-449A-AA32-570C6C28B3C7}"/>
              </a:ext>
            </a:extLst>
          </p:cNvPr>
          <p:cNvSpPr txBox="1"/>
          <p:nvPr/>
        </p:nvSpPr>
        <p:spPr>
          <a:xfrm>
            <a:off x="8762380" y="5309678"/>
            <a:ext cx="518532" cy="369332"/>
          </a:xfrm>
          <a:prstGeom prst="rect">
            <a:avLst/>
          </a:prstGeom>
          <a:noFill/>
        </p:spPr>
        <p:txBody>
          <a:bodyPr wrap="square">
            <a:spAutoFit/>
          </a:bodyPr>
          <a:lstStyle/>
          <a:p>
            <a:r>
              <a:rPr lang="ru-RU" b="1" dirty="0">
                <a:cs typeface="Times New Roman" panose="02020603050405020304" pitchFamily="18" charset="0"/>
              </a:rPr>
              <a:t>(</a:t>
            </a:r>
            <a:r>
              <a:rPr lang="en-US" b="1" dirty="0">
                <a:cs typeface="Times New Roman" panose="02020603050405020304" pitchFamily="18" charset="0"/>
              </a:rPr>
              <a:t>9</a:t>
            </a:r>
            <a:r>
              <a:rPr lang="ru-RU" b="1" dirty="0">
                <a:cs typeface="Times New Roman" panose="02020603050405020304" pitchFamily="18" charset="0"/>
              </a:rPr>
              <a:t>)</a:t>
            </a:r>
            <a:endParaRPr lang="en-US" dirty="0"/>
          </a:p>
        </p:txBody>
      </p:sp>
      <p:graphicFrame>
        <p:nvGraphicFramePr>
          <p:cNvPr id="7" name="Object 6">
            <a:extLst>
              <a:ext uri="{FF2B5EF4-FFF2-40B4-BE49-F238E27FC236}">
                <a16:creationId xmlns:a16="http://schemas.microsoft.com/office/drawing/2014/main" id="{5D3FC3E6-00C9-4401-A467-E5CF6C3A7F62}"/>
              </a:ext>
            </a:extLst>
          </p:cNvPr>
          <p:cNvGraphicFramePr>
            <a:graphicFrameLocks noChangeAspect="1"/>
          </p:cNvGraphicFramePr>
          <p:nvPr>
            <p:extLst>
              <p:ext uri="{D42A27DB-BD31-4B8C-83A1-F6EECF244321}">
                <p14:modId xmlns:p14="http://schemas.microsoft.com/office/powerpoint/2010/main" val="521607382"/>
              </p:ext>
            </p:extLst>
          </p:nvPr>
        </p:nvGraphicFramePr>
        <p:xfrm>
          <a:off x="4074163" y="2862193"/>
          <a:ext cx="2489200" cy="546100"/>
        </p:xfrm>
        <a:graphic>
          <a:graphicData uri="http://schemas.openxmlformats.org/presentationml/2006/ole">
            <mc:AlternateContent xmlns:mc="http://schemas.openxmlformats.org/markup-compatibility/2006">
              <mc:Choice xmlns:v="urn:schemas-microsoft-com:vml" Requires="v">
                <p:oleObj spid="_x0000_s8398" name="Equation" r:id="rId9" imgW="2489040" imgH="545760" progId="Equation.DSMT4">
                  <p:embed/>
                </p:oleObj>
              </mc:Choice>
              <mc:Fallback>
                <p:oleObj name="Equation" r:id="rId9" imgW="2489040" imgH="545760" progId="Equation.DSMT4">
                  <p:embed/>
                  <p:pic>
                    <p:nvPicPr>
                      <p:cNvPr id="0" name=""/>
                      <p:cNvPicPr/>
                      <p:nvPr/>
                    </p:nvPicPr>
                    <p:blipFill>
                      <a:blip r:embed="rId10"/>
                      <a:stretch>
                        <a:fillRect/>
                      </a:stretch>
                    </p:blipFill>
                    <p:spPr>
                      <a:xfrm>
                        <a:off x="4074163" y="2862193"/>
                        <a:ext cx="2489200" cy="546100"/>
                      </a:xfrm>
                      <a:prstGeom prst="rect">
                        <a:avLst/>
                      </a:prstGeom>
                    </p:spPr>
                  </p:pic>
                </p:oleObj>
              </mc:Fallback>
            </mc:AlternateContent>
          </a:graphicData>
        </a:graphic>
      </p:graphicFrame>
    </p:spTree>
    <p:extLst>
      <p:ext uri="{BB962C8B-B14F-4D97-AF65-F5344CB8AC3E}">
        <p14:creationId xmlns:p14="http://schemas.microsoft.com/office/powerpoint/2010/main" val="3631499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6"/>
            <a:ext cx="11229975" cy="1423509"/>
          </a:xfrm>
        </p:spPr>
        <p:txBody>
          <a:bodyPr/>
          <a:lstStyle/>
          <a:p>
            <a:r>
              <a:rPr lang="ru-RU" dirty="0"/>
              <a:t>Геометрическая интерпретация</a:t>
            </a:r>
          </a:p>
        </p:txBody>
      </p:sp>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9424" y="3931522"/>
            <a:ext cx="11102976" cy="1517707"/>
          </a:xfrm>
        </p:spPr>
        <p:txBody>
          <a:bodyPr/>
          <a:lstStyle/>
          <a:p>
            <a:r>
              <a:rPr lang="ru-RU" altLang="en-US" dirty="0">
                <a:sym typeface="Symbol" panose="05050102010706020507" pitchFamily="18" charset="2"/>
              </a:rPr>
              <a:t>Геометрический смысл пути в кинематике можно представить как площадь под кривой, которая описывает зависимость скорости от времени. Эту площадь можно выразить с помощью интеграла</a:t>
            </a:r>
            <a:r>
              <a:rPr lang="en-US" altLang="en-US" dirty="0">
                <a:sym typeface="Symbol" panose="05050102010706020507" pitchFamily="18" charset="2"/>
              </a:rPr>
              <a:t>:</a:t>
            </a:r>
          </a:p>
        </p:txBody>
      </p:sp>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Путь</a:t>
            </a:r>
          </a:p>
        </p:txBody>
      </p:sp>
      <p:sp>
        <p:nvSpPr>
          <p:cNvPr id="9" name="TextBox 8">
            <a:extLst>
              <a:ext uri="{FF2B5EF4-FFF2-40B4-BE49-F238E27FC236}">
                <a16:creationId xmlns:a16="http://schemas.microsoft.com/office/drawing/2014/main" id="{55127338-3336-4A20-B810-F56686B37B53}"/>
              </a:ext>
            </a:extLst>
          </p:cNvPr>
          <p:cNvSpPr txBox="1"/>
          <p:nvPr/>
        </p:nvSpPr>
        <p:spPr>
          <a:xfrm>
            <a:off x="9166921" y="5540168"/>
            <a:ext cx="812800" cy="369332"/>
          </a:xfrm>
          <a:prstGeom prst="rect">
            <a:avLst/>
          </a:prstGeom>
          <a:noFill/>
        </p:spPr>
        <p:txBody>
          <a:bodyPr wrap="square">
            <a:spAutoFit/>
          </a:bodyPr>
          <a:lstStyle/>
          <a:p>
            <a:r>
              <a:rPr lang="ru-RU" b="1" dirty="0">
                <a:cs typeface="Times New Roman" panose="02020603050405020304" pitchFamily="18" charset="0"/>
              </a:rPr>
              <a:t>(1</a:t>
            </a:r>
            <a:r>
              <a:rPr lang="en-US" b="1" dirty="0">
                <a:cs typeface="Times New Roman" panose="02020603050405020304" pitchFamily="18" charset="0"/>
              </a:rPr>
              <a:t>1</a:t>
            </a:r>
            <a:r>
              <a:rPr lang="ru-RU" b="1" dirty="0">
                <a:cs typeface="Times New Roman" panose="02020603050405020304" pitchFamily="18" charset="0"/>
              </a:rPr>
              <a:t>)</a:t>
            </a:r>
            <a:endParaRPr lang="en-US" dirty="0"/>
          </a:p>
        </p:txBody>
      </p:sp>
      <p:pic>
        <p:nvPicPr>
          <p:cNvPr id="4" name="Picture 3">
            <a:extLst>
              <a:ext uri="{FF2B5EF4-FFF2-40B4-BE49-F238E27FC236}">
                <a16:creationId xmlns:a16="http://schemas.microsoft.com/office/drawing/2014/main" id="{EB169AE3-16A6-4FC5-AB19-D09B1BABF948}"/>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r="15839" b="21673"/>
          <a:stretch/>
        </p:blipFill>
        <p:spPr>
          <a:xfrm>
            <a:off x="3622676" y="1241943"/>
            <a:ext cx="4252564" cy="2627066"/>
          </a:xfrm>
          <a:prstGeom prst="rect">
            <a:avLst/>
          </a:prstGeom>
        </p:spPr>
      </p:pic>
      <p:graphicFrame>
        <p:nvGraphicFramePr>
          <p:cNvPr id="5" name="Object 4">
            <a:extLst>
              <a:ext uri="{FF2B5EF4-FFF2-40B4-BE49-F238E27FC236}">
                <a16:creationId xmlns:a16="http://schemas.microsoft.com/office/drawing/2014/main" id="{49FA69FC-3E8E-4D83-ADF2-BAD718E37978}"/>
              </a:ext>
            </a:extLst>
          </p:cNvPr>
          <p:cNvGraphicFramePr>
            <a:graphicFrameLocks noChangeAspect="1"/>
          </p:cNvGraphicFramePr>
          <p:nvPr>
            <p:extLst>
              <p:ext uri="{D42A27DB-BD31-4B8C-83A1-F6EECF244321}">
                <p14:modId xmlns:p14="http://schemas.microsoft.com/office/powerpoint/2010/main" val="1142047519"/>
              </p:ext>
            </p:extLst>
          </p:nvPr>
        </p:nvGraphicFramePr>
        <p:xfrm>
          <a:off x="4891087" y="5280333"/>
          <a:ext cx="1600148" cy="1272845"/>
        </p:xfrm>
        <a:graphic>
          <a:graphicData uri="http://schemas.openxmlformats.org/presentationml/2006/ole">
            <mc:AlternateContent xmlns:mc="http://schemas.openxmlformats.org/markup-compatibility/2006">
              <mc:Choice xmlns:v="urn:schemas-microsoft-com:vml" Requires="v">
                <p:oleObj spid="_x0000_s9288" name="Equation" r:id="rId5" imgW="1117440" imgH="888840" progId="Equation.DSMT4">
                  <p:embed/>
                </p:oleObj>
              </mc:Choice>
              <mc:Fallback>
                <p:oleObj name="Equation" r:id="rId5" imgW="1117440" imgH="888840" progId="Equation.DSMT4">
                  <p:embed/>
                  <p:pic>
                    <p:nvPicPr>
                      <p:cNvPr id="0" name=""/>
                      <p:cNvPicPr/>
                      <p:nvPr/>
                    </p:nvPicPr>
                    <p:blipFill>
                      <a:blip r:embed="rId6"/>
                      <a:stretch>
                        <a:fillRect/>
                      </a:stretch>
                    </p:blipFill>
                    <p:spPr>
                      <a:xfrm>
                        <a:off x="4891087" y="5280333"/>
                        <a:ext cx="1600148" cy="1272845"/>
                      </a:xfrm>
                      <a:prstGeom prst="rect">
                        <a:avLst/>
                      </a:prstGeom>
                    </p:spPr>
                  </p:pic>
                </p:oleObj>
              </mc:Fallback>
            </mc:AlternateContent>
          </a:graphicData>
        </a:graphic>
      </p:graphicFrame>
    </p:spTree>
    <p:extLst>
      <p:ext uri="{BB962C8B-B14F-4D97-AF65-F5344CB8AC3E}">
        <p14:creationId xmlns:p14="http://schemas.microsoft.com/office/powerpoint/2010/main" val="1162146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6"/>
            <a:ext cx="11229975" cy="1423509"/>
          </a:xfrm>
        </p:spPr>
        <p:txBody>
          <a:bodyPr/>
          <a:lstStyle/>
          <a:p>
            <a:r>
              <a:rPr lang="ru-RU" dirty="0"/>
              <a:t>Ускорение</a:t>
            </a:r>
          </a:p>
        </p:txBody>
      </p:sp>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57199" y="1244371"/>
                <a:ext cx="11102976" cy="5464403"/>
              </a:xfrm>
            </p:spPr>
            <p:txBody>
              <a:bodyPr/>
              <a:lstStyle/>
              <a:p>
                <a:r>
                  <a:rPr lang="ru-RU" altLang="en-US" b="1" dirty="0">
                    <a:solidFill>
                      <a:schemeClr val="accent5"/>
                    </a:solidFill>
                    <a:sym typeface="Symbol" panose="05050102010706020507" pitchFamily="18" charset="2"/>
                  </a:rPr>
                  <a:t>Ускорение</a:t>
                </a:r>
                <a:r>
                  <a:rPr lang="ru-RU" altLang="en-US" i="1" dirty="0">
                    <a:sym typeface="Symbol" panose="05050102010706020507" pitchFamily="18" charset="2"/>
                  </a:rPr>
                  <a:t> – величина, характеризующая изменение скорости по величине и направлению.</a:t>
                </a:r>
              </a:p>
              <a:p>
                <a:endParaRPr lang="ru-RU" altLang="en-US" i="1" dirty="0">
                  <a:sym typeface="Symbol" panose="05050102010706020507" pitchFamily="18" charset="2"/>
                </a:endParaRPr>
              </a:p>
              <a:p>
                <a:endParaRPr lang="ru-RU" altLang="en-US" i="1" dirty="0">
                  <a:sym typeface="Symbol" panose="05050102010706020507" pitchFamily="18" charset="2"/>
                </a:endParaRPr>
              </a:p>
              <a:p>
                <a:r>
                  <a:rPr lang="ru-RU" altLang="en-US" b="1" dirty="0">
                    <a:sym typeface="Symbol" panose="05050102010706020507" pitchFamily="18" charset="2"/>
                  </a:rPr>
                  <a:t>Ускорение, как и любой вектор, можно представить в виде суммы векторов (векторное разложение). Один будет </a:t>
                </a:r>
                <a:r>
                  <a:rPr lang="ru-RU" altLang="en-US" b="1" i="1" dirty="0">
                    <a:sym typeface="Symbol" panose="05050102010706020507" pitchFamily="18" charset="2"/>
                  </a:rPr>
                  <a:t>совпадать</a:t>
                </a:r>
                <a:r>
                  <a:rPr lang="ru-RU" altLang="en-US" b="1" dirty="0">
                    <a:sym typeface="Symbol" panose="05050102010706020507" pitchFamily="18" charset="2"/>
                  </a:rPr>
                  <a:t> с направлением скорости в точке рассмотрения, а другой будет ему </a:t>
                </a:r>
                <a:r>
                  <a:rPr lang="ru-RU" altLang="en-US" b="1" i="1" dirty="0">
                    <a:sym typeface="Symbol" panose="05050102010706020507" pitchFamily="18" charset="2"/>
                  </a:rPr>
                  <a:t>перпендикулярен.</a:t>
                </a:r>
                <a:r>
                  <a:rPr lang="ru-RU" altLang="en-US" b="1" dirty="0">
                    <a:sym typeface="Symbol" panose="05050102010706020507" pitchFamily="18" charset="2"/>
                  </a:rPr>
                  <a:t> Тогда получаем следующую формулу</a:t>
                </a:r>
                <a:r>
                  <a:rPr lang="en-US" altLang="en-US" b="1" dirty="0">
                    <a:sym typeface="Symbol" panose="05050102010706020507" pitchFamily="18" charset="2"/>
                  </a:rPr>
                  <a:t>:</a:t>
                </a:r>
              </a:p>
              <a:p>
                <a:endParaRPr lang="en-US" altLang="en-US" b="1" dirty="0">
                  <a:sym typeface="Symbol" panose="05050102010706020507" pitchFamily="18" charset="2"/>
                </a:endParaRPr>
              </a:p>
              <a:p>
                <a:endParaRPr lang="en-US" altLang="en-US" i="1" dirty="0">
                  <a:sym typeface="Symbol" panose="05050102010706020507" pitchFamily="18" charset="2"/>
                </a:endParaRPr>
              </a:p>
              <a:p>
                <a:endParaRPr lang="ru-RU" altLang="en-US" i="1" dirty="0">
                  <a:sym typeface="Symbol" panose="05050102010706020507" pitchFamily="18" charset="2"/>
                </a:endParaRPr>
              </a:p>
              <a:p>
                <a:r>
                  <a:rPr lang="ru-RU" altLang="en-US" i="1" dirty="0">
                    <a:sym typeface="Symbol" panose="05050102010706020507" pitchFamily="18" charset="2"/>
                  </a:rPr>
                  <a:t>Где</a:t>
                </a:r>
                <a:r>
                  <a:rPr lang="en-US" altLang="en-US" i="1" dirty="0">
                    <a:sym typeface="Symbol" panose="05050102010706020507" pitchFamily="18" charset="2"/>
                  </a:rPr>
                  <a:t> </a:t>
                </a:r>
                <a14:m>
                  <m:oMath xmlns:m="http://schemas.openxmlformats.org/officeDocument/2006/math">
                    <m:sSub>
                      <m:sSubPr>
                        <m:ctrlPr>
                          <a:rPr lang="en-US" altLang="en-US" i="1" smtClean="0">
                            <a:latin typeface="Cambria Math" panose="02040503050406030204" pitchFamily="18" charset="0"/>
                            <a:sym typeface="Symbol" panose="05050102010706020507" pitchFamily="18" charset="2"/>
                          </a:rPr>
                        </m:ctrlPr>
                      </m:sSubPr>
                      <m:e>
                        <m:acc>
                          <m:accPr>
                            <m:chr m:val="⃗"/>
                            <m:ctrlPr>
                              <a:rPr lang="en-US" altLang="en-US" i="1" smtClean="0">
                                <a:latin typeface="Cambria Math" panose="02040503050406030204" pitchFamily="18" charset="0"/>
                                <a:sym typeface="Symbol" panose="05050102010706020507" pitchFamily="18" charset="2"/>
                              </a:rPr>
                            </m:ctrlPr>
                          </m:accPr>
                          <m:e>
                            <m:r>
                              <a:rPr lang="en-US" altLang="en-US" b="0" i="1" smtClean="0">
                                <a:latin typeface="Cambria Math" panose="02040503050406030204" pitchFamily="18" charset="0"/>
                                <a:sym typeface="Symbol" panose="05050102010706020507" pitchFamily="18" charset="2"/>
                              </a:rPr>
                              <m:t>𝑎</m:t>
                            </m:r>
                          </m:e>
                        </m:acc>
                      </m:e>
                      <m:sub>
                        <m:r>
                          <a:rPr lang="en-US" altLang="en-US" i="1" smtClean="0">
                            <a:latin typeface="Cambria Math" panose="02040503050406030204" pitchFamily="18" charset="0"/>
                            <a:ea typeface="Cambria Math" panose="02040503050406030204" pitchFamily="18" charset="0"/>
                            <a:sym typeface="Symbol" panose="05050102010706020507" pitchFamily="18" charset="2"/>
                          </a:rPr>
                          <m:t>𝜏</m:t>
                        </m:r>
                      </m:sub>
                    </m:sSub>
                  </m:oMath>
                </a14:m>
                <a:r>
                  <a:rPr lang="en-US" altLang="en-US" i="1" dirty="0">
                    <a:sym typeface="Symbol" panose="05050102010706020507" pitchFamily="18" charset="2"/>
                  </a:rPr>
                  <a:t> </a:t>
                </a:r>
                <a:r>
                  <a:rPr lang="ru-RU" altLang="en-US" i="1" dirty="0">
                    <a:sym typeface="Symbol" panose="05050102010706020507" pitchFamily="18" charset="2"/>
                  </a:rPr>
                  <a:t>называется </a:t>
                </a:r>
                <a:r>
                  <a:rPr lang="ru-RU" altLang="en-US" b="1" dirty="0">
                    <a:solidFill>
                      <a:schemeClr val="accent5"/>
                    </a:solidFill>
                    <a:sym typeface="Symbol" panose="05050102010706020507" pitchFamily="18" charset="2"/>
                  </a:rPr>
                  <a:t>тангенциальным</a:t>
                </a:r>
                <a:r>
                  <a:rPr lang="ru-RU" altLang="en-US" i="1" dirty="0">
                    <a:sym typeface="Symbol" panose="05050102010706020507" pitchFamily="18" charset="2"/>
                  </a:rPr>
                  <a:t>,  </a:t>
                </a:r>
                <a14:m>
                  <m:oMath xmlns:m="http://schemas.openxmlformats.org/officeDocument/2006/math">
                    <m:sSub>
                      <m:sSubPr>
                        <m:ctrlPr>
                          <a:rPr lang="en-US" altLang="en-US" i="1">
                            <a:latin typeface="Cambria Math" panose="02040503050406030204" pitchFamily="18" charset="0"/>
                            <a:sym typeface="Symbol" panose="05050102010706020507" pitchFamily="18" charset="2"/>
                          </a:rPr>
                        </m:ctrlPr>
                      </m:sSubPr>
                      <m:e>
                        <m:acc>
                          <m:accPr>
                            <m:chr m:val="⃗"/>
                            <m:ctrlPr>
                              <a:rPr lang="en-US" altLang="en-US" i="1">
                                <a:latin typeface="Cambria Math" panose="02040503050406030204" pitchFamily="18" charset="0"/>
                                <a:sym typeface="Symbol" panose="05050102010706020507" pitchFamily="18" charset="2"/>
                              </a:rPr>
                            </m:ctrlPr>
                          </m:accPr>
                          <m:e>
                            <m:r>
                              <a:rPr lang="en-US" altLang="en-US" i="1">
                                <a:latin typeface="Cambria Math" panose="02040503050406030204" pitchFamily="18" charset="0"/>
                                <a:sym typeface="Symbol" panose="05050102010706020507" pitchFamily="18" charset="2"/>
                              </a:rPr>
                              <m:t>𝑎</m:t>
                            </m:r>
                          </m:e>
                        </m:acc>
                      </m:e>
                      <m:sub>
                        <m:r>
                          <a:rPr lang="en-US" altLang="en-US" b="0" i="1" smtClean="0">
                            <a:latin typeface="Cambria Math" panose="02040503050406030204" pitchFamily="18" charset="0"/>
                            <a:sym typeface="Symbol" panose="05050102010706020507" pitchFamily="18" charset="2"/>
                          </a:rPr>
                          <m:t>𝑛</m:t>
                        </m:r>
                      </m:sub>
                    </m:sSub>
                  </m:oMath>
                </a14:m>
                <a:r>
                  <a:rPr lang="en-US" altLang="en-US" i="1" dirty="0">
                    <a:sym typeface="Symbol" panose="05050102010706020507" pitchFamily="18" charset="2"/>
                  </a:rPr>
                  <a:t> </a:t>
                </a:r>
                <a:r>
                  <a:rPr lang="ru-RU" altLang="en-US" b="1" dirty="0">
                    <a:solidFill>
                      <a:schemeClr val="accent5"/>
                    </a:solidFill>
                    <a:sym typeface="Symbol" panose="05050102010706020507" pitchFamily="18" charset="2"/>
                  </a:rPr>
                  <a:t>нормальным</a:t>
                </a:r>
                <a:r>
                  <a:rPr lang="ru-RU" altLang="en-US" i="1" dirty="0">
                    <a:sym typeface="Symbol" panose="05050102010706020507" pitchFamily="18" charset="2"/>
                  </a:rPr>
                  <a:t> ускорением.</a:t>
                </a:r>
                <a:r>
                  <a:rPr lang="en-US" altLang="en-US" i="1" dirty="0">
                    <a:sym typeface="Symbol" panose="05050102010706020507" pitchFamily="18" charset="2"/>
                  </a:rPr>
                  <a:t> </a:t>
                </a:r>
              </a:p>
            </p:txBody>
          </p:sp>
        </mc:Choice>
        <mc:Fallback xmlns="">
          <p:sp>
            <p:nvSpPr>
              <p:cNvPr id="10" name="Текст 9">
                <a:extLst>
                  <a:ext uri="{FF2B5EF4-FFF2-40B4-BE49-F238E27FC236}">
                    <a16:creationId xmlns="" xmlns:a16="http://schemas.microsoft.com/office/drawing/2014/main"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57199" y="1244371"/>
                <a:ext cx="11102976" cy="5464403"/>
              </a:xfrm>
              <a:blipFill rotWithShape="1">
                <a:blip r:embed="rId3"/>
                <a:stretch>
                  <a:fillRect l="-824" t="-1449" r="-165"/>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Ускорение</a:t>
            </a:r>
          </a:p>
        </p:txBody>
      </p:sp>
      <p:sp>
        <p:nvSpPr>
          <p:cNvPr id="9" name="TextBox 8">
            <a:extLst>
              <a:ext uri="{FF2B5EF4-FFF2-40B4-BE49-F238E27FC236}">
                <a16:creationId xmlns:a16="http://schemas.microsoft.com/office/drawing/2014/main" id="{55127338-3336-4A20-B810-F56686B37B53}"/>
              </a:ext>
            </a:extLst>
          </p:cNvPr>
          <p:cNvSpPr txBox="1"/>
          <p:nvPr/>
        </p:nvSpPr>
        <p:spPr>
          <a:xfrm>
            <a:off x="8854687" y="2186859"/>
            <a:ext cx="812800" cy="369332"/>
          </a:xfrm>
          <a:prstGeom prst="rect">
            <a:avLst/>
          </a:prstGeom>
          <a:noFill/>
        </p:spPr>
        <p:txBody>
          <a:bodyPr wrap="square">
            <a:spAutoFit/>
          </a:bodyPr>
          <a:lstStyle/>
          <a:p>
            <a:r>
              <a:rPr lang="ru-RU" b="1" dirty="0">
                <a:cs typeface="Times New Roman" panose="02020603050405020304" pitchFamily="18" charset="0"/>
              </a:rPr>
              <a:t>(12)</a:t>
            </a:r>
            <a:endParaRPr lang="en-US" dirty="0"/>
          </a:p>
        </p:txBody>
      </p:sp>
      <p:graphicFrame>
        <p:nvGraphicFramePr>
          <p:cNvPr id="2" name="Object 1">
            <a:extLst>
              <a:ext uri="{FF2B5EF4-FFF2-40B4-BE49-F238E27FC236}">
                <a16:creationId xmlns:a16="http://schemas.microsoft.com/office/drawing/2014/main" id="{A24F49C4-8297-45EF-8C3E-7B0C645820B3}"/>
              </a:ext>
            </a:extLst>
          </p:cNvPr>
          <p:cNvGraphicFramePr>
            <a:graphicFrameLocks noChangeAspect="1"/>
          </p:cNvGraphicFramePr>
          <p:nvPr>
            <p:extLst>
              <p:ext uri="{D42A27DB-BD31-4B8C-83A1-F6EECF244321}">
                <p14:modId xmlns:p14="http://schemas.microsoft.com/office/powerpoint/2010/main" val="1397721377"/>
              </p:ext>
            </p:extLst>
          </p:nvPr>
        </p:nvGraphicFramePr>
        <p:xfrm>
          <a:off x="5075751" y="1895061"/>
          <a:ext cx="1182945" cy="952928"/>
        </p:xfrm>
        <a:graphic>
          <a:graphicData uri="http://schemas.openxmlformats.org/presentationml/2006/ole">
            <mc:AlternateContent xmlns:mc="http://schemas.openxmlformats.org/markup-compatibility/2006">
              <mc:Choice xmlns:v="urn:schemas-microsoft-com:vml" Requires="v">
                <p:oleObj spid="_x0000_s10416" name="Equation" r:id="rId4" imgW="914400" imgH="736560" progId="Equation.DSMT4">
                  <p:embed/>
                </p:oleObj>
              </mc:Choice>
              <mc:Fallback>
                <p:oleObj name="Equation" r:id="rId4" imgW="914400" imgH="736560" progId="Equation.DSMT4">
                  <p:embed/>
                  <p:pic>
                    <p:nvPicPr>
                      <p:cNvPr id="0" name=""/>
                      <p:cNvPicPr/>
                      <p:nvPr/>
                    </p:nvPicPr>
                    <p:blipFill>
                      <a:blip r:embed="rId5"/>
                      <a:stretch>
                        <a:fillRect/>
                      </a:stretch>
                    </p:blipFill>
                    <p:spPr>
                      <a:xfrm>
                        <a:off x="5075751" y="1895061"/>
                        <a:ext cx="1182945" cy="952928"/>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702CCA00-0C90-4B4D-BBED-E6812B843798}"/>
              </a:ext>
            </a:extLst>
          </p:cNvPr>
          <p:cNvGraphicFramePr>
            <a:graphicFrameLocks noChangeAspect="1"/>
          </p:cNvGraphicFramePr>
          <p:nvPr>
            <p:extLst>
              <p:ext uri="{D42A27DB-BD31-4B8C-83A1-F6EECF244321}">
                <p14:modId xmlns:p14="http://schemas.microsoft.com/office/powerpoint/2010/main" val="194491076"/>
              </p:ext>
            </p:extLst>
          </p:nvPr>
        </p:nvGraphicFramePr>
        <p:xfrm>
          <a:off x="2722789" y="4555608"/>
          <a:ext cx="6131898" cy="1011111"/>
        </p:xfrm>
        <a:graphic>
          <a:graphicData uri="http://schemas.openxmlformats.org/presentationml/2006/ole">
            <mc:AlternateContent xmlns:mc="http://schemas.openxmlformats.org/markup-compatibility/2006">
              <mc:Choice xmlns:v="urn:schemas-microsoft-com:vml" Requires="v">
                <p:oleObj spid="_x0000_s10417" name="Equation" r:id="rId6" imgW="4775040" imgH="787320" progId="Equation.DSMT4">
                  <p:embed/>
                </p:oleObj>
              </mc:Choice>
              <mc:Fallback>
                <p:oleObj name="Equation" r:id="rId6" imgW="4775040" imgH="787320" progId="Equation.DSMT4">
                  <p:embed/>
                  <p:pic>
                    <p:nvPicPr>
                      <p:cNvPr id="0" name=""/>
                      <p:cNvPicPr/>
                      <p:nvPr/>
                    </p:nvPicPr>
                    <p:blipFill>
                      <a:blip r:embed="rId7"/>
                      <a:stretch>
                        <a:fillRect/>
                      </a:stretch>
                    </p:blipFill>
                    <p:spPr>
                      <a:xfrm>
                        <a:off x="2722789" y="4555608"/>
                        <a:ext cx="6131898" cy="1011111"/>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33C0BCF6-EF47-436A-9FA6-DC9E5AD2AC17}"/>
              </a:ext>
            </a:extLst>
          </p:cNvPr>
          <p:cNvSpPr txBox="1"/>
          <p:nvPr/>
        </p:nvSpPr>
        <p:spPr>
          <a:xfrm>
            <a:off x="8854687" y="4812268"/>
            <a:ext cx="812800" cy="369332"/>
          </a:xfrm>
          <a:prstGeom prst="rect">
            <a:avLst/>
          </a:prstGeom>
          <a:noFill/>
        </p:spPr>
        <p:txBody>
          <a:bodyPr wrap="square">
            <a:spAutoFit/>
          </a:bodyPr>
          <a:lstStyle/>
          <a:p>
            <a:r>
              <a:rPr lang="ru-RU" b="1" dirty="0">
                <a:cs typeface="Times New Roman" panose="02020603050405020304" pitchFamily="18" charset="0"/>
              </a:rPr>
              <a:t>(1</a:t>
            </a:r>
            <a:r>
              <a:rPr lang="en-US" b="1" dirty="0">
                <a:cs typeface="Times New Roman" panose="02020603050405020304" pitchFamily="18" charset="0"/>
              </a:rPr>
              <a:t>3</a:t>
            </a:r>
            <a:r>
              <a:rPr lang="ru-RU" b="1" dirty="0">
                <a:cs typeface="Times New Roman" panose="02020603050405020304" pitchFamily="18" charset="0"/>
              </a:rPr>
              <a:t>)</a:t>
            </a:r>
            <a:endParaRPr lang="en-US" dirty="0"/>
          </a:p>
        </p:txBody>
      </p:sp>
    </p:spTree>
    <p:extLst>
      <p:ext uri="{BB962C8B-B14F-4D97-AF65-F5344CB8AC3E}">
        <p14:creationId xmlns:p14="http://schemas.microsoft.com/office/powerpoint/2010/main" val="3965697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57199" y="695211"/>
            <a:ext cx="11102976" cy="2159501"/>
          </a:xfrm>
        </p:spPr>
        <p:txBody>
          <a:bodyPr/>
          <a:lstStyle/>
          <a:p>
            <a:r>
              <a:rPr lang="ru-RU" altLang="en-US" dirty="0">
                <a:sym typeface="Symbol" panose="05050102010706020507" pitchFamily="18" charset="2"/>
              </a:rPr>
              <a:t>Из формы уравнения (13) видно, что </a:t>
            </a:r>
            <a:r>
              <a:rPr lang="ru-RU" altLang="en-US" i="1" dirty="0">
                <a:sym typeface="Symbol" panose="05050102010706020507" pitchFamily="18" charset="2"/>
              </a:rPr>
              <a:t>нормальное ускорение </a:t>
            </a:r>
            <a:r>
              <a:rPr lang="ru-RU" altLang="en-US" dirty="0">
                <a:sym typeface="Symbol" panose="05050102010706020507" pitchFamily="18" charset="2"/>
              </a:rPr>
              <a:t>отвечает за изменения направления скорости, а </a:t>
            </a:r>
            <a:r>
              <a:rPr lang="ru-RU" altLang="en-US" i="1" dirty="0">
                <a:sym typeface="Symbol" panose="05050102010706020507" pitchFamily="18" charset="2"/>
              </a:rPr>
              <a:t>тангенциальная составляющая</a:t>
            </a:r>
            <a:r>
              <a:rPr lang="ru-RU" altLang="en-US" dirty="0">
                <a:sym typeface="Symbol" panose="05050102010706020507" pitchFamily="18" charset="2"/>
              </a:rPr>
              <a:t> – за её величину (модуль).</a:t>
            </a:r>
          </a:p>
          <a:p>
            <a:endParaRPr lang="en-US" altLang="en-US" i="1" dirty="0">
              <a:sym typeface="Symbol" panose="05050102010706020507" pitchFamily="18" charset="2"/>
            </a:endParaRPr>
          </a:p>
        </p:txBody>
      </p:sp>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Ускорение</a:t>
            </a:r>
          </a:p>
        </p:txBody>
      </p:sp>
      <p:pic>
        <p:nvPicPr>
          <p:cNvPr id="13" name="Picture 12">
            <a:extLst>
              <a:ext uri="{FF2B5EF4-FFF2-40B4-BE49-F238E27FC236}">
                <a16:creationId xmlns:a16="http://schemas.microsoft.com/office/drawing/2014/main" id="{BC874A7F-AB02-4009-AD20-C9C90BF84165}"/>
              </a:ext>
            </a:extLst>
          </p:cNvPr>
          <p:cNvPicPr>
            <a:picLocks noChangeAspect="1"/>
          </p:cNvPicPr>
          <p:nvPr/>
        </p:nvPicPr>
        <p:blipFill>
          <a:blip r:embed="rId3">
            <a:duotone>
              <a:schemeClr val="accent3">
                <a:shade val="45000"/>
                <a:satMod val="135000"/>
              </a:schemeClr>
              <a:prstClr val="white"/>
            </a:duotone>
          </a:blip>
          <a:stretch>
            <a:fillRect/>
          </a:stretch>
        </p:blipFill>
        <p:spPr>
          <a:xfrm>
            <a:off x="8347735" y="2488161"/>
            <a:ext cx="3780986" cy="3385672"/>
          </a:xfrm>
          <a:prstGeom prst="rect">
            <a:avLst/>
          </a:prstGeom>
        </p:spPr>
      </p:pic>
      <p:sp>
        <p:nvSpPr>
          <p:cNvPr id="15" name="Line 35">
            <a:extLst>
              <a:ext uri="{FF2B5EF4-FFF2-40B4-BE49-F238E27FC236}">
                <a16:creationId xmlns:a16="http://schemas.microsoft.com/office/drawing/2014/main" id="{F076B77E-AAE2-4D71-8D57-91801D6E3894}"/>
              </a:ext>
            </a:extLst>
          </p:cNvPr>
          <p:cNvSpPr>
            <a:spLocks noChangeShapeType="1"/>
          </p:cNvSpPr>
          <p:nvPr/>
        </p:nvSpPr>
        <p:spPr bwMode="auto">
          <a:xfrm flipV="1">
            <a:off x="9667069" y="2426311"/>
            <a:ext cx="590430" cy="872951"/>
          </a:xfrm>
          <a:prstGeom prst="line">
            <a:avLst/>
          </a:prstGeom>
          <a:noFill/>
          <a:ln w="57150">
            <a:solidFill>
              <a:srgbClr val="2301ED"/>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Text Box 37">
            <a:extLst>
              <a:ext uri="{FF2B5EF4-FFF2-40B4-BE49-F238E27FC236}">
                <a16:creationId xmlns:a16="http://schemas.microsoft.com/office/drawing/2014/main" id="{5799056D-FC85-4D12-9046-21F1D621308A}"/>
              </a:ext>
            </a:extLst>
          </p:cNvPr>
          <p:cNvSpPr txBox="1">
            <a:spLocks noChangeArrowheads="1"/>
          </p:cNvSpPr>
          <p:nvPr/>
        </p:nvSpPr>
        <p:spPr bwMode="auto">
          <a:xfrm>
            <a:off x="9804972" y="1941949"/>
            <a:ext cx="4554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i="1" dirty="0">
                <a:solidFill>
                  <a:srgbClr val="2301ED"/>
                </a:solidFill>
                <a:latin typeface="Times New Roman" panose="02020603050405020304" pitchFamily="18" charset="0"/>
              </a:rPr>
              <a:t>a</a:t>
            </a:r>
            <a:r>
              <a:rPr lang="en-US" altLang="en-US" sz="2000" b="1" i="1" baseline="-25000" dirty="0">
                <a:solidFill>
                  <a:srgbClr val="2301ED"/>
                </a:solidFill>
                <a:latin typeface="Times New Roman" panose="02020603050405020304" pitchFamily="18" charset="0"/>
              </a:rPr>
              <a:t>n</a:t>
            </a:r>
            <a:endParaRPr lang="ru-RU" altLang="en-US" sz="2000" b="1" i="1" baseline="-25000" dirty="0">
              <a:solidFill>
                <a:srgbClr val="2301ED"/>
              </a:solidFill>
              <a:latin typeface="Times New Roman" panose="02020603050405020304" pitchFamily="18" charset="0"/>
            </a:endParaRPr>
          </a:p>
        </p:txBody>
      </p:sp>
      <p:sp>
        <p:nvSpPr>
          <p:cNvPr id="17" name="Rectangle 16">
            <a:extLst>
              <a:ext uri="{FF2B5EF4-FFF2-40B4-BE49-F238E27FC236}">
                <a16:creationId xmlns:a16="http://schemas.microsoft.com/office/drawing/2014/main" id="{207E4626-FAE1-4A94-A0E5-46C04C186BE6}"/>
              </a:ext>
            </a:extLst>
          </p:cNvPr>
          <p:cNvSpPr/>
          <p:nvPr/>
        </p:nvSpPr>
        <p:spPr>
          <a:xfrm>
            <a:off x="4103649" y="3283424"/>
            <a:ext cx="438614" cy="3964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Object 17">
            <a:extLst>
              <a:ext uri="{FF2B5EF4-FFF2-40B4-BE49-F238E27FC236}">
                <a16:creationId xmlns:a16="http://schemas.microsoft.com/office/drawing/2014/main" id="{6213F588-C6F3-4F6B-ABDB-0B6E7D2E7BE6}"/>
              </a:ext>
            </a:extLst>
          </p:cNvPr>
          <p:cNvGraphicFramePr>
            <a:graphicFrameLocks noChangeAspect="1"/>
          </p:cNvGraphicFramePr>
          <p:nvPr>
            <p:extLst>
              <p:ext uri="{D42A27DB-BD31-4B8C-83A1-F6EECF244321}">
                <p14:modId xmlns:p14="http://schemas.microsoft.com/office/powerpoint/2010/main" val="289010210"/>
              </p:ext>
            </p:extLst>
          </p:nvPr>
        </p:nvGraphicFramePr>
        <p:xfrm>
          <a:off x="631825" y="2373869"/>
          <a:ext cx="1181100" cy="736600"/>
        </p:xfrm>
        <a:graphic>
          <a:graphicData uri="http://schemas.openxmlformats.org/presentationml/2006/ole">
            <mc:AlternateContent xmlns:mc="http://schemas.openxmlformats.org/markup-compatibility/2006">
              <mc:Choice xmlns:v="urn:schemas-microsoft-com:vml" Requires="v">
                <p:oleObj spid="_x0000_s11453" name="Equation" r:id="rId4" imgW="1180800" imgH="736560" progId="Equation.DSMT4">
                  <p:embed/>
                </p:oleObj>
              </mc:Choice>
              <mc:Fallback>
                <p:oleObj name="Equation" r:id="rId4" imgW="1180800" imgH="736560" progId="Equation.DSMT4">
                  <p:embed/>
                  <p:pic>
                    <p:nvPicPr>
                      <p:cNvPr id="0" name=""/>
                      <p:cNvPicPr/>
                      <p:nvPr/>
                    </p:nvPicPr>
                    <p:blipFill>
                      <a:blip r:embed="rId5"/>
                      <a:stretch>
                        <a:fillRect/>
                      </a:stretch>
                    </p:blipFill>
                    <p:spPr>
                      <a:xfrm>
                        <a:off x="631825" y="2373869"/>
                        <a:ext cx="1181100" cy="7366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ACE61106-61E0-4F57-AE49-B5FB1D9BE74D}"/>
              </a:ext>
            </a:extLst>
          </p:cNvPr>
          <p:cNvGraphicFramePr>
            <a:graphicFrameLocks noChangeAspect="1"/>
          </p:cNvGraphicFramePr>
          <p:nvPr>
            <p:extLst>
              <p:ext uri="{D42A27DB-BD31-4B8C-83A1-F6EECF244321}">
                <p14:modId xmlns:p14="http://schemas.microsoft.com/office/powerpoint/2010/main" val="1066818401"/>
              </p:ext>
            </p:extLst>
          </p:nvPr>
        </p:nvGraphicFramePr>
        <p:xfrm>
          <a:off x="479424" y="4028075"/>
          <a:ext cx="1155700" cy="762000"/>
        </p:xfrm>
        <a:graphic>
          <a:graphicData uri="http://schemas.openxmlformats.org/presentationml/2006/ole">
            <mc:AlternateContent xmlns:mc="http://schemas.openxmlformats.org/markup-compatibility/2006">
              <mc:Choice xmlns:v="urn:schemas-microsoft-com:vml" Requires="v">
                <p:oleObj spid="_x0000_s11454" name="Equation" r:id="rId6" imgW="1155600" imgH="761760" progId="Equation.DSMT4">
                  <p:embed/>
                </p:oleObj>
              </mc:Choice>
              <mc:Fallback>
                <p:oleObj name="Equation" r:id="rId6" imgW="1155600" imgH="761760" progId="Equation.DSMT4">
                  <p:embed/>
                  <p:pic>
                    <p:nvPicPr>
                      <p:cNvPr id="0" name=""/>
                      <p:cNvPicPr/>
                      <p:nvPr/>
                    </p:nvPicPr>
                    <p:blipFill>
                      <a:blip r:embed="rId7"/>
                      <a:stretch>
                        <a:fillRect/>
                      </a:stretch>
                    </p:blipFill>
                    <p:spPr>
                      <a:xfrm>
                        <a:off x="479424" y="4028075"/>
                        <a:ext cx="1155700" cy="7620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C552AA8-FEAB-432D-B2CA-72A65E43DFC8}"/>
                  </a:ext>
                </a:extLst>
              </p:cNvPr>
              <p:cNvSpPr txBox="1"/>
              <p:nvPr/>
            </p:nvSpPr>
            <p:spPr>
              <a:xfrm>
                <a:off x="2198752" y="2142004"/>
                <a:ext cx="6174058" cy="1200329"/>
              </a:xfrm>
              <a:prstGeom prst="rect">
                <a:avLst/>
              </a:prstGeom>
              <a:noFill/>
            </p:spPr>
            <p:txBody>
              <a:bodyPr wrap="square">
                <a:spAutoFit/>
              </a:bodyPr>
              <a:lstStyle/>
              <a:p>
                <a:r>
                  <a:rPr lang="ru-RU" i="1" dirty="0">
                    <a:sym typeface="Symbol" panose="05050102010706020507" pitchFamily="18" charset="2"/>
                  </a:rPr>
                  <a:t>Тангенциальная составляющая, связанная с единичным вектором </a:t>
                </a:r>
                <a14:m>
                  <m:oMath xmlns:m="http://schemas.openxmlformats.org/officeDocument/2006/math">
                    <m:acc>
                      <m:accPr>
                        <m:chr m:val="⃗"/>
                        <m:ctrlPr>
                          <a:rPr lang="ru-RU" i="1" smtClean="0">
                            <a:latin typeface="Cambria Math" panose="02040503050406030204" pitchFamily="18" charset="0"/>
                            <a:sym typeface="Symbol" panose="05050102010706020507" pitchFamily="18" charset="2"/>
                          </a:rPr>
                        </m:ctrlPr>
                      </m:accPr>
                      <m:e>
                        <m:r>
                          <a:rPr lang="ru-RU" i="1" smtClean="0">
                            <a:latin typeface="Cambria Math" panose="02040503050406030204" pitchFamily="18" charset="0"/>
                            <a:ea typeface="Cambria Math" panose="02040503050406030204" pitchFamily="18" charset="0"/>
                            <a:sym typeface="Symbol" panose="05050102010706020507" pitchFamily="18" charset="2"/>
                          </a:rPr>
                          <m:t>𝜏</m:t>
                        </m:r>
                      </m:e>
                    </m:acc>
                  </m:oMath>
                </a14:m>
                <a:r>
                  <a:rPr lang="ru-RU" dirty="0"/>
                  <a:t>, её знак связан с направленностью вектора скорости относительно ускорения</a:t>
                </a:r>
                <a:endParaRPr lang="en-US" dirty="0"/>
              </a:p>
            </p:txBody>
          </p:sp>
        </mc:Choice>
        <mc:Fallback xmlns="">
          <p:sp>
            <p:nvSpPr>
              <p:cNvPr id="21" name="TextBox 20">
                <a:extLst>
                  <a:ext uri="{FF2B5EF4-FFF2-40B4-BE49-F238E27FC236}">
                    <a16:creationId xmlns:a16="http://schemas.microsoft.com/office/drawing/2014/main" id="{DC552AA8-FEAB-432D-B2CA-72A65E43DFC8}"/>
                  </a:ext>
                </a:extLst>
              </p:cNvPr>
              <p:cNvSpPr txBox="1">
                <a:spLocks noRot="1" noChangeAspect="1" noMove="1" noResize="1" noEditPoints="1" noAdjustHandles="1" noChangeArrowheads="1" noChangeShapeType="1" noTextEdit="1"/>
              </p:cNvSpPr>
              <p:nvPr/>
            </p:nvSpPr>
            <p:spPr>
              <a:xfrm>
                <a:off x="2198752" y="2142004"/>
                <a:ext cx="6174058" cy="1200329"/>
              </a:xfrm>
              <a:prstGeom prst="rect">
                <a:avLst/>
              </a:prstGeom>
              <a:blipFill>
                <a:blip r:embed="rId8"/>
                <a:stretch>
                  <a:fillRect l="-889" t="-2030" b="-76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CF30351-CD62-4757-BC2A-76A9D71593B9}"/>
                  </a:ext>
                </a:extLst>
              </p:cNvPr>
              <p:cNvSpPr txBox="1"/>
              <p:nvPr/>
            </p:nvSpPr>
            <p:spPr>
              <a:xfrm>
                <a:off x="2198752" y="4108614"/>
                <a:ext cx="6174058" cy="646331"/>
              </a:xfrm>
              <a:prstGeom prst="rect">
                <a:avLst/>
              </a:prstGeom>
              <a:noFill/>
            </p:spPr>
            <p:txBody>
              <a:bodyPr wrap="square">
                <a:spAutoFit/>
              </a:bodyPr>
              <a:lstStyle/>
              <a:p>
                <a:r>
                  <a:rPr lang="ru-RU" i="1" dirty="0">
                    <a:sym typeface="Symbol" panose="05050102010706020507" pitchFamily="18" charset="2"/>
                  </a:rPr>
                  <a:t>Нормальная составляющая, связанная с единичным вектором нормали </a:t>
                </a:r>
                <a14:m>
                  <m:oMath xmlns:m="http://schemas.openxmlformats.org/officeDocument/2006/math">
                    <m:acc>
                      <m:accPr>
                        <m:chr m:val="⃗"/>
                        <m:ctrlPr>
                          <a:rPr lang="ru-RU" i="1" smtClean="0">
                            <a:latin typeface="Cambria Math" panose="02040503050406030204" pitchFamily="18" charset="0"/>
                            <a:sym typeface="Symbol" panose="05050102010706020507" pitchFamily="18" charset="2"/>
                          </a:rPr>
                        </m:ctrlPr>
                      </m:accPr>
                      <m:e>
                        <m:r>
                          <a:rPr lang="en-US" b="0" i="1" smtClean="0">
                            <a:latin typeface="Cambria Math" panose="02040503050406030204" pitchFamily="18" charset="0"/>
                            <a:sym typeface="Symbol" panose="05050102010706020507" pitchFamily="18" charset="2"/>
                          </a:rPr>
                          <m:t>𝑛</m:t>
                        </m:r>
                      </m:e>
                    </m:acc>
                  </m:oMath>
                </a14:m>
                <a:endParaRPr lang="en-US" dirty="0"/>
              </a:p>
            </p:txBody>
          </p:sp>
        </mc:Choice>
        <mc:Fallback xmlns="">
          <p:sp>
            <p:nvSpPr>
              <p:cNvPr id="22" name="TextBox 21">
                <a:extLst>
                  <a:ext uri="{FF2B5EF4-FFF2-40B4-BE49-F238E27FC236}">
                    <a16:creationId xmlns:a16="http://schemas.microsoft.com/office/drawing/2014/main" id="{2CF30351-CD62-4757-BC2A-76A9D71593B9}"/>
                  </a:ext>
                </a:extLst>
              </p:cNvPr>
              <p:cNvSpPr txBox="1">
                <a:spLocks noRot="1" noChangeAspect="1" noMove="1" noResize="1" noEditPoints="1" noAdjustHandles="1" noChangeArrowheads="1" noChangeShapeType="1" noTextEdit="1"/>
              </p:cNvSpPr>
              <p:nvPr/>
            </p:nvSpPr>
            <p:spPr>
              <a:xfrm>
                <a:off x="2198752" y="4108614"/>
                <a:ext cx="6174058" cy="646331"/>
              </a:xfrm>
              <a:prstGeom prst="rect">
                <a:avLst/>
              </a:prstGeom>
              <a:blipFill>
                <a:blip r:embed="rId9"/>
                <a:stretch>
                  <a:fillRect l="-889" t="-4717" b="-15094"/>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57F1CEE0-8BE9-4B03-83B1-D17A88F2EA9F}"/>
              </a:ext>
            </a:extLst>
          </p:cNvPr>
          <p:cNvSpPr/>
          <p:nvPr/>
        </p:nvSpPr>
        <p:spPr>
          <a:xfrm>
            <a:off x="479424" y="3515668"/>
            <a:ext cx="7604060" cy="97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Object 23">
            <a:extLst>
              <a:ext uri="{FF2B5EF4-FFF2-40B4-BE49-F238E27FC236}">
                <a16:creationId xmlns:a16="http://schemas.microsoft.com/office/drawing/2014/main" id="{B7F218DB-3E1B-46EA-8446-D352790FF042}"/>
              </a:ext>
            </a:extLst>
          </p:cNvPr>
          <p:cNvGraphicFramePr>
            <a:graphicFrameLocks noChangeAspect="1"/>
          </p:cNvGraphicFramePr>
          <p:nvPr>
            <p:extLst>
              <p:ext uri="{D42A27DB-BD31-4B8C-83A1-F6EECF244321}">
                <p14:modId xmlns:p14="http://schemas.microsoft.com/office/powerpoint/2010/main" val="1397135749"/>
              </p:ext>
            </p:extLst>
          </p:nvPr>
        </p:nvGraphicFramePr>
        <p:xfrm>
          <a:off x="483562" y="5747989"/>
          <a:ext cx="1587500" cy="508000"/>
        </p:xfrm>
        <a:graphic>
          <a:graphicData uri="http://schemas.openxmlformats.org/presentationml/2006/ole">
            <mc:AlternateContent xmlns:mc="http://schemas.openxmlformats.org/markup-compatibility/2006">
              <mc:Choice xmlns:v="urn:schemas-microsoft-com:vml" Requires="v">
                <p:oleObj spid="_x0000_s11455" name="Equation" r:id="rId10" imgW="1587240" imgH="507960" progId="Equation.DSMT4">
                  <p:embed/>
                </p:oleObj>
              </mc:Choice>
              <mc:Fallback>
                <p:oleObj name="Equation" r:id="rId10" imgW="1587240" imgH="507960" progId="Equation.DSMT4">
                  <p:embed/>
                  <p:pic>
                    <p:nvPicPr>
                      <p:cNvPr id="0" name=""/>
                      <p:cNvPicPr/>
                      <p:nvPr/>
                    </p:nvPicPr>
                    <p:blipFill>
                      <a:blip r:embed="rId11"/>
                      <a:stretch>
                        <a:fillRect/>
                      </a:stretch>
                    </p:blipFill>
                    <p:spPr>
                      <a:xfrm>
                        <a:off x="483562" y="5747989"/>
                        <a:ext cx="1587500" cy="508000"/>
                      </a:xfrm>
                      <a:prstGeom prst="rect">
                        <a:avLst/>
                      </a:prstGeom>
                    </p:spPr>
                  </p:pic>
                </p:oleObj>
              </mc:Fallback>
            </mc:AlternateContent>
          </a:graphicData>
        </a:graphic>
      </p:graphicFrame>
      <p:sp>
        <p:nvSpPr>
          <p:cNvPr id="25" name="Rectangle 24">
            <a:extLst>
              <a:ext uri="{FF2B5EF4-FFF2-40B4-BE49-F238E27FC236}">
                <a16:creationId xmlns:a16="http://schemas.microsoft.com/office/drawing/2014/main" id="{2CD39034-A771-477F-B357-77C5886A9EDE}"/>
              </a:ext>
            </a:extLst>
          </p:cNvPr>
          <p:cNvSpPr/>
          <p:nvPr/>
        </p:nvSpPr>
        <p:spPr>
          <a:xfrm>
            <a:off x="479424" y="5300855"/>
            <a:ext cx="7604060" cy="97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26A16F2-C0E9-4A7C-A236-834C9D9CF74D}"/>
              </a:ext>
            </a:extLst>
          </p:cNvPr>
          <p:cNvSpPr txBox="1"/>
          <p:nvPr/>
        </p:nvSpPr>
        <p:spPr>
          <a:xfrm>
            <a:off x="2198752" y="5836390"/>
            <a:ext cx="6174058" cy="369332"/>
          </a:xfrm>
          <a:prstGeom prst="rect">
            <a:avLst/>
          </a:prstGeom>
          <a:noFill/>
        </p:spPr>
        <p:txBody>
          <a:bodyPr wrap="square">
            <a:spAutoFit/>
          </a:bodyPr>
          <a:lstStyle/>
          <a:p>
            <a:r>
              <a:rPr lang="ru-RU" dirty="0"/>
              <a:t>Модуль общего ускорения</a:t>
            </a:r>
            <a:endParaRPr lang="en-US" dirty="0"/>
          </a:p>
        </p:txBody>
      </p:sp>
    </p:spTree>
    <p:extLst>
      <p:ext uri="{BB962C8B-B14F-4D97-AF65-F5344CB8AC3E}">
        <p14:creationId xmlns:p14="http://schemas.microsoft.com/office/powerpoint/2010/main" val="1887338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par>
                          <p:cTn id="8" fill="hold">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ppt_w</p:attrName>
                                        </p:attrNameLst>
                                      </p:cBhvr>
                                      <p:tavLst>
                                        <p:tav tm="0">
                                          <p:val>
                                            <p:fltVal val="0"/>
                                          </p:val>
                                        </p:tav>
                                        <p:tav tm="100000">
                                          <p:val>
                                            <p:strVal val="#ppt_w"/>
                                          </p:val>
                                        </p:tav>
                                      </p:tavLst>
                                    </p:anim>
                                    <p:anim calcmode="lin" valueType="num">
                                      <p:cBhvr>
                                        <p:cTn id="12" dur="500" fill="hold"/>
                                        <p:tgtEl>
                                          <p:spTgt spid="16"/>
                                        </p:tgtEl>
                                        <p:attrNameLst>
                                          <p:attrName>ppt_h</p:attrName>
                                        </p:attrNameLst>
                                      </p:cBhvr>
                                      <p:tavLst>
                                        <p:tav tm="0">
                                          <p:val>
                                            <p:fltVal val="0"/>
                                          </p:val>
                                        </p:tav>
                                        <p:tav tm="100000">
                                          <p:val>
                                            <p:strVal val="#ppt_h"/>
                                          </p:val>
                                        </p:tav>
                                      </p:tavLst>
                                    </p:anim>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374393" y="671997"/>
            <a:ext cx="10567516" cy="396862"/>
          </a:xfrm>
        </p:spPr>
        <p:txBody>
          <a:bodyPr/>
          <a:lstStyle/>
          <a:p>
            <a:r>
              <a:rPr lang="ru-RU" dirty="0"/>
              <a:t>Вывод уравнения для нормальной компоненты</a:t>
            </a:r>
          </a:p>
        </p:txBody>
      </p:sp>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9423" y="1169667"/>
                <a:ext cx="11288831" cy="5539108"/>
              </a:xfrm>
            </p:spPr>
            <p:txBody>
              <a:bodyPr/>
              <a:lstStyle/>
              <a:p>
                <a:endParaRPr lang="ru-RU" dirty="0"/>
              </a:p>
              <a:p>
                <a:endParaRPr lang="ru-RU" b="0" dirty="0"/>
              </a:p>
              <a:p>
                <a:endParaRPr lang="ru-RU" b="0" dirty="0"/>
              </a:p>
              <a:p>
                <a:endParaRPr lang="ru-RU" b="0" dirty="0"/>
              </a:p>
              <a:p>
                <a:r>
                  <a:rPr lang="ru-RU" b="0" dirty="0"/>
                  <a:t>Так как </a:t>
                </a:r>
                <a14:m>
                  <m:oMath xmlns:m="http://schemas.openxmlformats.org/officeDocument/2006/math">
                    <m:acc>
                      <m:accPr>
                        <m:chr m:val="⃗"/>
                        <m:ctrlPr>
                          <a:rPr lang="ru-RU" b="0" i="1" smtClean="0">
                            <a:latin typeface="Cambria Math" panose="02040503050406030204" pitchFamily="18" charset="0"/>
                          </a:rPr>
                        </m:ctrlPr>
                      </m:accPr>
                      <m:e>
                        <m:r>
                          <a:rPr lang="ru-RU" b="0" i="1" smtClean="0">
                            <a:latin typeface="Cambria Math" panose="02040503050406030204" pitchFamily="18" charset="0"/>
                            <a:ea typeface="Cambria Math" panose="02040503050406030204" pitchFamily="18" charset="0"/>
                          </a:rPr>
                          <m:t>𝜏</m:t>
                        </m:r>
                      </m:e>
                    </m:acc>
                    <m:r>
                      <a:rPr lang="ru-RU" b="0" i="1" smtClean="0">
                        <a:latin typeface="Cambria Math" panose="02040503050406030204" pitchFamily="18" charset="0"/>
                      </a:rPr>
                      <m:t>=</m:t>
                    </m:r>
                    <m:r>
                      <a:rPr lang="en-US" b="0" i="1" smtClean="0">
                        <a:latin typeface="Cambria Math" panose="02040503050406030204" pitchFamily="18" charset="0"/>
                      </a:rPr>
                      <m:t>𝑐𝑜𝑛𝑠𝑡</m:t>
                    </m:r>
                  </m:oMath>
                </a14:m>
                <a:r>
                  <a:rPr lang="en-US" b="0" dirty="0"/>
                  <a:t>, </a:t>
                </a:r>
                <a:r>
                  <a:rPr lang="ru-RU" b="0" dirty="0"/>
                  <a:t>то </a:t>
                </a:r>
                <a14:m>
                  <m:oMath xmlns:m="http://schemas.openxmlformats.org/officeDocument/2006/math">
                    <m:acc>
                      <m:accPr>
                        <m:chr m:val="⃗"/>
                        <m:ctrlPr>
                          <a:rPr lang="ru-RU" i="1">
                            <a:latin typeface="Cambria Math" panose="02040503050406030204" pitchFamily="18" charset="0"/>
                          </a:rPr>
                        </m:ctrlPr>
                      </m:accPr>
                      <m:e>
                        <m:r>
                          <a:rPr lang="ru-RU" i="1">
                            <a:latin typeface="Cambria Math" panose="02040503050406030204" pitchFamily="18" charset="0"/>
                            <a:ea typeface="Cambria Math" panose="02040503050406030204" pitchFamily="18" charset="0"/>
                          </a:rPr>
                          <m:t>𝜏</m:t>
                        </m:r>
                      </m:e>
                    </m:acc>
                    <m:r>
                      <a:rPr lang="en-US" b="0" i="1" smtClean="0">
                        <a:latin typeface="Cambria Math" panose="02040503050406030204" pitchFamily="18" charset="0"/>
                        <a:ea typeface="Cambria Math" panose="02040503050406030204" pitchFamily="18" charset="0"/>
                      </a:rPr>
                      <m:t>𝑑</m:t>
                    </m:r>
                    <m:acc>
                      <m:accPr>
                        <m:chr m:val="⃗"/>
                        <m:ctrlPr>
                          <a:rPr lang="ru-RU" i="1">
                            <a:latin typeface="Cambria Math" panose="02040503050406030204" pitchFamily="18" charset="0"/>
                          </a:rPr>
                        </m:ctrlPr>
                      </m:accPr>
                      <m:e>
                        <m:r>
                          <a:rPr lang="ru-RU" i="1">
                            <a:latin typeface="Cambria Math" panose="02040503050406030204" pitchFamily="18" charset="0"/>
                            <a:ea typeface="Cambria Math" panose="02040503050406030204" pitchFamily="18" charset="0"/>
                          </a:rPr>
                          <m:t>𝜏</m:t>
                        </m:r>
                      </m:e>
                    </m:acc>
                    <m:r>
                      <a:rPr lang="en-US" b="0" i="1" smtClean="0">
                        <a:latin typeface="Cambria Math" panose="02040503050406030204" pitchFamily="18" charset="0"/>
                        <a:ea typeface="Cambria Math" panose="02040503050406030204" pitchFamily="18" charset="0"/>
                      </a:rPr>
                      <m:t>=0</m:t>
                    </m:r>
                  </m:oMath>
                </a14:m>
                <a:r>
                  <a:rPr lang="en-US" b="0" dirty="0"/>
                  <a:t> </a:t>
                </a:r>
                <a:r>
                  <a:rPr lang="ru-RU" b="0" dirty="0"/>
                  <a:t>и следовательно, </a:t>
                </a:r>
                <a14:m>
                  <m:oMath xmlns:m="http://schemas.openxmlformats.org/officeDocument/2006/math">
                    <m:r>
                      <a:rPr lang="en-US" i="1">
                        <a:latin typeface="Cambria Math" panose="02040503050406030204" pitchFamily="18" charset="0"/>
                        <a:ea typeface="Cambria Math" panose="02040503050406030204" pitchFamily="18" charset="0"/>
                      </a:rPr>
                      <m:t>𝑑</m:t>
                    </m:r>
                    <m:acc>
                      <m:accPr>
                        <m:chr m:val="⃗"/>
                        <m:ctrlPr>
                          <a:rPr lang="ru-RU" i="1">
                            <a:latin typeface="Cambria Math" panose="02040503050406030204" pitchFamily="18" charset="0"/>
                          </a:rPr>
                        </m:ctrlPr>
                      </m:accPr>
                      <m:e>
                        <m:r>
                          <a:rPr lang="ru-RU" i="1">
                            <a:latin typeface="Cambria Math" panose="02040503050406030204" pitchFamily="18" charset="0"/>
                            <a:ea typeface="Cambria Math" panose="02040503050406030204" pitchFamily="18" charset="0"/>
                          </a:rPr>
                          <m:t>𝜏</m:t>
                        </m:r>
                      </m:e>
                    </m:acc>
                    <m:r>
                      <a:rPr lang="ru-RU" i="1">
                        <a:latin typeface="Cambria Math" panose="02040503050406030204" pitchFamily="18" charset="0"/>
                        <a:ea typeface="Cambria Math" panose="02040503050406030204" pitchFamily="18" charset="0"/>
                      </a:rPr>
                      <m:t>⊥</m:t>
                    </m:r>
                    <m:acc>
                      <m:accPr>
                        <m:chr m:val="⃗"/>
                        <m:ctrlPr>
                          <a:rPr lang="ru-RU" i="1">
                            <a:latin typeface="Cambria Math" panose="02040503050406030204" pitchFamily="18" charset="0"/>
                          </a:rPr>
                        </m:ctrlPr>
                      </m:accPr>
                      <m:e>
                        <m:r>
                          <a:rPr lang="ru-RU" i="1">
                            <a:latin typeface="Cambria Math" panose="02040503050406030204" pitchFamily="18" charset="0"/>
                            <a:ea typeface="Cambria Math" panose="02040503050406030204" pitchFamily="18" charset="0"/>
                          </a:rPr>
                          <m:t>𝜏</m:t>
                        </m:r>
                      </m:e>
                    </m:acc>
                  </m:oMath>
                </a14:m>
                <a:r>
                  <a:rPr lang="ru-RU" b="0" dirty="0"/>
                  <a:t> или </a:t>
                </a:r>
                <a14:m>
                  <m:oMath xmlns:m="http://schemas.openxmlformats.org/officeDocument/2006/math">
                    <m:r>
                      <a:rPr lang="en-US" i="1">
                        <a:latin typeface="Cambria Math" panose="02040503050406030204" pitchFamily="18" charset="0"/>
                        <a:ea typeface="Cambria Math" panose="02040503050406030204" pitchFamily="18" charset="0"/>
                      </a:rPr>
                      <m:t>𝑑</m:t>
                    </m:r>
                    <m:acc>
                      <m:accPr>
                        <m:chr m:val="⃗"/>
                        <m:ctrlPr>
                          <a:rPr lang="ru-RU" i="1">
                            <a:latin typeface="Cambria Math" panose="02040503050406030204" pitchFamily="18" charset="0"/>
                          </a:rPr>
                        </m:ctrlPr>
                      </m:accPr>
                      <m:e>
                        <m:r>
                          <a:rPr lang="ru-RU" i="1">
                            <a:latin typeface="Cambria Math" panose="02040503050406030204" pitchFamily="18" charset="0"/>
                            <a:ea typeface="Cambria Math" panose="02040503050406030204" pitchFamily="18" charset="0"/>
                          </a:rPr>
                          <m:t>𝜏</m:t>
                        </m:r>
                      </m:e>
                    </m:acc>
                    <m:r>
                      <a:rPr lang="ru-RU" i="1">
                        <a:latin typeface="Cambria Math" panose="02040503050406030204" pitchFamily="18" charset="0"/>
                        <a:ea typeface="Cambria Math" panose="02040503050406030204" pitchFamily="18" charset="0"/>
                      </a:rPr>
                      <m:t>⇈</m:t>
                    </m:r>
                    <m:acc>
                      <m:accPr>
                        <m:chr m:val="⃗"/>
                        <m:ctrlPr>
                          <a:rPr lang="ru-RU" i="1">
                            <a:latin typeface="Cambria Math" panose="02040503050406030204" pitchFamily="18" charset="0"/>
                          </a:rPr>
                        </m:ctrlPr>
                      </m:accPr>
                      <m:e>
                        <m:r>
                          <a:rPr lang="en-US" b="0" i="1" smtClean="0">
                            <a:latin typeface="Cambria Math" panose="02040503050406030204" pitchFamily="18" charset="0"/>
                          </a:rPr>
                          <m:t>𝑛</m:t>
                        </m:r>
                      </m:e>
                    </m:acc>
                  </m:oMath>
                </a14:m>
                <a:r>
                  <a:rPr lang="en-US" b="0" dirty="0"/>
                  <a:t>. </a:t>
                </a:r>
                <a:r>
                  <a:rPr lang="ru-RU" b="0" dirty="0"/>
                  <a:t>Модуль приращения </a:t>
                </a:r>
                <a14:m>
                  <m:oMath xmlns:m="http://schemas.openxmlformats.org/officeDocument/2006/math">
                    <m:r>
                      <a:rPr lang="en-US" i="1">
                        <a:latin typeface="Cambria Math" panose="02040503050406030204" pitchFamily="18" charset="0"/>
                        <a:ea typeface="Cambria Math" panose="02040503050406030204" pitchFamily="18" charset="0"/>
                      </a:rPr>
                      <m:t>𝑑</m:t>
                    </m:r>
                    <m:acc>
                      <m:accPr>
                        <m:chr m:val="⃗"/>
                        <m:ctrlPr>
                          <a:rPr lang="ru-RU" i="1">
                            <a:latin typeface="Cambria Math" panose="02040503050406030204" pitchFamily="18" charset="0"/>
                          </a:rPr>
                        </m:ctrlPr>
                      </m:accPr>
                      <m:e>
                        <m:r>
                          <a:rPr lang="ru-RU" i="1">
                            <a:latin typeface="Cambria Math" panose="02040503050406030204" pitchFamily="18" charset="0"/>
                            <a:ea typeface="Cambria Math" panose="02040503050406030204" pitchFamily="18" charset="0"/>
                          </a:rPr>
                          <m:t>𝜏</m:t>
                        </m:r>
                      </m:e>
                    </m:acc>
                  </m:oMath>
                </a14:m>
                <a:r>
                  <a:rPr lang="en-US" dirty="0"/>
                  <a:t> </a:t>
                </a:r>
                <a:r>
                  <a:rPr lang="ru-RU" dirty="0"/>
                  <a:t>равен малому углу поворота точки вокруг центра кривизны траектории.</a:t>
                </a:r>
              </a:p>
              <a:p>
                <a:endParaRPr lang="ru-RU" dirty="0"/>
              </a:p>
              <a:p>
                <a:endParaRPr lang="ru-RU" dirty="0"/>
              </a:p>
            </p:txBody>
          </p:sp>
        </mc:Choice>
        <mc:Fallback xmlns="">
          <p:sp>
            <p:nvSpPr>
              <p:cNvPr id="10" name="Текст 9">
                <a:extLst>
                  <a:ext uri="{FF2B5EF4-FFF2-40B4-BE49-F238E27FC236}">
                    <a16:creationId xmlns="" xmlns:a16="http://schemas.microsoft.com/office/drawing/2014/main"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79423" y="1169667"/>
                <a:ext cx="11288831" cy="5539108"/>
              </a:xfrm>
              <a:blipFill rotWithShape="1">
                <a:blip r:embed="rId3"/>
                <a:stretch>
                  <a:fillRect l="-864" r="-54"/>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graphicFrame>
        <p:nvGraphicFramePr>
          <p:cNvPr id="4" name="Object 3">
            <a:extLst>
              <a:ext uri="{FF2B5EF4-FFF2-40B4-BE49-F238E27FC236}">
                <a16:creationId xmlns:a16="http://schemas.microsoft.com/office/drawing/2014/main" id="{B6B75A4B-4B1D-4EC4-91BF-6315D5EA6AF4}"/>
              </a:ext>
            </a:extLst>
          </p:cNvPr>
          <p:cNvGraphicFramePr>
            <a:graphicFrameLocks noChangeAspect="1"/>
          </p:cNvGraphicFramePr>
          <p:nvPr>
            <p:extLst>
              <p:ext uri="{D42A27DB-BD31-4B8C-83A1-F6EECF244321}">
                <p14:modId xmlns:p14="http://schemas.microsoft.com/office/powerpoint/2010/main" val="356259522"/>
              </p:ext>
            </p:extLst>
          </p:nvPr>
        </p:nvGraphicFramePr>
        <p:xfrm>
          <a:off x="3413388" y="1069583"/>
          <a:ext cx="1155700" cy="762000"/>
        </p:xfrm>
        <a:graphic>
          <a:graphicData uri="http://schemas.openxmlformats.org/presentationml/2006/ole">
            <mc:AlternateContent xmlns:mc="http://schemas.openxmlformats.org/markup-compatibility/2006">
              <mc:Choice xmlns:v="urn:schemas-microsoft-com:vml" Requires="v">
                <p:oleObj spid="_x0000_s12604" name="Equation" r:id="rId4" imgW="1155600" imgH="761760" progId="Equation.DSMT4">
                  <p:embed/>
                </p:oleObj>
              </mc:Choice>
              <mc:Fallback>
                <p:oleObj name="Equation" r:id="rId4" imgW="1155600" imgH="761760" progId="Equation.DSMT4">
                  <p:embed/>
                  <p:pic>
                    <p:nvPicPr>
                      <p:cNvPr id="0" name=""/>
                      <p:cNvPicPr/>
                      <p:nvPr/>
                    </p:nvPicPr>
                    <p:blipFill>
                      <a:blip r:embed="rId5"/>
                      <a:stretch>
                        <a:fillRect/>
                      </a:stretch>
                    </p:blipFill>
                    <p:spPr>
                      <a:xfrm>
                        <a:off x="3413388" y="1069583"/>
                        <a:ext cx="1155700" cy="7620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813A10C5-9DE2-4ADD-8F26-62E6607667C9}"/>
              </a:ext>
            </a:extLst>
          </p:cNvPr>
          <p:cNvGraphicFramePr>
            <a:graphicFrameLocks noChangeAspect="1"/>
          </p:cNvGraphicFramePr>
          <p:nvPr>
            <p:extLst>
              <p:ext uri="{D42A27DB-BD31-4B8C-83A1-F6EECF244321}">
                <p14:modId xmlns:p14="http://schemas.microsoft.com/office/powerpoint/2010/main" val="1330591422"/>
              </p:ext>
            </p:extLst>
          </p:nvPr>
        </p:nvGraphicFramePr>
        <p:xfrm>
          <a:off x="748743" y="1999607"/>
          <a:ext cx="2705100" cy="736600"/>
        </p:xfrm>
        <a:graphic>
          <a:graphicData uri="http://schemas.openxmlformats.org/presentationml/2006/ole">
            <mc:AlternateContent xmlns:mc="http://schemas.openxmlformats.org/markup-compatibility/2006">
              <mc:Choice xmlns:v="urn:schemas-microsoft-com:vml" Requires="v">
                <p:oleObj spid="_x0000_s12605" name="Equation" r:id="rId6" imgW="2705040" imgH="736560" progId="Equation.DSMT4">
                  <p:embed/>
                </p:oleObj>
              </mc:Choice>
              <mc:Fallback>
                <p:oleObj name="Equation" r:id="rId6" imgW="2705040" imgH="736560" progId="Equation.DSMT4">
                  <p:embed/>
                  <p:pic>
                    <p:nvPicPr>
                      <p:cNvPr id="0" name=""/>
                      <p:cNvPicPr/>
                      <p:nvPr/>
                    </p:nvPicPr>
                    <p:blipFill>
                      <a:blip r:embed="rId7"/>
                      <a:stretch>
                        <a:fillRect/>
                      </a:stretch>
                    </p:blipFill>
                    <p:spPr>
                      <a:xfrm>
                        <a:off x="748743" y="1999607"/>
                        <a:ext cx="2705100" cy="736600"/>
                      </a:xfrm>
                      <a:prstGeom prst="rect">
                        <a:avLst/>
                      </a:prstGeom>
                    </p:spPr>
                  </p:pic>
                </p:oleObj>
              </mc:Fallback>
            </mc:AlternateContent>
          </a:graphicData>
        </a:graphic>
      </p:graphicFrame>
      <p:pic>
        <p:nvPicPr>
          <p:cNvPr id="11" name="Picture 2">
            <a:extLst>
              <a:ext uri="{FF2B5EF4-FFF2-40B4-BE49-F238E27FC236}">
                <a16:creationId xmlns:a16="http://schemas.microsoft.com/office/drawing/2014/main" id="{C2463632-6220-48E9-B1DC-01A728E0B83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9184" t="44847" r="24337" b="7252"/>
          <a:stretch/>
        </p:blipFill>
        <p:spPr bwMode="auto">
          <a:xfrm>
            <a:off x="7259595" y="3714347"/>
            <a:ext cx="4032872" cy="290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5">
            <a:extLst>
              <a:ext uri="{FF2B5EF4-FFF2-40B4-BE49-F238E27FC236}">
                <a16:creationId xmlns:a16="http://schemas.microsoft.com/office/drawing/2014/main" id="{AD3AD5E3-DAA1-468B-A1E9-16121FC5D0D1}"/>
              </a:ext>
            </a:extLst>
          </p:cNvPr>
          <p:cNvGraphicFramePr>
            <a:graphicFrameLocks noChangeAspect="1"/>
          </p:cNvGraphicFramePr>
          <p:nvPr>
            <p:extLst>
              <p:ext uri="{D42A27DB-BD31-4B8C-83A1-F6EECF244321}">
                <p14:modId xmlns:p14="http://schemas.microsoft.com/office/powerpoint/2010/main" val="1529471982"/>
              </p:ext>
            </p:extLst>
          </p:nvPr>
        </p:nvGraphicFramePr>
        <p:xfrm>
          <a:off x="698171" y="4279898"/>
          <a:ext cx="2070100" cy="431800"/>
        </p:xfrm>
        <a:graphic>
          <a:graphicData uri="http://schemas.openxmlformats.org/presentationml/2006/ole">
            <mc:AlternateContent xmlns:mc="http://schemas.openxmlformats.org/markup-compatibility/2006">
              <mc:Choice xmlns:v="urn:schemas-microsoft-com:vml" Requires="v">
                <p:oleObj spid="_x0000_s12606" name="Equation" r:id="rId9" imgW="2070000" imgH="431640" progId="Equation.DSMT4">
                  <p:embed/>
                </p:oleObj>
              </mc:Choice>
              <mc:Fallback>
                <p:oleObj name="Equation" r:id="rId9" imgW="2070000" imgH="431640" progId="Equation.DSMT4">
                  <p:embed/>
                  <p:pic>
                    <p:nvPicPr>
                      <p:cNvPr id="0" name=""/>
                      <p:cNvPicPr/>
                      <p:nvPr/>
                    </p:nvPicPr>
                    <p:blipFill>
                      <a:blip r:embed="rId10"/>
                      <a:stretch>
                        <a:fillRect/>
                      </a:stretch>
                    </p:blipFill>
                    <p:spPr>
                      <a:xfrm>
                        <a:off x="698171" y="4279898"/>
                        <a:ext cx="2070100" cy="4318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444DF92B-C199-4E68-9D9B-11E680E52450}"/>
              </a:ext>
            </a:extLst>
          </p:cNvPr>
          <p:cNvGraphicFramePr>
            <a:graphicFrameLocks noChangeAspect="1"/>
          </p:cNvGraphicFramePr>
          <p:nvPr>
            <p:extLst>
              <p:ext uri="{D42A27DB-BD31-4B8C-83A1-F6EECF244321}">
                <p14:modId xmlns:p14="http://schemas.microsoft.com/office/powerpoint/2010/main" val="774732920"/>
              </p:ext>
            </p:extLst>
          </p:nvPr>
        </p:nvGraphicFramePr>
        <p:xfrm>
          <a:off x="3250529" y="4160464"/>
          <a:ext cx="994018" cy="651253"/>
        </p:xfrm>
        <a:graphic>
          <a:graphicData uri="http://schemas.openxmlformats.org/presentationml/2006/ole">
            <mc:AlternateContent xmlns:mc="http://schemas.openxmlformats.org/markup-compatibility/2006">
              <mc:Choice xmlns:v="urn:schemas-microsoft-com:vml" Requires="v">
                <p:oleObj spid="_x0000_s12607" name="Equation" r:id="rId11" imgW="1104840" imgH="723600" progId="Equation.DSMT4">
                  <p:embed/>
                </p:oleObj>
              </mc:Choice>
              <mc:Fallback>
                <p:oleObj name="Equation" r:id="rId11" imgW="1104840" imgH="723600" progId="Equation.DSMT4">
                  <p:embed/>
                  <p:pic>
                    <p:nvPicPr>
                      <p:cNvPr id="0" name=""/>
                      <p:cNvPicPr/>
                      <p:nvPr/>
                    </p:nvPicPr>
                    <p:blipFill>
                      <a:blip r:embed="rId12"/>
                      <a:stretch>
                        <a:fillRect/>
                      </a:stretch>
                    </p:blipFill>
                    <p:spPr>
                      <a:xfrm>
                        <a:off x="3250529" y="4160464"/>
                        <a:ext cx="994018" cy="651253"/>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7744F8A-62D9-41A7-AA22-BB8D3390CEA4}"/>
              </a:ext>
            </a:extLst>
          </p:cNvPr>
          <p:cNvGraphicFramePr>
            <a:graphicFrameLocks noChangeAspect="1"/>
          </p:cNvGraphicFramePr>
          <p:nvPr>
            <p:extLst>
              <p:ext uri="{D42A27DB-BD31-4B8C-83A1-F6EECF244321}">
                <p14:modId xmlns:p14="http://schemas.microsoft.com/office/powerpoint/2010/main" val="3663628291"/>
              </p:ext>
            </p:extLst>
          </p:nvPr>
        </p:nvGraphicFramePr>
        <p:xfrm>
          <a:off x="1592992" y="5164382"/>
          <a:ext cx="2120900" cy="774700"/>
        </p:xfrm>
        <a:graphic>
          <a:graphicData uri="http://schemas.openxmlformats.org/presentationml/2006/ole">
            <mc:AlternateContent xmlns:mc="http://schemas.openxmlformats.org/markup-compatibility/2006">
              <mc:Choice xmlns:v="urn:schemas-microsoft-com:vml" Requires="v">
                <p:oleObj spid="_x0000_s12608" name="Equation" r:id="rId13" imgW="2120760" imgH="774360" progId="Equation.DSMT4">
                  <p:embed/>
                </p:oleObj>
              </mc:Choice>
              <mc:Fallback>
                <p:oleObj name="Equation" r:id="rId13" imgW="2120760" imgH="774360" progId="Equation.DSMT4">
                  <p:embed/>
                  <p:pic>
                    <p:nvPicPr>
                      <p:cNvPr id="0" name=""/>
                      <p:cNvPicPr/>
                      <p:nvPr/>
                    </p:nvPicPr>
                    <p:blipFill>
                      <a:blip r:embed="rId14"/>
                      <a:stretch>
                        <a:fillRect/>
                      </a:stretch>
                    </p:blipFill>
                    <p:spPr>
                      <a:xfrm>
                        <a:off x="1592992" y="5164382"/>
                        <a:ext cx="2120900" cy="774700"/>
                      </a:xfrm>
                      <a:prstGeom prst="rect">
                        <a:avLst/>
                      </a:prstGeom>
                    </p:spPr>
                  </p:pic>
                </p:oleObj>
              </mc:Fallback>
            </mc:AlternateContent>
          </a:graphicData>
        </a:graphic>
      </p:graphicFrame>
      <p:graphicFrame>
        <p:nvGraphicFramePr>
          <p:cNvPr id="2" name="Объект 1"/>
          <p:cNvGraphicFramePr>
            <a:graphicFrameLocks noChangeAspect="1"/>
          </p:cNvGraphicFramePr>
          <p:nvPr>
            <p:extLst>
              <p:ext uri="{D42A27DB-BD31-4B8C-83A1-F6EECF244321}">
                <p14:modId xmlns:p14="http://schemas.microsoft.com/office/powerpoint/2010/main" val="1115077075"/>
              </p:ext>
            </p:extLst>
          </p:nvPr>
        </p:nvGraphicFramePr>
        <p:xfrm>
          <a:off x="4033924" y="1972362"/>
          <a:ext cx="4013200" cy="736600"/>
        </p:xfrm>
        <a:graphic>
          <a:graphicData uri="http://schemas.openxmlformats.org/presentationml/2006/ole">
            <mc:AlternateContent xmlns:mc="http://schemas.openxmlformats.org/markup-compatibility/2006">
              <mc:Choice xmlns:v="urn:schemas-microsoft-com:vml" Requires="v">
                <p:oleObj spid="_x0000_s12609" name="Equation" r:id="rId15" imgW="4012920" imgH="736560" progId="Equation.DSMT4">
                  <p:embed/>
                </p:oleObj>
              </mc:Choice>
              <mc:Fallback>
                <p:oleObj name="Equation" r:id="rId15" imgW="4012920" imgH="736560" progId="Equation.DSMT4">
                  <p:embed/>
                  <p:pic>
                    <p:nvPicPr>
                      <p:cNvPr id="0" name=""/>
                      <p:cNvPicPr/>
                      <p:nvPr/>
                    </p:nvPicPr>
                    <p:blipFill>
                      <a:blip r:embed="rId16"/>
                      <a:stretch>
                        <a:fillRect/>
                      </a:stretch>
                    </p:blipFill>
                    <p:spPr>
                      <a:xfrm>
                        <a:off x="4033924" y="1972362"/>
                        <a:ext cx="4013200" cy="736600"/>
                      </a:xfrm>
                      <a:prstGeom prst="rect">
                        <a:avLst/>
                      </a:prstGeom>
                    </p:spPr>
                  </p:pic>
                </p:oleObj>
              </mc:Fallback>
            </mc:AlternateContent>
          </a:graphicData>
        </a:graphic>
      </p:graphicFrame>
      <p:graphicFrame>
        <p:nvGraphicFramePr>
          <p:cNvPr id="3" name="Объект 2"/>
          <p:cNvGraphicFramePr>
            <a:graphicFrameLocks noChangeAspect="1"/>
          </p:cNvGraphicFramePr>
          <p:nvPr>
            <p:extLst>
              <p:ext uri="{D42A27DB-BD31-4B8C-83A1-F6EECF244321}">
                <p14:modId xmlns:p14="http://schemas.microsoft.com/office/powerpoint/2010/main" val="893766340"/>
              </p:ext>
            </p:extLst>
          </p:nvPr>
        </p:nvGraphicFramePr>
        <p:xfrm>
          <a:off x="4994104" y="4096694"/>
          <a:ext cx="968967" cy="747155"/>
        </p:xfrm>
        <a:graphic>
          <a:graphicData uri="http://schemas.openxmlformats.org/presentationml/2006/ole">
            <mc:AlternateContent xmlns:mc="http://schemas.openxmlformats.org/markup-compatibility/2006">
              <mc:Choice xmlns:v="urn:schemas-microsoft-com:vml" Requires="v">
                <p:oleObj spid="_x0000_s12610" name="Equation" r:id="rId17" imgW="1054080" imgH="812520" progId="Equation.DSMT4">
                  <p:embed/>
                </p:oleObj>
              </mc:Choice>
              <mc:Fallback>
                <p:oleObj name="Equation" r:id="rId17" imgW="1054080" imgH="812520" progId="Equation.DSMT4">
                  <p:embed/>
                  <p:pic>
                    <p:nvPicPr>
                      <p:cNvPr id="0" name=""/>
                      <p:cNvPicPr/>
                      <p:nvPr/>
                    </p:nvPicPr>
                    <p:blipFill>
                      <a:blip r:embed="rId18"/>
                      <a:stretch>
                        <a:fillRect/>
                      </a:stretch>
                    </p:blipFill>
                    <p:spPr>
                      <a:xfrm>
                        <a:off x="4994104" y="4096694"/>
                        <a:ext cx="968967" cy="747155"/>
                      </a:xfrm>
                      <a:prstGeom prst="rect">
                        <a:avLst/>
                      </a:prstGeom>
                    </p:spPr>
                  </p:pic>
                </p:oleObj>
              </mc:Fallback>
            </mc:AlternateContent>
          </a:graphicData>
        </a:graphic>
      </p:graphicFrame>
    </p:spTree>
    <p:extLst>
      <p:ext uri="{BB962C8B-B14F-4D97-AF65-F5344CB8AC3E}">
        <p14:creationId xmlns:p14="http://schemas.microsoft.com/office/powerpoint/2010/main" val="2652767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7"/>
            <a:ext cx="11229975" cy="568326"/>
          </a:xfrm>
        </p:spPr>
        <p:txBody>
          <a:bodyPr/>
          <a:lstStyle/>
          <a:p>
            <a:r>
              <a:rPr lang="ru-RU" dirty="0"/>
              <a:t>Обратная задача кинематики</a:t>
            </a:r>
          </a:p>
        </p:txBody>
      </p:sp>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9423" y="1169667"/>
            <a:ext cx="11288831" cy="5539108"/>
          </a:xfrm>
        </p:spPr>
        <p:txBody>
          <a:bodyPr/>
          <a:lstStyle/>
          <a:p>
            <a:r>
              <a:rPr lang="ru-RU" dirty="0"/>
              <a:t>Состоит в восстановлении траектории </a:t>
            </a:r>
            <a:r>
              <a:rPr lang="en-US" dirty="0"/>
              <a:t>        </a:t>
            </a:r>
            <a:r>
              <a:rPr lang="ru-RU" dirty="0"/>
              <a:t>по известному</a:t>
            </a:r>
            <a:endParaRPr lang="ru-RU" b="0" dirty="0"/>
          </a:p>
          <a:p>
            <a:r>
              <a:rPr lang="ru-RU" b="0" dirty="0"/>
              <a:t>Вспоминая, что</a:t>
            </a:r>
          </a:p>
          <a:p>
            <a:endParaRPr lang="ru-RU" dirty="0"/>
          </a:p>
          <a:p>
            <a:endParaRPr lang="ru-RU" b="0" dirty="0"/>
          </a:p>
          <a:p>
            <a:r>
              <a:rPr lang="ru-RU" dirty="0"/>
              <a:t>Путем интегрирования, можем получить</a:t>
            </a:r>
            <a:r>
              <a:rPr lang="en-US" dirty="0"/>
              <a:t>:</a:t>
            </a:r>
          </a:p>
          <a:p>
            <a:r>
              <a:rPr lang="ru-RU" b="0" dirty="0"/>
              <a:t> </a:t>
            </a:r>
            <a:endParaRPr lang="en-US" b="0" dirty="0"/>
          </a:p>
          <a:p>
            <a:endParaRPr lang="en-US" dirty="0"/>
          </a:p>
          <a:p>
            <a:r>
              <a:rPr lang="ru-RU" dirty="0"/>
              <a:t>И интегрируя ещё раз, принимая во внимание постоянную интегрирования</a:t>
            </a:r>
            <a:r>
              <a:rPr lang="en-US" dirty="0"/>
              <a:t>:</a:t>
            </a:r>
            <a:endParaRPr lang="ru-RU" dirty="0"/>
          </a:p>
          <a:p>
            <a:endParaRPr lang="ru-RU" dirty="0"/>
          </a:p>
          <a:p>
            <a:endParaRPr lang="ru-RU" dirty="0"/>
          </a:p>
          <a:p>
            <a:r>
              <a:rPr lang="ru-RU" dirty="0"/>
              <a:t>Получаем </a:t>
            </a:r>
            <a:r>
              <a:rPr lang="ru-RU" dirty="0">
                <a:solidFill>
                  <a:schemeClr val="accent5"/>
                </a:solidFill>
              </a:rPr>
              <a:t>уравнение траектории</a:t>
            </a:r>
            <a:r>
              <a:rPr lang="ru-RU" dirty="0"/>
              <a:t>.</a:t>
            </a:r>
            <a:endParaRPr lang="en-US" dirty="0"/>
          </a:p>
          <a:p>
            <a:endParaRPr lang="ru-RU" dirty="0"/>
          </a:p>
        </p:txBody>
      </p:sp>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материальной точки</a:t>
            </a:r>
          </a:p>
        </p:txBody>
      </p:sp>
      <p:graphicFrame>
        <p:nvGraphicFramePr>
          <p:cNvPr id="15" name="Object 9">
            <a:extLst>
              <a:ext uri="{FF2B5EF4-FFF2-40B4-BE49-F238E27FC236}">
                <a16:creationId xmlns:a16="http://schemas.microsoft.com/office/drawing/2014/main" id="{8F5EDFDD-5D50-4654-8980-1B1F0AD4A813}"/>
              </a:ext>
            </a:extLst>
          </p:cNvPr>
          <p:cNvGraphicFramePr>
            <a:graphicFrameLocks noChangeAspect="1"/>
          </p:cNvGraphicFramePr>
          <p:nvPr>
            <p:extLst>
              <p:ext uri="{D42A27DB-BD31-4B8C-83A1-F6EECF244321}">
                <p14:modId xmlns:p14="http://schemas.microsoft.com/office/powerpoint/2010/main" val="3285858477"/>
              </p:ext>
            </p:extLst>
          </p:nvPr>
        </p:nvGraphicFramePr>
        <p:xfrm>
          <a:off x="3519487" y="1966913"/>
          <a:ext cx="1274935" cy="804446"/>
        </p:xfrm>
        <a:graphic>
          <a:graphicData uri="http://schemas.openxmlformats.org/presentationml/2006/ole">
            <mc:AlternateContent xmlns:mc="http://schemas.openxmlformats.org/markup-compatibility/2006">
              <mc:Choice xmlns:v="urn:schemas-microsoft-com:vml" Requires="v">
                <p:oleObj spid="_x0000_s19640" name="Equation" r:id="rId3" imgW="1180800" imgH="736560" progId="Equation.DSMT4">
                  <p:embed/>
                </p:oleObj>
              </mc:Choice>
              <mc:Fallback>
                <p:oleObj name="Equation" r:id="rId3" imgW="1180800" imgH="736560" progId="Equation.DSMT4">
                  <p:embed/>
                  <p:pic>
                    <p:nvPicPr>
                      <p:cNvPr id="15" name="Object 9">
                        <a:extLst>
                          <a:ext uri="{FF2B5EF4-FFF2-40B4-BE49-F238E27FC236}">
                            <a16:creationId xmlns:a16="http://schemas.microsoft.com/office/drawing/2014/main" id="{8F5EDFDD-5D50-4654-8980-1B1F0AD4A813}"/>
                          </a:ext>
                        </a:extLst>
                      </p:cNvPr>
                      <p:cNvPicPr>
                        <a:picLocks noChangeAspect="1" noChangeArrowheads="1"/>
                      </p:cNvPicPr>
                      <p:nvPr/>
                    </p:nvPicPr>
                    <p:blipFill>
                      <a:blip r:embed="rId4"/>
                      <a:srcRect/>
                      <a:stretch>
                        <a:fillRect/>
                      </a:stretch>
                    </p:blipFill>
                    <p:spPr bwMode="auto">
                      <a:xfrm>
                        <a:off x="3519487" y="1966913"/>
                        <a:ext cx="1274935" cy="804446"/>
                      </a:xfrm>
                      <a:prstGeom prst="rect">
                        <a:avLst/>
                      </a:prstGeom>
                      <a:noFill/>
                    </p:spPr>
                  </p:pic>
                </p:oleObj>
              </mc:Fallback>
            </mc:AlternateContent>
          </a:graphicData>
        </a:graphic>
      </p:graphicFrame>
      <p:graphicFrame>
        <p:nvGraphicFramePr>
          <p:cNvPr id="4" name="Объект 3"/>
          <p:cNvGraphicFramePr>
            <a:graphicFrameLocks noChangeAspect="1"/>
          </p:cNvGraphicFramePr>
          <p:nvPr>
            <p:extLst>
              <p:ext uri="{D42A27DB-BD31-4B8C-83A1-F6EECF244321}">
                <p14:modId xmlns:p14="http://schemas.microsoft.com/office/powerpoint/2010/main" val="1456052515"/>
              </p:ext>
            </p:extLst>
          </p:nvPr>
        </p:nvGraphicFramePr>
        <p:xfrm>
          <a:off x="5293712" y="1956443"/>
          <a:ext cx="1144158" cy="754695"/>
        </p:xfrm>
        <a:graphic>
          <a:graphicData uri="http://schemas.openxmlformats.org/presentationml/2006/ole">
            <mc:AlternateContent xmlns:mc="http://schemas.openxmlformats.org/markup-compatibility/2006">
              <mc:Choice xmlns:v="urn:schemas-microsoft-com:vml" Requires="v">
                <p:oleObj spid="_x0000_s19641" name="Equation" r:id="rId5" imgW="1130040" imgH="736560" progId="Equation.DSMT4">
                  <p:embed/>
                </p:oleObj>
              </mc:Choice>
              <mc:Fallback>
                <p:oleObj name="Equation" r:id="rId5" imgW="1130040" imgH="736560" progId="Equation.DSMT4">
                  <p:embed/>
                  <p:pic>
                    <p:nvPicPr>
                      <p:cNvPr id="0" name="Object 9"/>
                      <p:cNvPicPr>
                        <a:picLocks noChangeAspect="1" noChangeArrowheads="1"/>
                      </p:cNvPicPr>
                      <p:nvPr/>
                    </p:nvPicPr>
                    <p:blipFill>
                      <a:blip r:embed="rId6"/>
                      <a:srcRect/>
                      <a:stretch>
                        <a:fillRect/>
                      </a:stretch>
                    </p:blipFill>
                    <p:spPr bwMode="auto">
                      <a:xfrm>
                        <a:off x="5293712" y="1956443"/>
                        <a:ext cx="1144158" cy="754695"/>
                      </a:xfrm>
                      <a:prstGeom prst="rect">
                        <a:avLst/>
                      </a:prstGeom>
                      <a:noFill/>
                      <a:ln>
                        <a:noFill/>
                      </a:ln>
                    </p:spPr>
                  </p:pic>
                </p:oleObj>
              </mc:Fallback>
            </mc:AlternateContent>
          </a:graphicData>
        </a:graphic>
      </p:graphicFrame>
      <p:graphicFrame>
        <p:nvGraphicFramePr>
          <p:cNvPr id="5" name="Объект 4"/>
          <p:cNvGraphicFramePr>
            <a:graphicFrameLocks noChangeAspect="1"/>
          </p:cNvGraphicFramePr>
          <p:nvPr>
            <p:extLst>
              <p:ext uri="{D42A27DB-BD31-4B8C-83A1-F6EECF244321}">
                <p14:modId xmlns:p14="http://schemas.microsoft.com/office/powerpoint/2010/main" val="3279145732"/>
              </p:ext>
            </p:extLst>
          </p:nvPr>
        </p:nvGraphicFramePr>
        <p:xfrm>
          <a:off x="10243751" y="1179435"/>
          <a:ext cx="567356" cy="418052"/>
        </p:xfrm>
        <a:graphic>
          <a:graphicData uri="http://schemas.openxmlformats.org/presentationml/2006/ole">
            <mc:AlternateContent xmlns:mc="http://schemas.openxmlformats.org/markup-compatibility/2006">
              <mc:Choice xmlns:v="urn:schemas-microsoft-com:vml" Requires="v">
                <p:oleObj spid="_x0000_s19642" name="Equation" r:id="rId7" imgW="482400" imgH="355320" progId="Equation.DSMT4">
                  <p:embed/>
                </p:oleObj>
              </mc:Choice>
              <mc:Fallback>
                <p:oleObj name="Equation" r:id="rId7" imgW="482400" imgH="355320" progId="Equation.DSMT4">
                  <p:embed/>
                  <p:pic>
                    <p:nvPicPr>
                      <p:cNvPr id="0" name=""/>
                      <p:cNvPicPr/>
                      <p:nvPr/>
                    </p:nvPicPr>
                    <p:blipFill>
                      <a:blip r:embed="rId8"/>
                      <a:stretch>
                        <a:fillRect/>
                      </a:stretch>
                    </p:blipFill>
                    <p:spPr>
                      <a:xfrm>
                        <a:off x="10243751" y="1179435"/>
                        <a:ext cx="567356" cy="418052"/>
                      </a:xfrm>
                      <a:prstGeom prst="rect">
                        <a:avLst/>
                      </a:prstGeom>
                    </p:spPr>
                  </p:pic>
                </p:oleObj>
              </mc:Fallback>
            </mc:AlternateContent>
          </a:graphicData>
        </a:graphic>
      </p:graphicFrame>
      <p:graphicFrame>
        <p:nvGraphicFramePr>
          <p:cNvPr id="6" name="Объект 5"/>
          <p:cNvGraphicFramePr>
            <a:graphicFrameLocks noChangeAspect="1"/>
          </p:cNvGraphicFramePr>
          <p:nvPr>
            <p:extLst>
              <p:ext uri="{D42A27DB-BD31-4B8C-83A1-F6EECF244321}">
                <p14:modId xmlns:p14="http://schemas.microsoft.com/office/powerpoint/2010/main" val="3048250628"/>
              </p:ext>
            </p:extLst>
          </p:nvPr>
        </p:nvGraphicFramePr>
        <p:xfrm>
          <a:off x="3998310" y="3365884"/>
          <a:ext cx="2528582" cy="1016930"/>
        </p:xfrm>
        <a:graphic>
          <a:graphicData uri="http://schemas.openxmlformats.org/presentationml/2006/ole">
            <mc:AlternateContent xmlns:mc="http://schemas.openxmlformats.org/markup-compatibility/2006">
              <mc:Choice xmlns:v="urn:schemas-microsoft-com:vml" Requires="v">
                <p:oleObj spid="_x0000_s19643" name="Equation" r:id="rId9" imgW="1168200" imgH="469800" progId="Equation.DSMT4">
                  <p:embed/>
                </p:oleObj>
              </mc:Choice>
              <mc:Fallback>
                <p:oleObj name="Equation" r:id="rId9" imgW="1168200" imgH="469800" progId="Equation.DSMT4">
                  <p:embed/>
                  <p:pic>
                    <p:nvPicPr>
                      <p:cNvPr id="0" name=""/>
                      <p:cNvPicPr/>
                      <p:nvPr/>
                    </p:nvPicPr>
                    <p:blipFill>
                      <a:blip r:embed="rId10"/>
                      <a:stretch>
                        <a:fillRect/>
                      </a:stretch>
                    </p:blipFill>
                    <p:spPr>
                      <a:xfrm>
                        <a:off x="3998310" y="3365884"/>
                        <a:ext cx="2528582" cy="1016930"/>
                      </a:xfrm>
                      <a:prstGeom prst="rect">
                        <a:avLst/>
                      </a:prstGeom>
                    </p:spPr>
                  </p:pic>
                </p:oleObj>
              </mc:Fallback>
            </mc:AlternateContent>
          </a:graphicData>
        </a:graphic>
      </p:graphicFrame>
      <p:graphicFrame>
        <p:nvGraphicFramePr>
          <p:cNvPr id="7" name="Объект 6"/>
          <p:cNvGraphicFramePr>
            <a:graphicFrameLocks noChangeAspect="1"/>
          </p:cNvGraphicFramePr>
          <p:nvPr>
            <p:extLst>
              <p:ext uri="{D42A27DB-BD31-4B8C-83A1-F6EECF244321}">
                <p14:modId xmlns:p14="http://schemas.microsoft.com/office/powerpoint/2010/main" val="49475342"/>
              </p:ext>
            </p:extLst>
          </p:nvPr>
        </p:nvGraphicFramePr>
        <p:xfrm>
          <a:off x="4058308" y="4910903"/>
          <a:ext cx="2484382" cy="1021357"/>
        </p:xfrm>
        <a:graphic>
          <a:graphicData uri="http://schemas.openxmlformats.org/presentationml/2006/ole">
            <mc:AlternateContent xmlns:mc="http://schemas.openxmlformats.org/markup-compatibility/2006">
              <mc:Choice xmlns:v="urn:schemas-microsoft-com:vml" Requires="v">
                <p:oleObj spid="_x0000_s19644" name="Equation" r:id="rId11" imgW="1143000" imgH="469800" progId="Equation.DSMT4">
                  <p:embed/>
                </p:oleObj>
              </mc:Choice>
              <mc:Fallback>
                <p:oleObj name="Equation" r:id="rId11" imgW="1143000" imgH="469800" progId="Equation.DSMT4">
                  <p:embed/>
                  <p:pic>
                    <p:nvPicPr>
                      <p:cNvPr id="0" name=""/>
                      <p:cNvPicPr/>
                      <p:nvPr/>
                    </p:nvPicPr>
                    <p:blipFill>
                      <a:blip r:embed="rId12"/>
                      <a:stretch>
                        <a:fillRect/>
                      </a:stretch>
                    </p:blipFill>
                    <p:spPr>
                      <a:xfrm>
                        <a:off x="4058308" y="4910903"/>
                        <a:ext cx="2484382" cy="1021357"/>
                      </a:xfrm>
                      <a:prstGeom prst="rect">
                        <a:avLst/>
                      </a:prstGeom>
                    </p:spPr>
                  </p:pic>
                </p:oleObj>
              </mc:Fallback>
            </mc:AlternateContent>
          </a:graphicData>
        </a:graphic>
      </p:graphicFrame>
      <p:graphicFrame>
        <p:nvGraphicFramePr>
          <p:cNvPr id="2" name="Объект 1"/>
          <p:cNvGraphicFramePr>
            <a:graphicFrameLocks noChangeAspect="1"/>
          </p:cNvGraphicFramePr>
          <p:nvPr>
            <p:extLst>
              <p:ext uri="{D42A27DB-BD31-4B8C-83A1-F6EECF244321}">
                <p14:modId xmlns:p14="http://schemas.microsoft.com/office/powerpoint/2010/main" val="499489045"/>
              </p:ext>
            </p:extLst>
          </p:nvPr>
        </p:nvGraphicFramePr>
        <p:xfrm>
          <a:off x="7041491" y="1158526"/>
          <a:ext cx="546913" cy="425377"/>
        </p:xfrm>
        <a:graphic>
          <a:graphicData uri="http://schemas.openxmlformats.org/presentationml/2006/ole">
            <mc:AlternateContent xmlns:mc="http://schemas.openxmlformats.org/markup-compatibility/2006">
              <mc:Choice xmlns:v="urn:schemas-microsoft-com:vml" Requires="v">
                <p:oleObj spid="_x0000_s19645" name="Equation" r:id="rId13" imgW="457200" imgH="355320" progId="Equation.DSMT4">
                  <p:embed/>
                </p:oleObj>
              </mc:Choice>
              <mc:Fallback>
                <p:oleObj name="Equation" r:id="rId13" imgW="457200" imgH="355320" progId="Equation.DSMT4">
                  <p:embed/>
                  <p:pic>
                    <p:nvPicPr>
                      <p:cNvPr id="0" name="Объект 4"/>
                      <p:cNvPicPr>
                        <a:picLocks noChangeAspect="1" noChangeArrowheads="1"/>
                      </p:cNvPicPr>
                      <p:nvPr/>
                    </p:nvPicPr>
                    <p:blipFill>
                      <a:blip r:embed="rId14"/>
                      <a:srcRect/>
                      <a:stretch>
                        <a:fillRect/>
                      </a:stretch>
                    </p:blipFill>
                    <p:spPr bwMode="auto">
                      <a:xfrm>
                        <a:off x="7041491" y="1158526"/>
                        <a:ext cx="546913" cy="42537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5083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7"/>
            <a:ext cx="11229975" cy="568326"/>
          </a:xfrm>
        </p:spPr>
        <p:txBody>
          <a:bodyPr/>
          <a:lstStyle/>
          <a:p>
            <a:r>
              <a:rPr lang="ru-RU" dirty="0"/>
              <a:t>Кинематика твердого тела</a:t>
            </a:r>
          </a:p>
        </p:txBody>
      </p:sp>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9423" y="1736662"/>
            <a:ext cx="5377097" cy="3082665"/>
          </a:xfrm>
        </p:spPr>
        <p:txBody>
          <a:bodyPr/>
          <a:lstStyle/>
          <a:p>
            <a:r>
              <a:rPr lang="ru-RU" b="1" dirty="0">
                <a:solidFill>
                  <a:schemeClr val="accent5"/>
                </a:solidFill>
              </a:rPr>
              <a:t>Поступательное - </a:t>
            </a:r>
            <a:r>
              <a:rPr lang="ru-RU" dirty="0"/>
              <a:t>это движение, при котором все точки твердого тела перемещаются параллельно друг другу и с равными перемещениями.</a:t>
            </a:r>
            <a:endParaRPr lang="en-US" dirty="0"/>
          </a:p>
          <a:p>
            <a:endParaRPr lang="en-US" dirty="0"/>
          </a:p>
          <a:p>
            <a:endParaRPr lang="en-US" dirty="0"/>
          </a:p>
          <a:p>
            <a:endParaRPr lang="en-US" dirty="0"/>
          </a:p>
          <a:p>
            <a:endParaRPr lang="en-US" dirty="0"/>
          </a:p>
          <a:p>
            <a:endParaRPr lang="ru-RU" dirty="0"/>
          </a:p>
          <a:p>
            <a:endParaRPr lang="ru-RU" altLang="en-US" b="1" dirty="0">
              <a:solidFill>
                <a:schemeClr val="accent5"/>
              </a:solidFill>
              <a:sym typeface="Symbol" panose="05050102010706020507" pitchFamily="18" charset="2"/>
            </a:endParaRPr>
          </a:p>
          <a:p>
            <a:endParaRPr lang="ru-RU" dirty="0"/>
          </a:p>
        </p:txBody>
      </p:sp>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a:t>
            </a:r>
          </a:p>
        </p:txBody>
      </p:sp>
      <p:pic>
        <p:nvPicPr>
          <p:cNvPr id="7" name="Picture 6">
            <a:extLst>
              <a:ext uri="{FF2B5EF4-FFF2-40B4-BE49-F238E27FC236}">
                <a16:creationId xmlns:a16="http://schemas.microsoft.com/office/drawing/2014/main" id="{BC8AE4FC-601C-45A5-81DC-2ECFC4C0B73D}"/>
              </a:ext>
            </a:extLst>
          </p:cNvPr>
          <p:cNvPicPr>
            <a:picLocks noChangeAspect="1"/>
          </p:cNvPicPr>
          <p:nvPr/>
        </p:nvPicPr>
        <p:blipFill rotWithShape="1">
          <a:blip r:embed="rId2"/>
          <a:srcRect r="13964" b="3111"/>
          <a:stretch/>
        </p:blipFill>
        <p:spPr>
          <a:xfrm>
            <a:off x="1376379" y="4155356"/>
            <a:ext cx="3479826" cy="2015967"/>
          </a:xfrm>
          <a:prstGeom prst="rect">
            <a:avLst/>
          </a:prstGeom>
        </p:spPr>
      </p:pic>
      <p:sp>
        <p:nvSpPr>
          <p:cNvPr id="17" name="TextBox 16">
            <a:extLst>
              <a:ext uri="{FF2B5EF4-FFF2-40B4-BE49-F238E27FC236}">
                <a16:creationId xmlns:a16="http://schemas.microsoft.com/office/drawing/2014/main" id="{8B137960-6DC6-4F6F-9319-D29EF4B36693}"/>
              </a:ext>
            </a:extLst>
          </p:cNvPr>
          <p:cNvSpPr txBox="1"/>
          <p:nvPr/>
        </p:nvSpPr>
        <p:spPr>
          <a:xfrm>
            <a:off x="5644154" y="1704442"/>
            <a:ext cx="6228178" cy="2308324"/>
          </a:xfrm>
          <a:prstGeom prst="rect">
            <a:avLst/>
          </a:prstGeom>
          <a:noFill/>
        </p:spPr>
        <p:txBody>
          <a:bodyPr wrap="square">
            <a:spAutoFit/>
          </a:bodyPr>
          <a:lstStyle/>
          <a:p>
            <a:r>
              <a:rPr lang="ru-RU" altLang="en-US" sz="2400" b="1" dirty="0">
                <a:solidFill>
                  <a:schemeClr val="accent5"/>
                </a:solidFill>
                <a:latin typeface="+mj-lt"/>
                <a:sym typeface="Symbol" panose="05050102010706020507" pitchFamily="18" charset="2"/>
              </a:rPr>
              <a:t>Вращательное вокруг неподвижной оси </a:t>
            </a:r>
            <a:r>
              <a:rPr lang="ru-RU" altLang="en-US" sz="2400" dirty="0">
                <a:latin typeface="+mj-lt"/>
                <a:sym typeface="Symbol" panose="05050102010706020507" pitchFamily="18" charset="2"/>
              </a:rPr>
              <a:t>– движение, при котором все точки твердого тела </a:t>
            </a:r>
            <a:r>
              <a:rPr lang="ru-RU" altLang="en-US" sz="2400" dirty="0">
                <a:latin typeface="+mj-lt"/>
              </a:rPr>
              <a:t>движутся по окружностям, центры которых лежат на одной и той же прямой, называемой </a:t>
            </a:r>
            <a:r>
              <a:rPr lang="ru-RU" altLang="en-US" sz="2400" b="1" dirty="0">
                <a:solidFill>
                  <a:schemeClr val="accent5"/>
                </a:solidFill>
                <a:latin typeface="+mj-lt"/>
              </a:rPr>
              <a:t>осью</a:t>
            </a:r>
            <a:r>
              <a:rPr lang="en-US" altLang="en-US" sz="2400" b="1" dirty="0">
                <a:solidFill>
                  <a:schemeClr val="accent5"/>
                </a:solidFill>
                <a:latin typeface="+mj-lt"/>
              </a:rPr>
              <a:t> </a:t>
            </a:r>
            <a:r>
              <a:rPr lang="ru-RU" altLang="en-US" sz="2400" b="1" dirty="0">
                <a:solidFill>
                  <a:schemeClr val="accent5"/>
                </a:solidFill>
                <a:latin typeface="+mj-lt"/>
              </a:rPr>
              <a:t>вращения.</a:t>
            </a:r>
          </a:p>
        </p:txBody>
      </p:sp>
      <p:sp>
        <p:nvSpPr>
          <p:cNvPr id="18" name="TextBox 17">
            <a:extLst>
              <a:ext uri="{FF2B5EF4-FFF2-40B4-BE49-F238E27FC236}">
                <a16:creationId xmlns:a16="http://schemas.microsoft.com/office/drawing/2014/main" id="{4554D04F-2606-403E-BA55-22D4BCBF17C4}"/>
              </a:ext>
            </a:extLst>
          </p:cNvPr>
          <p:cNvSpPr txBox="1"/>
          <p:nvPr/>
        </p:nvSpPr>
        <p:spPr>
          <a:xfrm>
            <a:off x="479423" y="6339443"/>
            <a:ext cx="10099367" cy="369332"/>
          </a:xfrm>
          <a:prstGeom prst="rect">
            <a:avLst/>
          </a:prstGeom>
          <a:noFill/>
        </p:spPr>
        <p:txBody>
          <a:bodyPr wrap="square">
            <a:spAutoFit/>
          </a:bodyPr>
          <a:lstStyle/>
          <a:p>
            <a:r>
              <a:rPr lang="ru-RU" dirty="0"/>
              <a:t>Любое движение можно представить в виде их комбинации.</a:t>
            </a:r>
          </a:p>
        </p:txBody>
      </p:sp>
      <p:sp>
        <p:nvSpPr>
          <p:cNvPr id="19" name="TextBox 18">
            <a:extLst>
              <a:ext uri="{FF2B5EF4-FFF2-40B4-BE49-F238E27FC236}">
                <a16:creationId xmlns:a16="http://schemas.microsoft.com/office/drawing/2014/main" id="{CD3683C1-BD92-4C08-B4D8-5284BBB5662A}"/>
              </a:ext>
            </a:extLst>
          </p:cNvPr>
          <p:cNvSpPr txBox="1"/>
          <p:nvPr/>
        </p:nvSpPr>
        <p:spPr>
          <a:xfrm>
            <a:off x="479423" y="1245483"/>
            <a:ext cx="7556889" cy="461665"/>
          </a:xfrm>
          <a:prstGeom prst="rect">
            <a:avLst/>
          </a:prstGeom>
          <a:noFill/>
        </p:spPr>
        <p:txBody>
          <a:bodyPr wrap="square">
            <a:spAutoFit/>
          </a:bodyPr>
          <a:lstStyle/>
          <a:p>
            <a:r>
              <a:rPr lang="ru-RU" sz="2400" b="0" dirty="0">
                <a:latin typeface="+mj-lt"/>
              </a:rPr>
              <a:t>Различают два основных типа движения</a:t>
            </a:r>
            <a:r>
              <a:rPr lang="en-US" sz="2400" b="0" dirty="0">
                <a:latin typeface="+mj-lt"/>
              </a:rPr>
              <a:t>:</a:t>
            </a:r>
          </a:p>
        </p:txBody>
      </p:sp>
      <p:pic>
        <p:nvPicPr>
          <p:cNvPr id="20" name="Picture 19">
            <a:extLst>
              <a:ext uri="{FF2B5EF4-FFF2-40B4-BE49-F238E27FC236}">
                <a16:creationId xmlns:a16="http://schemas.microsoft.com/office/drawing/2014/main" id="{E4B1DAE2-C47E-4E84-BD42-AED8EF13498E}"/>
              </a:ext>
            </a:extLst>
          </p:cNvPr>
          <p:cNvPicPr>
            <a:picLocks noChangeAspect="1"/>
          </p:cNvPicPr>
          <p:nvPr/>
        </p:nvPicPr>
        <p:blipFill>
          <a:blip r:embed="rId3"/>
          <a:stretch>
            <a:fillRect/>
          </a:stretch>
        </p:blipFill>
        <p:spPr>
          <a:xfrm>
            <a:off x="7946424" y="4012766"/>
            <a:ext cx="1623637" cy="2378150"/>
          </a:xfrm>
          <a:prstGeom prst="rect">
            <a:avLst/>
          </a:prstGeom>
        </p:spPr>
      </p:pic>
    </p:spTree>
    <p:extLst>
      <p:ext uri="{BB962C8B-B14F-4D97-AF65-F5344CB8AC3E}">
        <p14:creationId xmlns:p14="http://schemas.microsoft.com/office/powerpoint/2010/main" val="3844617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Заголовок 7">
            <a:extLst>
              <a:ext uri="{FF2B5EF4-FFF2-40B4-BE49-F238E27FC236}">
                <a16:creationId xmlns:a16="http://schemas.microsoft.com/office/drawing/2014/main" id="{62C18D02-040F-0763-43DB-09B321EC3330}"/>
              </a:ext>
            </a:extLst>
          </p:cNvPr>
          <p:cNvSpPr>
            <a:spLocks noGrp="1"/>
          </p:cNvSpPr>
          <p:nvPr>
            <p:ph type="title"/>
          </p:nvPr>
        </p:nvSpPr>
        <p:spPr>
          <a:xfrm>
            <a:off x="479425" y="597857"/>
            <a:ext cx="11229975" cy="568326"/>
          </a:xfrm>
        </p:spPr>
        <p:txBody>
          <a:bodyPr/>
          <a:lstStyle/>
          <a:p>
            <a:r>
              <a:rPr lang="ru-RU" dirty="0"/>
              <a:t>Вращательное движение вокруг оси</a:t>
            </a:r>
          </a:p>
        </p:txBody>
      </p:sp>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98208" y="1306855"/>
                <a:ext cx="8169996" cy="5257496"/>
              </a:xfrm>
            </p:spPr>
            <p:txBody>
              <a:bodyPr/>
              <a:lstStyle/>
              <a:p>
                <a:r>
                  <a:rPr lang="ru-RU" dirty="0"/>
                  <a:t>Рассмотрим движение вокруг неподвижной оси ОО</a:t>
                </a:r>
                <a:r>
                  <a:rPr lang="en-US" dirty="0"/>
                  <a:t>’:</a:t>
                </a:r>
              </a:p>
              <a:p>
                <a:pPr marL="457200" indent="-457200">
                  <a:buAutoNum type="arabicPeriod"/>
                </a:pPr>
                <a:r>
                  <a:rPr lang="ru-RU" dirty="0"/>
                  <a:t>За время </a:t>
                </a:r>
                <a14:m>
                  <m:oMath xmlns:m="http://schemas.openxmlformats.org/officeDocument/2006/math">
                    <m:r>
                      <a:rPr lang="en-US" b="1" i="1" smtClean="0">
                        <a:latin typeface="Cambria Math" panose="02040503050406030204" pitchFamily="18" charset="0"/>
                      </a:rPr>
                      <m:t>𝒅𝒕</m:t>
                    </m:r>
                  </m:oMath>
                </a14:m>
                <a:r>
                  <a:rPr lang="en-US" b="1" dirty="0"/>
                  <a:t> </a:t>
                </a:r>
                <a:r>
                  <a:rPr lang="ru-RU" b="1" dirty="0"/>
                  <a:t>точка совершает элементарное движение </a:t>
                </a:r>
                <a14:m>
                  <m:oMath xmlns:m="http://schemas.openxmlformats.org/officeDocument/2006/math">
                    <m:r>
                      <a:rPr lang="en-US" b="1" i="1">
                        <a:latin typeface="Cambria Math" panose="02040503050406030204" pitchFamily="18" charset="0"/>
                      </a:rPr>
                      <m:t>𝒅</m:t>
                    </m:r>
                    <m:acc>
                      <m:accPr>
                        <m:chr m:val="⃗"/>
                        <m:ctrlPr>
                          <a:rPr lang="en-US" b="1" i="1">
                            <a:latin typeface="Cambria Math" panose="02040503050406030204" pitchFamily="18" charset="0"/>
                          </a:rPr>
                        </m:ctrlPr>
                      </m:accPr>
                      <m:e>
                        <m:r>
                          <a:rPr lang="en-US" b="1" i="1">
                            <a:latin typeface="Cambria Math" panose="02040503050406030204" pitchFamily="18" charset="0"/>
                          </a:rPr>
                          <m:t>𝒓</m:t>
                        </m:r>
                      </m:e>
                    </m:acc>
                  </m:oMath>
                </a14:m>
                <a:r>
                  <a:rPr lang="ru-RU" b="1" dirty="0"/>
                  <a:t>. Однако для разных точек тела будет разное перемещение, что создает неопределённость в описании движения.</a:t>
                </a:r>
              </a:p>
              <a:p>
                <a:pPr marL="457200" indent="-457200">
                  <a:buFontTx/>
                  <a:buAutoNum type="arabicPeriod"/>
                </a:pPr>
                <a:r>
                  <a:rPr lang="ru-RU" b="1" dirty="0"/>
                  <a:t>Угол поворота </a:t>
                </a:r>
                <a14:m>
                  <m:oMath xmlns:m="http://schemas.openxmlformats.org/officeDocument/2006/math">
                    <m:r>
                      <a:rPr lang="en-US" sz="2400" b="1" i="1" smtClean="0">
                        <a:latin typeface="Cambria Math" panose="02040503050406030204" pitchFamily="18" charset="0"/>
                      </a:rPr>
                      <m:t>𝒅</m:t>
                    </m:r>
                    <m:r>
                      <a:rPr lang="en-US" sz="2400" b="1" i="1" smtClean="0">
                        <a:latin typeface="Cambria Math" panose="02040503050406030204" pitchFamily="18" charset="0"/>
                        <a:ea typeface="Cambria Math" panose="02040503050406030204" pitchFamily="18" charset="0"/>
                      </a:rPr>
                      <m:t>𝝋</m:t>
                    </m:r>
                  </m:oMath>
                </a14:m>
                <a:r>
                  <a:rPr lang="ru-RU" b="1" dirty="0">
                    <a:latin typeface="Montserrat SemiBold" panose="00000700000000000000" pitchFamily="2" charset="-52"/>
                  </a:rPr>
                  <a:t> будет характеризовать перемещение всего тела за время </a:t>
                </a:r>
                <a14:m>
                  <m:oMath xmlns:m="http://schemas.openxmlformats.org/officeDocument/2006/math">
                    <m:r>
                      <a:rPr lang="en-US" b="1" i="1">
                        <a:latin typeface="Cambria Math" panose="02040503050406030204" pitchFamily="18" charset="0"/>
                      </a:rPr>
                      <m:t>𝒅𝒕</m:t>
                    </m:r>
                    <m:r>
                      <a:rPr lang="ru-RU" b="1" i="1" smtClean="0">
                        <a:latin typeface="Cambria Math" panose="02040503050406030204" pitchFamily="18" charset="0"/>
                      </a:rPr>
                      <m:t> </m:t>
                    </m:r>
                  </m:oMath>
                </a14:m>
                <a:r>
                  <a:rPr lang="ru-RU" b="1" dirty="0">
                    <a:latin typeface="Montserrat SemiBold" panose="00000700000000000000" pitchFamily="2" charset="-52"/>
                  </a:rPr>
                  <a:t>(угловой путь).</a:t>
                </a:r>
              </a:p>
              <a:p>
                <a:pPr marL="457200" indent="-457200">
                  <a:buFontTx/>
                  <a:buAutoNum type="arabicPeriod"/>
                </a:pPr>
                <a:r>
                  <a:rPr lang="ru-RU" b="1" dirty="0">
                    <a:latin typeface="Montserrat SemiBold" panose="00000700000000000000" pitchFamily="2" charset="-52"/>
                  </a:rPr>
                  <a:t>Удобно ввести элементарный вектор углового перемещения </a:t>
                </a:r>
                <a14:m>
                  <m:oMath xmlns:m="http://schemas.openxmlformats.org/officeDocument/2006/math">
                    <m:r>
                      <a:rPr lang="en-US" sz="2400" b="1" i="1" smtClean="0">
                        <a:solidFill>
                          <a:schemeClr val="accent5"/>
                        </a:solidFill>
                        <a:latin typeface="Cambria Math" panose="02040503050406030204" pitchFamily="18" charset="0"/>
                      </a:rPr>
                      <m:t>𝒅</m:t>
                    </m:r>
                    <m:acc>
                      <m:accPr>
                        <m:chr m:val="⃗"/>
                        <m:ctrlPr>
                          <a:rPr lang="en-US" sz="2400" b="1" i="1" smtClean="0">
                            <a:solidFill>
                              <a:schemeClr val="accent5"/>
                            </a:solidFill>
                            <a:latin typeface="Cambria Math" panose="02040503050406030204" pitchFamily="18" charset="0"/>
                          </a:rPr>
                        </m:ctrlPr>
                      </m:accPr>
                      <m:e>
                        <m:r>
                          <a:rPr lang="en-US" sz="2400" b="1" i="1" smtClean="0">
                            <a:solidFill>
                              <a:schemeClr val="accent5"/>
                            </a:solidFill>
                            <a:latin typeface="Cambria Math" panose="02040503050406030204" pitchFamily="18" charset="0"/>
                            <a:ea typeface="Cambria Math" panose="02040503050406030204" pitchFamily="18" charset="0"/>
                          </a:rPr>
                          <m:t>𝝋</m:t>
                        </m:r>
                      </m:e>
                    </m:acc>
                  </m:oMath>
                </a14:m>
                <a:r>
                  <a:rPr lang="ru-RU" b="1" dirty="0"/>
                  <a:t>, численно равный </a:t>
                </a:r>
                <a14:m>
                  <m:oMath xmlns:m="http://schemas.openxmlformats.org/officeDocument/2006/math">
                    <m:r>
                      <a:rPr lang="en-US" b="1" i="1">
                        <a:latin typeface="Cambria Math" panose="02040503050406030204" pitchFamily="18" charset="0"/>
                      </a:rPr>
                      <m:t>𝒅</m:t>
                    </m:r>
                    <m:r>
                      <a:rPr lang="en-US" b="1" i="1">
                        <a:latin typeface="Cambria Math" panose="02040503050406030204" pitchFamily="18" charset="0"/>
                        <a:ea typeface="Cambria Math" panose="02040503050406030204" pitchFamily="18" charset="0"/>
                      </a:rPr>
                      <m:t>𝝋</m:t>
                    </m:r>
                  </m:oMath>
                </a14:m>
                <a:r>
                  <a:rPr lang="ru-RU" b="1" dirty="0"/>
                  <a:t> и направленный вдоль оси вращения (направление будет задаваться по правилу буравчика).</a:t>
                </a:r>
                <a:endParaRPr lang="en-US" b="1" dirty="0">
                  <a:latin typeface="Montserrat SemiBold" panose="00000700000000000000" pitchFamily="2" charset="-52"/>
                </a:endParaRPr>
              </a:p>
              <a:p>
                <a:pPr marL="457200" indent="-457200">
                  <a:buAutoNum type="arabicPeriod"/>
                </a:pPr>
                <a:endParaRPr lang="en-US" dirty="0"/>
              </a:p>
              <a:p>
                <a:endParaRPr lang="en-US" dirty="0"/>
              </a:p>
              <a:p>
                <a:endParaRPr lang="ru-RU" dirty="0"/>
              </a:p>
              <a:p>
                <a:endParaRPr lang="ru-RU" altLang="en-US" b="1" dirty="0">
                  <a:solidFill>
                    <a:schemeClr val="accent5"/>
                  </a:solidFill>
                  <a:sym typeface="Symbol" panose="05050102010706020507" pitchFamily="18" charset="2"/>
                </a:endParaRPr>
              </a:p>
              <a:p>
                <a:endParaRPr lang="ru-RU" dirty="0"/>
              </a:p>
            </p:txBody>
          </p:sp>
        </mc:Choice>
        <mc:Fallback xmlns="">
          <p:sp>
            <p:nvSpPr>
              <p:cNvPr id="10" name="Текст 9">
                <a:extLst>
                  <a:ext uri="{FF2B5EF4-FFF2-40B4-BE49-F238E27FC236}">
                    <a16:creationId xmlns:a16="http://schemas.microsoft.com/office/drawing/2014/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98208" y="1306855"/>
                <a:ext cx="8169996" cy="5257496"/>
              </a:xfrm>
              <a:blipFill>
                <a:blip r:embed="rId2"/>
                <a:stretch>
                  <a:fillRect l="-1194" t="-1506" r="-1716"/>
                </a:stretch>
              </a:blipFill>
            </p:spPr>
            <p:txBody>
              <a:bodyPr/>
              <a:lstStyle/>
              <a:p>
                <a:r>
                  <a:rPr lang="en-US">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твёрдого тела</a:t>
            </a:r>
          </a:p>
        </p:txBody>
      </p:sp>
      <p:sp>
        <p:nvSpPr>
          <p:cNvPr id="9" name="Arrow: Up 8">
            <a:extLst>
              <a:ext uri="{FF2B5EF4-FFF2-40B4-BE49-F238E27FC236}">
                <a16:creationId xmlns:a16="http://schemas.microsoft.com/office/drawing/2014/main" id="{451AB3A4-8351-4998-A16C-B2812D8135B0}"/>
              </a:ext>
            </a:extLst>
          </p:cNvPr>
          <p:cNvSpPr/>
          <p:nvPr/>
        </p:nvSpPr>
        <p:spPr>
          <a:xfrm>
            <a:off x="9808896" y="1338269"/>
            <a:ext cx="81776" cy="456456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807EC28-0BBE-49FC-975C-E638473F3ACC}"/>
              </a:ext>
            </a:extLst>
          </p:cNvPr>
          <p:cNvSpPr/>
          <p:nvPr/>
        </p:nvSpPr>
        <p:spPr>
          <a:xfrm>
            <a:off x="8833840" y="2438508"/>
            <a:ext cx="1977483" cy="661639"/>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7DF7EAF-9963-4822-8156-64D840B9D56D}"/>
              </a:ext>
            </a:extLst>
          </p:cNvPr>
          <p:cNvCxnSpPr>
            <a:cxnSpLocks/>
            <a:endCxn id="11" idx="5"/>
          </p:cNvCxnSpPr>
          <p:nvPr/>
        </p:nvCxnSpPr>
        <p:spPr>
          <a:xfrm>
            <a:off x="9859752" y="2769327"/>
            <a:ext cx="661975" cy="233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F141E9A-A42C-4F23-BD9E-A877D3870C2C}"/>
              </a:ext>
            </a:extLst>
          </p:cNvPr>
          <p:cNvCxnSpPr>
            <a:endCxn id="11" idx="6"/>
          </p:cNvCxnSpPr>
          <p:nvPr/>
        </p:nvCxnSpPr>
        <p:spPr>
          <a:xfrm>
            <a:off x="9859752" y="2769327"/>
            <a:ext cx="951571"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Arrow: Up 24">
            <a:extLst>
              <a:ext uri="{FF2B5EF4-FFF2-40B4-BE49-F238E27FC236}">
                <a16:creationId xmlns:a16="http://schemas.microsoft.com/office/drawing/2014/main" id="{571BF109-62CD-4D1D-BCD1-76ED95BAA86E}"/>
              </a:ext>
            </a:extLst>
          </p:cNvPr>
          <p:cNvSpPr/>
          <p:nvPr/>
        </p:nvSpPr>
        <p:spPr>
          <a:xfrm>
            <a:off x="9822582" y="1856857"/>
            <a:ext cx="81776" cy="912471"/>
          </a:xfrm>
          <a:prstGeom prst="upArrow">
            <a:avLst/>
          </a:prstGeom>
          <a:solidFill>
            <a:srgbClr val="00B0F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5C83A223-21F5-4D72-B1F9-84A98DFDB53F}"/>
              </a:ext>
            </a:extLst>
          </p:cNvPr>
          <p:cNvCxnSpPr/>
          <p:nvPr/>
        </p:nvCxnSpPr>
        <p:spPr>
          <a:xfrm>
            <a:off x="9849784" y="2867323"/>
            <a:ext cx="0" cy="392165"/>
          </a:xfrm>
          <a:prstGeom prst="line">
            <a:avLst/>
          </a:prstGeom>
          <a:ln w="4762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3378341-CDAA-450C-934A-FE65B5E4849C}"/>
                  </a:ext>
                </a:extLst>
              </p:cNvPr>
              <p:cNvSpPr txBox="1"/>
              <p:nvPr/>
            </p:nvSpPr>
            <p:spPr>
              <a:xfrm>
                <a:off x="9900949" y="1891824"/>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solidFill>
                            <a:srgbClr val="7030A0"/>
                          </a:solidFill>
                          <a:latin typeface="Cambria Math" panose="02040503050406030204" pitchFamily="18" charset="0"/>
                        </a:rPr>
                        <m:t>𝒅</m:t>
                      </m:r>
                      <m:acc>
                        <m:accPr>
                          <m:chr m:val="⃗"/>
                          <m:ctrlPr>
                            <a:rPr lang="en-US" sz="2400" b="1" i="1" smtClean="0">
                              <a:solidFill>
                                <a:srgbClr val="7030A0"/>
                              </a:solidFill>
                              <a:latin typeface="Cambria Math" panose="02040503050406030204" pitchFamily="18" charset="0"/>
                            </a:rPr>
                          </m:ctrlPr>
                        </m:accPr>
                        <m:e>
                          <m:r>
                            <a:rPr lang="en-US" sz="2400" b="1" i="1" smtClean="0">
                              <a:solidFill>
                                <a:srgbClr val="7030A0"/>
                              </a:solidFill>
                              <a:latin typeface="Cambria Math" panose="02040503050406030204" pitchFamily="18" charset="0"/>
                              <a:ea typeface="Cambria Math" panose="02040503050406030204" pitchFamily="18" charset="0"/>
                            </a:rPr>
                            <m:t>𝝋</m:t>
                          </m:r>
                        </m:e>
                      </m:acc>
                    </m:oMath>
                  </m:oMathPara>
                </a14:m>
                <a:endParaRPr lang="en-US" b="1" dirty="0">
                  <a:solidFill>
                    <a:schemeClr val="accent2"/>
                  </a:solidFill>
                  <a:latin typeface="Montserrat SemiBold" panose="00000700000000000000" pitchFamily="2" charset="-52"/>
                </a:endParaRPr>
              </a:p>
            </p:txBody>
          </p:sp>
        </mc:Choice>
        <mc:Fallback xmlns="">
          <p:sp>
            <p:nvSpPr>
              <p:cNvPr id="28" name="TextBox 27">
                <a:extLst>
                  <a:ext uri="{FF2B5EF4-FFF2-40B4-BE49-F238E27FC236}">
                    <a16:creationId xmlns:a16="http://schemas.microsoft.com/office/drawing/2014/main" xmlns="" xmlns:a14="http://schemas.microsoft.com/office/drawing/2010/main" id="{73378341-CDAA-450C-934A-FE65B5E4849C}"/>
                  </a:ext>
                </a:extLst>
              </p:cNvPr>
              <p:cNvSpPr txBox="1">
                <a:spLocks noRot="1" noChangeAspect="1" noMove="1" noResize="1" noEditPoints="1" noAdjustHandles="1" noChangeArrowheads="1" noChangeShapeType="1" noTextEdit="1"/>
              </p:cNvSpPr>
              <p:nvPr/>
            </p:nvSpPr>
            <p:spPr>
              <a:xfrm>
                <a:off x="9900949" y="1891824"/>
                <a:ext cx="614219" cy="421268"/>
              </a:xfrm>
              <a:prstGeom prst="rect">
                <a:avLst/>
              </a:prstGeom>
              <a:blipFill rotWithShape="1">
                <a:blip r:embed="rId3"/>
                <a:stretch>
                  <a:fillRect l="-2970" r="-3960" b="-1304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17CD946-8DFD-4E53-99CD-0D781773DD14}"/>
                  </a:ext>
                </a:extLst>
              </p:cNvPr>
              <p:cNvSpPr txBox="1"/>
              <p:nvPr/>
            </p:nvSpPr>
            <p:spPr>
              <a:xfrm>
                <a:off x="9217928" y="1344580"/>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ea typeface="Cambria Math" panose="02040503050406030204" pitchFamily="18" charset="0"/>
                            </a:rPr>
                            <m:t>𝝎</m:t>
                          </m:r>
                        </m:e>
                      </m:acc>
                    </m:oMath>
                  </m:oMathPara>
                </a14:m>
                <a:endParaRPr lang="en-US" b="1" dirty="0">
                  <a:latin typeface="Montserrat SemiBold" panose="00000700000000000000" pitchFamily="2" charset="-52"/>
                </a:endParaRPr>
              </a:p>
            </p:txBody>
          </p:sp>
        </mc:Choice>
        <mc:Fallback xmlns="">
          <p:sp>
            <p:nvSpPr>
              <p:cNvPr id="29" name="TextBox 28">
                <a:extLst>
                  <a:ext uri="{FF2B5EF4-FFF2-40B4-BE49-F238E27FC236}">
                    <a16:creationId xmlns="" xmlns:a16="http://schemas.microsoft.com/office/drawing/2014/main" xmlns:a14="http://schemas.microsoft.com/office/drawing/2010/main" id="{217CD946-8DFD-4E53-99CD-0D781773DD14}"/>
                  </a:ext>
                </a:extLst>
              </p:cNvPr>
              <p:cNvSpPr txBox="1">
                <a:spLocks noRot="1" noChangeAspect="1" noMove="1" noResize="1" noEditPoints="1" noAdjustHandles="1" noChangeArrowheads="1" noChangeShapeType="1" noTextEdit="1"/>
              </p:cNvSpPr>
              <p:nvPr/>
            </p:nvSpPr>
            <p:spPr>
              <a:xfrm>
                <a:off x="9217928" y="1344580"/>
                <a:ext cx="614219" cy="421268"/>
              </a:xfrm>
              <a:prstGeom prst="rect">
                <a:avLst/>
              </a:prstGeom>
              <a:blipFill rotWithShape="1">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D590C49-A219-455B-80A5-CA4BD24D6EF6}"/>
                  </a:ext>
                </a:extLst>
              </p:cNvPr>
              <p:cNvSpPr txBox="1"/>
              <p:nvPr/>
            </p:nvSpPr>
            <p:spPr>
              <a:xfrm>
                <a:off x="10023436" y="2302246"/>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𝒅</m:t>
                      </m:r>
                      <m:r>
                        <a:rPr lang="en-US" sz="2400" b="1" i="1" smtClean="0">
                          <a:latin typeface="Cambria Math" panose="02040503050406030204" pitchFamily="18" charset="0"/>
                          <a:ea typeface="Cambria Math" panose="02040503050406030204" pitchFamily="18" charset="0"/>
                        </a:rPr>
                        <m:t>𝝋</m:t>
                      </m:r>
                    </m:oMath>
                  </m:oMathPara>
                </a14:m>
                <a:endParaRPr lang="en-US" b="1" dirty="0">
                  <a:latin typeface="Montserrat SemiBold" panose="00000700000000000000" pitchFamily="2" charset="-52"/>
                </a:endParaRPr>
              </a:p>
            </p:txBody>
          </p:sp>
        </mc:Choice>
        <mc:Fallback xmlns="">
          <p:sp>
            <p:nvSpPr>
              <p:cNvPr id="32" name="TextBox 31">
                <a:extLst>
                  <a:ext uri="{FF2B5EF4-FFF2-40B4-BE49-F238E27FC236}">
                    <a16:creationId xmlns:a16="http://schemas.microsoft.com/office/drawing/2014/main" id="{FD590C49-A219-455B-80A5-CA4BD24D6EF6}"/>
                  </a:ext>
                </a:extLst>
              </p:cNvPr>
              <p:cNvSpPr txBox="1">
                <a:spLocks noRot="1" noChangeAspect="1" noMove="1" noResize="1" noEditPoints="1" noAdjustHandles="1" noChangeArrowheads="1" noChangeShapeType="1" noTextEdit="1"/>
              </p:cNvSpPr>
              <p:nvPr/>
            </p:nvSpPr>
            <p:spPr>
              <a:xfrm>
                <a:off x="10023436" y="2302246"/>
                <a:ext cx="614219" cy="421268"/>
              </a:xfrm>
              <a:prstGeom prst="rect">
                <a:avLst/>
              </a:prstGeom>
              <a:blipFill>
                <a:blip r:embed="rId5"/>
                <a:stretch>
                  <a:fillRect l="-2970" r="-2970" b="-11594"/>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2C4EF9E0-FFA8-462E-BF35-E4E75E687643}"/>
              </a:ext>
            </a:extLst>
          </p:cNvPr>
          <p:cNvCxnSpPr>
            <a:cxnSpLocks/>
            <a:endCxn id="11" idx="6"/>
          </p:cNvCxnSpPr>
          <p:nvPr/>
        </p:nvCxnSpPr>
        <p:spPr>
          <a:xfrm flipV="1">
            <a:off x="10508593" y="2769328"/>
            <a:ext cx="302730" cy="2350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449FE5-B96F-4CC1-B259-F1AA27D6CD46}"/>
              </a:ext>
            </a:extLst>
          </p:cNvPr>
          <p:cNvCxnSpPr>
            <a:cxnSpLocks/>
          </p:cNvCxnSpPr>
          <p:nvPr/>
        </p:nvCxnSpPr>
        <p:spPr>
          <a:xfrm flipV="1">
            <a:off x="10512311" y="2517730"/>
            <a:ext cx="673770" cy="49275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75A2E32-E77A-4B1E-9F1C-214A60B5766D}"/>
              </a:ext>
            </a:extLst>
          </p:cNvPr>
          <p:cNvCxnSpPr>
            <a:cxnSpLocks/>
            <a:endCxn id="11" idx="5"/>
          </p:cNvCxnSpPr>
          <p:nvPr/>
        </p:nvCxnSpPr>
        <p:spPr>
          <a:xfrm flipV="1">
            <a:off x="9866786" y="3003252"/>
            <a:ext cx="654941" cy="16367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Arc 42">
            <a:extLst>
              <a:ext uri="{FF2B5EF4-FFF2-40B4-BE49-F238E27FC236}">
                <a16:creationId xmlns:a16="http://schemas.microsoft.com/office/drawing/2014/main" id="{9BF0F7A7-DCB1-4AED-8838-D45286EFABE3}"/>
              </a:ext>
            </a:extLst>
          </p:cNvPr>
          <p:cNvSpPr/>
          <p:nvPr/>
        </p:nvSpPr>
        <p:spPr>
          <a:xfrm>
            <a:off x="10180671" y="2777768"/>
            <a:ext cx="159370" cy="116975"/>
          </a:xfrm>
          <a:prstGeom prst="arc">
            <a:avLst>
              <a:gd name="adj1" fmla="val 16200000"/>
              <a:gd name="adj2" fmla="val 649889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414C3E3-B2C5-4F2E-B1BD-32ED28202D90}"/>
                  </a:ext>
                </a:extLst>
              </p:cNvPr>
              <p:cNvSpPr txBox="1"/>
              <p:nvPr/>
            </p:nvSpPr>
            <p:spPr>
              <a:xfrm>
                <a:off x="9791580" y="2852771"/>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𝑹</m:t>
                      </m:r>
                    </m:oMath>
                  </m:oMathPara>
                </a14:m>
                <a:endParaRPr lang="en-US" sz="2000" b="1" dirty="0">
                  <a:latin typeface="Montserrat SemiBold" panose="00000700000000000000" pitchFamily="2" charset="-52"/>
                </a:endParaRPr>
              </a:p>
            </p:txBody>
          </p:sp>
        </mc:Choice>
        <mc:Fallback xmlns="">
          <p:sp>
            <p:nvSpPr>
              <p:cNvPr id="44" name="TextBox 43">
                <a:extLst>
                  <a:ext uri="{FF2B5EF4-FFF2-40B4-BE49-F238E27FC236}">
                    <a16:creationId xmlns:a16="http://schemas.microsoft.com/office/drawing/2014/main" id="{A414C3E3-B2C5-4F2E-B1BD-32ED28202D90}"/>
                  </a:ext>
                </a:extLst>
              </p:cNvPr>
              <p:cNvSpPr txBox="1">
                <a:spLocks noRot="1" noChangeAspect="1" noMove="1" noResize="1" noEditPoints="1" noAdjustHandles="1" noChangeArrowheads="1" noChangeShapeType="1" noTextEdit="1"/>
              </p:cNvSpPr>
              <p:nvPr/>
            </p:nvSpPr>
            <p:spPr>
              <a:xfrm>
                <a:off x="9791580" y="2852771"/>
                <a:ext cx="614219" cy="421268"/>
              </a:xfrm>
              <a:prstGeom prst="rect">
                <a:avLst/>
              </a:prstGeom>
              <a:blipFill>
                <a:blip r:embed="rId6"/>
                <a:stretch>
                  <a:fillRect/>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F529EDB7-370D-4A47-BEDD-23B13DB49249}"/>
              </a:ext>
            </a:extLst>
          </p:cNvPr>
          <p:cNvSpPr txBox="1"/>
          <p:nvPr/>
        </p:nvSpPr>
        <p:spPr>
          <a:xfrm>
            <a:off x="10238779" y="3920107"/>
            <a:ext cx="614219" cy="421268"/>
          </a:xfrm>
          <a:prstGeom prst="rect">
            <a:avLst/>
          </a:prstGeom>
        </p:spPr>
        <p:txBody>
          <a:bodyPr wrap="none" lIns="0" tIns="0" rIns="0" bIns="0" rtlCol="0">
            <a:noAutofit/>
          </a:bodyPr>
          <a:lstStyle/>
          <a:p>
            <a:pPr algn="l"/>
            <a:endParaRPr lang="en-US" b="1" dirty="0">
              <a:latin typeface="Montserrat SemiBold" panose="00000700000000000000" pitchFamily="2" charset="-52"/>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E0E479E-548E-45D9-9153-00099F4B7EB9}"/>
                  </a:ext>
                </a:extLst>
              </p:cNvPr>
              <p:cNvSpPr txBox="1"/>
              <p:nvPr/>
            </p:nvSpPr>
            <p:spPr>
              <a:xfrm>
                <a:off x="9408749" y="4435194"/>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𝑶</m:t>
                      </m:r>
                    </m:oMath>
                  </m:oMathPara>
                </a14:m>
                <a:endParaRPr lang="en-US" sz="2000" b="1" dirty="0">
                  <a:latin typeface="Montserrat SemiBold" panose="00000700000000000000" pitchFamily="2" charset="-52"/>
                </a:endParaRPr>
              </a:p>
            </p:txBody>
          </p:sp>
        </mc:Choice>
        <mc:Fallback xmlns="">
          <p:sp>
            <p:nvSpPr>
              <p:cNvPr id="46" name="TextBox 45">
                <a:extLst>
                  <a:ext uri="{FF2B5EF4-FFF2-40B4-BE49-F238E27FC236}">
                    <a16:creationId xmlns:a16="http://schemas.microsoft.com/office/drawing/2014/main" id="{CE0E479E-548E-45D9-9153-00099F4B7EB9}"/>
                  </a:ext>
                </a:extLst>
              </p:cNvPr>
              <p:cNvSpPr txBox="1">
                <a:spLocks noRot="1" noChangeAspect="1" noMove="1" noResize="1" noEditPoints="1" noAdjustHandles="1" noChangeArrowheads="1" noChangeShapeType="1" noTextEdit="1"/>
              </p:cNvSpPr>
              <p:nvPr/>
            </p:nvSpPr>
            <p:spPr>
              <a:xfrm>
                <a:off x="9408749" y="4435194"/>
                <a:ext cx="614219" cy="42126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981B0E2-8C5E-41B6-88E3-FF0B314C4F17}"/>
                  </a:ext>
                </a:extLst>
              </p:cNvPr>
              <p:cNvSpPr txBox="1"/>
              <p:nvPr/>
            </p:nvSpPr>
            <p:spPr>
              <a:xfrm>
                <a:off x="9341568" y="2564266"/>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𝑶</m:t>
                      </m:r>
                      <m:r>
                        <a:rPr lang="en-US" sz="2000" b="1" i="1" smtClean="0">
                          <a:latin typeface="Cambria Math" panose="02040503050406030204" pitchFamily="18" charset="0"/>
                        </a:rPr>
                        <m:t>′</m:t>
                      </m:r>
                    </m:oMath>
                  </m:oMathPara>
                </a14:m>
                <a:endParaRPr lang="en-US" sz="2000" b="1" dirty="0">
                  <a:latin typeface="Montserrat SemiBold" panose="00000700000000000000" pitchFamily="2" charset="-52"/>
                </a:endParaRPr>
              </a:p>
            </p:txBody>
          </p:sp>
        </mc:Choice>
        <mc:Fallback xmlns="">
          <p:sp>
            <p:nvSpPr>
              <p:cNvPr id="47" name="TextBox 46">
                <a:extLst>
                  <a:ext uri="{FF2B5EF4-FFF2-40B4-BE49-F238E27FC236}">
                    <a16:creationId xmlns:a16="http://schemas.microsoft.com/office/drawing/2014/main" id="{6981B0E2-8C5E-41B6-88E3-FF0B314C4F17}"/>
                  </a:ext>
                </a:extLst>
              </p:cNvPr>
              <p:cNvSpPr txBox="1">
                <a:spLocks noRot="1" noChangeAspect="1" noMove="1" noResize="1" noEditPoints="1" noAdjustHandles="1" noChangeArrowheads="1" noChangeShapeType="1" noTextEdit="1"/>
              </p:cNvSpPr>
              <p:nvPr/>
            </p:nvSpPr>
            <p:spPr>
              <a:xfrm>
                <a:off x="9341568" y="2564266"/>
                <a:ext cx="614219" cy="421268"/>
              </a:xfrm>
              <a:prstGeom prst="rect">
                <a:avLst/>
              </a:prstGeom>
              <a:blipFill>
                <a:blip r:embed="rId8"/>
                <a:stretch>
                  <a:fillRect t="-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6809874-7DC7-4244-B26D-096BE396AC1F}"/>
                  </a:ext>
                </a:extLst>
              </p:cNvPr>
              <p:cNvSpPr txBox="1"/>
              <p:nvPr/>
            </p:nvSpPr>
            <p:spPr>
              <a:xfrm>
                <a:off x="10362739" y="3044029"/>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𝑴</m:t>
                      </m:r>
                    </m:oMath>
                  </m:oMathPara>
                </a14:m>
                <a:endParaRPr lang="en-US" sz="2000" b="1" dirty="0">
                  <a:latin typeface="Montserrat SemiBold" panose="00000700000000000000" pitchFamily="2" charset="-52"/>
                </a:endParaRPr>
              </a:p>
            </p:txBody>
          </p:sp>
        </mc:Choice>
        <mc:Fallback xmlns="">
          <p:sp>
            <p:nvSpPr>
              <p:cNvPr id="48" name="TextBox 47">
                <a:extLst>
                  <a:ext uri="{FF2B5EF4-FFF2-40B4-BE49-F238E27FC236}">
                    <a16:creationId xmlns:a16="http://schemas.microsoft.com/office/drawing/2014/main" id="{76809874-7DC7-4244-B26D-096BE396AC1F}"/>
                  </a:ext>
                </a:extLst>
              </p:cNvPr>
              <p:cNvSpPr txBox="1">
                <a:spLocks noRot="1" noChangeAspect="1" noMove="1" noResize="1" noEditPoints="1" noAdjustHandles="1" noChangeArrowheads="1" noChangeShapeType="1" noTextEdit="1"/>
              </p:cNvSpPr>
              <p:nvPr/>
            </p:nvSpPr>
            <p:spPr>
              <a:xfrm>
                <a:off x="10362739" y="3044029"/>
                <a:ext cx="614219" cy="42126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4033B2D-77F5-4801-8038-4DA416158484}"/>
                  </a:ext>
                </a:extLst>
              </p:cNvPr>
              <p:cNvSpPr txBox="1"/>
              <p:nvPr/>
            </p:nvSpPr>
            <p:spPr>
              <a:xfrm>
                <a:off x="10073143" y="3643982"/>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𝒓</m:t>
                          </m:r>
                        </m:e>
                      </m:acc>
                    </m:oMath>
                  </m:oMathPara>
                </a14:m>
                <a:endParaRPr lang="en-US" b="1" dirty="0">
                  <a:latin typeface="Montserrat SemiBold" panose="00000700000000000000" pitchFamily="2" charset="-52"/>
                </a:endParaRPr>
              </a:p>
            </p:txBody>
          </p:sp>
        </mc:Choice>
        <mc:Fallback xmlns="">
          <p:sp>
            <p:nvSpPr>
              <p:cNvPr id="49" name="TextBox 48">
                <a:extLst>
                  <a:ext uri="{FF2B5EF4-FFF2-40B4-BE49-F238E27FC236}">
                    <a16:creationId xmlns:a16="http://schemas.microsoft.com/office/drawing/2014/main" id="{B4033B2D-77F5-4801-8038-4DA416158484}"/>
                  </a:ext>
                </a:extLst>
              </p:cNvPr>
              <p:cNvSpPr txBox="1">
                <a:spLocks noRot="1" noChangeAspect="1" noMove="1" noResize="1" noEditPoints="1" noAdjustHandles="1" noChangeArrowheads="1" noChangeShapeType="1" noTextEdit="1"/>
              </p:cNvSpPr>
              <p:nvPr/>
            </p:nvSpPr>
            <p:spPr>
              <a:xfrm>
                <a:off x="10073143" y="3643982"/>
                <a:ext cx="614219" cy="42126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1A1777D-AEE0-4549-BF00-950598477274}"/>
                  </a:ext>
                </a:extLst>
              </p:cNvPr>
              <p:cNvSpPr txBox="1"/>
              <p:nvPr/>
            </p:nvSpPr>
            <p:spPr>
              <a:xfrm>
                <a:off x="10673414" y="2764108"/>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𝒅</m:t>
                      </m:r>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𝒓</m:t>
                          </m:r>
                        </m:e>
                      </m:acc>
                    </m:oMath>
                  </m:oMathPara>
                </a14:m>
                <a:endParaRPr lang="en-US" b="1" dirty="0">
                  <a:latin typeface="Montserrat SemiBold" panose="00000700000000000000" pitchFamily="2" charset="-52"/>
                </a:endParaRPr>
              </a:p>
            </p:txBody>
          </p:sp>
        </mc:Choice>
        <mc:Fallback xmlns="">
          <p:sp>
            <p:nvSpPr>
              <p:cNvPr id="50" name="TextBox 49">
                <a:extLst>
                  <a:ext uri="{FF2B5EF4-FFF2-40B4-BE49-F238E27FC236}">
                    <a16:creationId xmlns:a16="http://schemas.microsoft.com/office/drawing/2014/main" id="{C1A1777D-AEE0-4549-BF00-950598477274}"/>
                  </a:ext>
                </a:extLst>
              </p:cNvPr>
              <p:cNvSpPr txBox="1">
                <a:spLocks noRot="1" noChangeAspect="1" noMove="1" noResize="1" noEditPoints="1" noAdjustHandles="1" noChangeArrowheads="1" noChangeShapeType="1" noTextEdit="1"/>
              </p:cNvSpPr>
              <p:nvPr/>
            </p:nvSpPr>
            <p:spPr>
              <a:xfrm>
                <a:off x="10673414" y="2764108"/>
                <a:ext cx="614219" cy="42126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2F5E2A3-5C32-4255-A54C-DA495D17B3B1}"/>
                  </a:ext>
                </a:extLst>
              </p:cNvPr>
              <p:cNvSpPr txBox="1"/>
              <p:nvPr/>
            </p:nvSpPr>
            <p:spPr>
              <a:xfrm>
                <a:off x="11095181" y="2347849"/>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𝒗</m:t>
                          </m:r>
                        </m:e>
                      </m:acc>
                    </m:oMath>
                  </m:oMathPara>
                </a14:m>
                <a:endParaRPr lang="en-US" b="1" dirty="0">
                  <a:latin typeface="Montserrat SemiBold" panose="00000700000000000000" pitchFamily="2" charset="-52"/>
                </a:endParaRPr>
              </a:p>
            </p:txBody>
          </p:sp>
        </mc:Choice>
        <mc:Fallback xmlns="">
          <p:sp>
            <p:nvSpPr>
              <p:cNvPr id="51" name="TextBox 50">
                <a:extLst>
                  <a:ext uri="{FF2B5EF4-FFF2-40B4-BE49-F238E27FC236}">
                    <a16:creationId xmlns:a16="http://schemas.microsoft.com/office/drawing/2014/main" id="{32F5E2A3-5C32-4255-A54C-DA495D17B3B1}"/>
                  </a:ext>
                </a:extLst>
              </p:cNvPr>
              <p:cNvSpPr txBox="1">
                <a:spLocks noRot="1" noChangeAspect="1" noMove="1" noResize="1" noEditPoints="1" noAdjustHandles="1" noChangeArrowheads="1" noChangeShapeType="1" noTextEdit="1"/>
              </p:cNvSpPr>
              <p:nvPr/>
            </p:nvSpPr>
            <p:spPr>
              <a:xfrm>
                <a:off x="11095181" y="2347849"/>
                <a:ext cx="614219" cy="421268"/>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67566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32415" y="1230608"/>
                <a:ext cx="7925409" cy="5627392"/>
              </a:xfrm>
            </p:spPr>
            <p:txBody>
              <a:bodyPr/>
              <a:lstStyle/>
              <a:p>
                <a:pPr algn="just"/>
                <a:r>
                  <a:rPr lang="ru-RU" dirty="0"/>
                  <a:t>Также можем ввести понятие угловой скорости</a:t>
                </a:r>
                <a:r>
                  <a:rPr lang="en-US" dirty="0"/>
                  <a:t>:</a:t>
                </a:r>
              </a:p>
              <a:p>
                <a:pPr algn="just"/>
                <a:endParaRPr lang="ru-RU" dirty="0"/>
              </a:p>
              <a:p>
                <a:pPr algn="just"/>
                <a:r>
                  <a:rPr lang="ru-RU" altLang="en-US" dirty="0">
                    <a:solidFill>
                      <a:schemeClr val="accent5"/>
                    </a:solidFill>
                  </a:rPr>
                  <a:t>Угловой скоростью</a:t>
                </a:r>
                <a:r>
                  <a:rPr lang="en-US" altLang="en-US" dirty="0">
                    <a:solidFill>
                      <a:schemeClr val="accent5"/>
                    </a:solidFill>
                  </a:rPr>
                  <a:t> </a:t>
                </a:r>
                <a:r>
                  <a:rPr lang="ru-RU" altLang="en-US" dirty="0"/>
                  <a:t>называется вектор </a:t>
                </a:r>
                <a:r>
                  <a:rPr lang="en-US" altLang="en-US" dirty="0"/>
                  <a:t>       </a:t>
                </a:r>
                <a:r>
                  <a:rPr lang="ru-RU" altLang="en-US" dirty="0"/>
                  <a:t>численно равный первой производной от угла поворота по времени и направленный вдоль оси вращения в направлении</a:t>
                </a:r>
                <a:r>
                  <a:rPr lang="en-US" altLang="en-US" dirty="0"/>
                  <a:t> </a:t>
                </a:r>
                <a14:m>
                  <m:oMath xmlns:m="http://schemas.openxmlformats.org/officeDocument/2006/math">
                    <m:r>
                      <a:rPr lang="en-US">
                        <a:latin typeface="Cambria Math" panose="02040503050406030204" pitchFamily="18" charset="0"/>
                      </a:rPr>
                      <m:t>𝒅</m:t>
                    </m:r>
                    <m:acc>
                      <m:accPr>
                        <m:chr m:val="⃗"/>
                        <m:ctrlPr>
                          <a:rPr lang="en-US" i="1">
                            <a:latin typeface="Cambria Math" panose="02040503050406030204" pitchFamily="18" charset="0"/>
                          </a:rPr>
                        </m:ctrlPr>
                      </m:accPr>
                      <m:e>
                        <m:r>
                          <a:rPr lang="en-US">
                            <a:latin typeface="Cambria Math" panose="02040503050406030204" pitchFamily="18" charset="0"/>
                          </a:rPr>
                          <m:t>𝝋</m:t>
                        </m:r>
                      </m:e>
                    </m:acc>
                    <m:r>
                      <a:rPr lang="ru-RU" b="0" i="0" smtClean="0">
                        <a:latin typeface="Cambria Math" panose="02040503050406030204" pitchFamily="18" charset="0"/>
                      </a:rPr>
                      <m:t> </m:t>
                    </m:r>
                  </m:oMath>
                </a14:m>
                <a:r>
                  <a:rPr lang="ru-RU" altLang="en-US" dirty="0"/>
                  <a:t>(</a:t>
                </a:r>
                <a14:m>
                  <m:oMath xmlns:m="http://schemas.openxmlformats.org/officeDocument/2006/math">
                    <m:acc>
                      <m:accPr>
                        <m:chr m:val="⃗"/>
                        <m:ctrlPr>
                          <a:rPr lang="en-US" i="1">
                            <a:latin typeface="Cambria Math" panose="02040503050406030204" pitchFamily="18" charset="0"/>
                          </a:rPr>
                        </m:ctrlPr>
                      </m:accPr>
                      <m:e>
                        <m:r>
                          <a:rPr lang="en-US">
                            <a:latin typeface="Cambria Math" panose="02040503050406030204" pitchFamily="18" charset="0"/>
                          </a:rPr>
                          <m:t>𝝎</m:t>
                        </m:r>
                      </m:e>
                    </m:acc>
                    <m:r>
                      <a:rPr lang="en-US">
                        <a:latin typeface="Cambria Math" panose="02040503050406030204" pitchFamily="18" charset="0"/>
                      </a:rPr>
                      <m:t> </m:t>
                    </m:r>
                  </m:oMath>
                </a14:m>
                <a:r>
                  <a:rPr lang="ru-RU" altLang="en-US" dirty="0"/>
                  <a:t>и</a:t>
                </a:r>
                <a:r>
                  <a:rPr lang="en-US" altLang="en-US" dirty="0"/>
                  <a:t> </a:t>
                </a:r>
                <a14:m>
                  <m:oMath xmlns:m="http://schemas.openxmlformats.org/officeDocument/2006/math">
                    <m:r>
                      <a:rPr lang="en-US">
                        <a:latin typeface="Cambria Math" panose="02040503050406030204" pitchFamily="18" charset="0"/>
                      </a:rPr>
                      <m:t>𝒅</m:t>
                    </m:r>
                    <m:acc>
                      <m:accPr>
                        <m:chr m:val="⃗"/>
                        <m:ctrlPr>
                          <a:rPr lang="en-US" i="1">
                            <a:latin typeface="Cambria Math" panose="02040503050406030204" pitchFamily="18" charset="0"/>
                          </a:rPr>
                        </m:ctrlPr>
                      </m:accPr>
                      <m:e>
                        <m:r>
                          <a:rPr lang="en-US">
                            <a:latin typeface="Cambria Math" panose="02040503050406030204" pitchFamily="18" charset="0"/>
                          </a:rPr>
                          <m:t>𝝋</m:t>
                        </m:r>
                      </m:e>
                    </m:acc>
                  </m:oMath>
                </a14:m>
                <a:r>
                  <a:rPr lang="en-US" altLang="en-US" dirty="0"/>
                  <a:t> </a:t>
                </a:r>
                <a:r>
                  <a:rPr lang="ru-RU" altLang="en-US" dirty="0"/>
                  <a:t>всегда направлены в одну сторону).</a:t>
                </a:r>
              </a:p>
              <a:p>
                <a:pPr algn="just"/>
                <a:r>
                  <a:rPr lang="ru-RU" altLang="en-US" dirty="0"/>
                  <a:t>Линейная и угловая компоненты связаны </a:t>
                </a:r>
                <a:r>
                  <a:rPr lang="en-US" altLang="en-US" dirty="0"/>
                  <a:t>(</a:t>
                </a:r>
                <a:r>
                  <a:rPr lang="ru-RU" altLang="en-US" dirty="0"/>
                  <a:t>пусть</a:t>
                </a:r>
                <a:r>
                  <a:rPr lang="en-US" altLang="en-US" dirty="0"/>
                  <a:t> </a:t>
                </a:r>
                <a14:m>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𝒗</m:t>
                        </m:r>
                      </m:e>
                    </m:acc>
                  </m:oMath>
                </a14:m>
                <a:r>
                  <a:rPr lang="ru-RU" altLang="en-US" dirty="0"/>
                  <a:t> линейная скорость в точке М), тогда путь, проходимый за</a:t>
                </a:r>
                <a:r>
                  <a:rPr lang="en-US" altLang="en-US" dirty="0"/>
                  <a:t> </a:t>
                </a:r>
                <a14:m>
                  <m:oMath xmlns:m="http://schemas.openxmlformats.org/officeDocument/2006/math">
                    <m:r>
                      <a:rPr lang="en-US" b="1" i="1">
                        <a:latin typeface="Cambria Math" panose="02040503050406030204" pitchFamily="18" charset="0"/>
                      </a:rPr>
                      <m:t>𝒅𝒕</m:t>
                    </m:r>
                  </m:oMath>
                </a14:m>
                <a:r>
                  <a:rPr lang="en-US" altLang="en-US" dirty="0"/>
                  <a:t> </a:t>
                </a:r>
                <a:r>
                  <a:rPr lang="ru-RU" altLang="en-US" dirty="0"/>
                  <a:t>будет равен </a:t>
                </a:r>
                <a14:m>
                  <m:oMath xmlns:m="http://schemas.openxmlformats.org/officeDocument/2006/math">
                    <m:r>
                      <a:rPr lang="en-US" b="1" i="1">
                        <a:latin typeface="Cambria Math" panose="02040503050406030204" pitchFamily="18" charset="0"/>
                      </a:rPr>
                      <m:t>𝒅</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𝒗𝒅𝒕</m:t>
                    </m:r>
                  </m:oMath>
                </a14:m>
                <a:r>
                  <a:rPr lang="en-US" altLang="en-US" dirty="0"/>
                  <a:t>, </a:t>
                </a:r>
                <a:r>
                  <a:rPr lang="ru-RU" altLang="en-US" dirty="0"/>
                  <a:t>а также из геометрии</a:t>
                </a:r>
                <a:r>
                  <a:rPr lang="en-US" altLang="en-US" dirty="0"/>
                  <a:t> </a:t>
                </a:r>
                <a14:m>
                  <m:oMath xmlns:m="http://schemas.openxmlformats.org/officeDocument/2006/math">
                    <m:r>
                      <a:rPr lang="en-US" b="1" i="1">
                        <a:latin typeface="Cambria Math" panose="02040503050406030204" pitchFamily="18" charset="0"/>
                      </a:rPr>
                      <m:t>𝒅𝒓</m:t>
                    </m:r>
                    <m:r>
                      <a:rPr lang="en-US" b="1" i="1">
                        <a:latin typeface="Cambria Math" panose="02040503050406030204" pitchFamily="18" charset="0"/>
                      </a:rPr>
                      <m:t>=</m:t>
                    </m:r>
                    <m:r>
                      <a:rPr lang="en-US" b="1" i="1" smtClean="0">
                        <a:latin typeface="Cambria Math" panose="02040503050406030204" pitchFamily="18" charset="0"/>
                      </a:rPr>
                      <m:t>𝑹</m:t>
                    </m:r>
                    <m:r>
                      <a:rPr lang="en-US" b="1" i="1">
                        <a:latin typeface="Cambria Math" panose="02040503050406030204" pitchFamily="18" charset="0"/>
                      </a:rPr>
                      <m:t>𝒅</m:t>
                    </m:r>
                    <m:r>
                      <a:rPr lang="en-US" b="1" i="1" smtClean="0">
                        <a:latin typeface="Cambria Math" panose="02040503050406030204" pitchFamily="18" charset="0"/>
                        <a:ea typeface="Cambria Math" panose="02040503050406030204" pitchFamily="18" charset="0"/>
                      </a:rPr>
                      <m:t>𝝋</m:t>
                    </m:r>
                  </m:oMath>
                </a14:m>
                <a:r>
                  <a:rPr lang="en-US" altLang="en-US" dirty="0"/>
                  <a:t>. </a:t>
                </a:r>
                <a:r>
                  <a:rPr lang="ru-RU" altLang="en-US" dirty="0"/>
                  <a:t>Получаем</a:t>
                </a:r>
                <a:r>
                  <a:rPr lang="en-US" altLang="en-US" dirty="0"/>
                  <a:t>:</a:t>
                </a:r>
                <a:endParaRPr lang="ru-RU" altLang="en-US" dirty="0"/>
              </a:p>
              <a:p>
                <a:pPr algn="just"/>
                <a:endParaRPr lang="en-US" b="1" dirty="0">
                  <a:latin typeface="Montserrat SemiBold" panose="00000700000000000000" pitchFamily="2" charset="-52"/>
                </a:endParaRPr>
              </a:p>
              <a:p>
                <a:pPr marL="457200" indent="-457200" algn="just">
                  <a:buAutoNum type="arabicPeriod"/>
                </a:pPr>
                <a:endParaRPr lang="en-US" dirty="0"/>
              </a:p>
              <a:p>
                <a:pPr algn="just"/>
                <a:endParaRPr lang="en-US" dirty="0"/>
              </a:p>
              <a:p>
                <a:pPr algn="just"/>
                <a:endParaRPr lang="ru-RU" dirty="0"/>
              </a:p>
              <a:p>
                <a:pPr algn="just"/>
                <a:endParaRPr lang="ru-RU" altLang="en-US" b="1" dirty="0">
                  <a:solidFill>
                    <a:schemeClr val="accent5"/>
                  </a:solidFill>
                  <a:sym typeface="Symbol" panose="05050102010706020507" pitchFamily="18" charset="2"/>
                </a:endParaRPr>
              </a:p>
              <a:p>
                <a:pPr algn="just"/>
                <a:endParaRPr lang="ru-RU" dirty="0"/>
              </a:p>
            </p:txBody>
          </p:sp>
        </mc:Choice>
        <mc:Fallback xmlns="">
          <p:sp>
            <p:nvSpPr>
              <p:cNvPr id="10" name="Текст 9">
                <a:extLst>
                  <a:ext uri="{FF2B5EF4-FFF2-40B4-BE49-F238E27FC236}">
                    <a16:creationId xmlns:a16="http://schemas.microsoft.com/office/drawing/2014/main" xmlns=""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32415" y="1230608"/>
                <a:ext cx="7925409" cy="5627392"/>
              </a:xfrm>
              <a:blipFill rotWithShape="1">
                <a:blip r:embed="rId3"/>
                <a:stretch>
                  <a:fillRect l="-1231" t="-1408" r="-1154"/>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твёрдого тела</a:t>
            </a:r>
          </a:p>
        </p:txBody>
      </p:sp>
      <p:sp>
        <p:nvSpPr>
          <p:cNvPr id="9" name="Arrow: Up 8">
            <a:extLst>
              <a:ext uri="{FF2B5EF4-FFF2-40B4-BE49-F238E27FC236}">
                <a16:creationId xmlns:a16="http://schemas.microsoft.com/office/drawing/2014/main" id="{451AB3A4-8351-4998-A16C-B2812D8135B0}"/>
              </a:ext>
            </a:extLst>
          </p:cNvPr>
          <p:cNvSpPr/>
          <p:nvPr/>
        </p:nvSpPr>
        <p:spPr>
          <a:xfrm>
            <a:off x="9808896" y="1338269"/>
            <a:ext cx="81776" cy="456456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807EC28-0BBE-49FC-975C-E638473F3ACC}"/>
              </a:ext>
            </a:extLst>
          </p:cNvPr>
          <p:cNvSpPr/>
          <p:nvPr/>
        </p:nvSpPr>
        <p:spPr>
          <a:xfrm>
            <a:off x="8833840" y="2438508"/>
            <a:ext cx="1977483" cy="661639"/>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7DF7EAF-9963-4822-8156-64D840B9D56D}"/>
              </a:ext>
            </a:extLst>
          </p:cNvPr>
          <p:cNvCxnSpPr>
            <a:cxnSpLocks/>
            <a:endCxn id="11" idx="5"/>
          </p:cNvCxnSpPr>
          <p:nvPr/>
        </p:nvCxnSpPr>
        <p:spPr>
          <a:xfrm>
            <a:off x="9859752" y="2769327"/>
            <a:ext cx="661975" cy="233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F141E9A-A42C-4F23-BD9E-A877D3870C2C}"/>
              </a:ext>
            </a:extLst>
          </p:cNvPr>
          <p:cNvCxnSpPr>
            <a:endCxn id="11" idx="6"/>
          </p:cNvCxnSpPr>
          <p:nvPr/>
        </p:nvCxnSpPr>
        <p:spPr>
          <a:xfrm>
            <a:off x="9859752" y="2769327"/>
            <a:ext cx="951571"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Arrow: Up 24">
            <a:extLst>
              <a:ext uri="{FF2B5EF4-FFF2-40B4-BE49-F238E27FC236}">
                <a16:creationId xmlns:a16="http://schemas.microsoft.com/office/drawing/2014/main" id="{571BF109-62CD-4D1D-BCD1-76ED95BAA86E}"/>
              </a:ext>
            </a:extLst>
          </p:cNvPr>
          <p:cNvSpPr/>
          <p:nvPr/>
        </p:nvSpPr>
        <p:spPr>
          <a:xfrm>
            <a:off x="9822582" y="1856857"/>
            <a:ext cx="81776" cy="912471"/>
          </a:xfrm>
          <a:prstGeom prst="upArrow">
            <a:avLst/>
          </a:prstGeom>
          <a:solidFill>
            <a:srgbClr val="00B0F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5C83A223-21F5-4D72-B1F9-84A98DFDB53F}"/>
              </a:ext>
            </a:extLst>
          </p:cNvPr>
          <p:cNvCxnSpPr/>
          <p:nvPr/>
        </p:nvCxnSpPr>
        <p:spPr>
          <a:xfrm>
            <a:off x="9849784" y="2867323"/>
            <a:ext cx="0" cy="392165"/>
          </a:xfrm>
          <a:prstGeom prst="line">
            <a:avLst/>
          </a:prstGeom>
          <a:ln w="4762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3378341-CDAA-450C-934A-FE65B5E4849C}"/>
                  </a:ext>
                </a:extLst>
              </p:cNvPr>
              <p:cNvSpPr txBox="1"/>
              <p:nvPr/>
            </p:nvSpPr>
            <p:spPr>
              <a:xfrm>
                <a:off x="9900949" y="1891824"/>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solidFill>
                            <a:srgbClr val="002060"/>
                          </a:solidFill>
                          <a:latin typeface="Cambria Math" panose="02040503050406030204" pitchFamily="18" charset="0"/>
                        </a:rPr>
                        <m:t>𝒅</m:t>
                      </m:r>
                      <m:acc>
                        <m:accPr>
                          <m:chr m:val="⃗"/>
                          <m:ctrlPr>
                            <a:rPr lang="en-US" sz="2400" b="1" i="1" smtClean="0">
                              <a:solidFill>
                                <a:srgbClr val="002060"/>
                              </a:solidFill>
                              <a:latin typeface="Cambria Math" panose="02040503050406030204" pitchFamily="18" charset="0"/>
                            </a:rPr>
                          </m:ctrlPr>
                        </m:accPr>
                        <m:e>
                          <m:r>
                            <a:rPr lang="en-US" sz="2400" b="1" i="1" smtClean="0">
                              <a:solidFill>
                                <a:srgbClr val="002060"/>
                              </a:solidFill>
                              <a:latin typeface="Cambria Math" panose="02040503050406030204" pitchFamily="18" charset="0"/>
                              <a:ea typeface="Cambria Math" panose="02040503050406030204" pitchFamily="18" charset="0"/>
                            </a:rPr>
                            <m:t>𝝋</m:t>
                          </m:r>
                        </m:e>
                      </m:acc>
                    </m:oMath>
                  </m:oMathPara>
                </a14:m>
                <a:endParaRPr lang="en-US" b="1" dirty="0">
                  <a:solidFill>
                    <a:schemeClr val="accent2"/>
                  </a:solidFill>
                  <a:latin typeface="Montserrat SemiBold" panose="00000700000000000000" pitchFamily="2" charset="-52"/>
                </a:endParaRPr>
              </a:p>
            </p:txBody>
          </p:sp>
        </mc:Choice>
        <mc:Fallback xmlns="">
          <p:sp>
            <p:nvSpPr>
              <p:cNvPr id="28" name="TextBox 27">
                <a:extLst>
                  <a:ext uri="{FF2B5EF4-FFF2-40B4-BE49-F238E27FC236}">
                    <a16:creationId xmlns="" xmlns:a16="http://schemas.microsoft.com/office/drawing/2014/main" xmlns:a14="http://schemas.microsoft.com/office/drawing/2010/main" id="{73378341-CDAA-450C-934A-FE65B5E4849C}"/>
                  </a:ext>
                </a:extLst>
              </p:cNvPr>
              <p:cNvSpPr txBox="1">
                <a:spLocks noRot="1" noChangeAspect="1" noMove="1" noResize="1" noEditPoints="1" noAdjustHandles="1" noChangeArrowheads="1" noChangeShapeType="1" noTextEdit="1"/>
              </p:cNvSpPr>
              <p:nvPr/>
            </p:nvSpPr>
            <p:spPr>
              <a:xfrm>
                <a:off x="9900949" y="1891824"/>
                <a:ext cx="614219" cy="421268"/>
              </a:xfrm>
              <a:prstGeom prst="rect">
                <a:avLst/>
              </a:prstGeom>
              <a:blipFill rotWithShape="1">
                <a:blip r:embed="rId4"/>
                <a:stretch>
                  <a:fillRect l="-2970" r="-3960" b="-1304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17CD946-8DFD-4E53-99CD-0D781773DD14}"/>
                  </a:ext>
                </a:extLst>
              </p:cNvPr>
              <p:cNvSpPr txBox="1"/>
              <p:nvPr/>
            </p:nvSpPr>
            <p:spPr>
              <a:xfrm>
                <a:off x="9290365" y="1356739"/>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ea typeface="Cambria Math" panose="02040503050406030204" pitchFamily="18" charset="0"/>
                            </a:rPr>
                            <m:t>𝝎</m:t>
                          </m:r>
                        </m:e>
                      </m:acc>
                    </m:oMath>
                  </m:oMathPara>
                </a14:m>
                <a:endParaRPr lang="en-US" b="1" dirty="0">
                  <a:latin typeface="Montserrat SemiBold" panose="00000700000000000000" pitchFamily="2" charset="-52"/>
                </a:endParaRPr>
              </a:p>
            </p:txBody>
          </p:sp>
        </mc:Choice>
        <mc:Fallback xmlns="">
          <p:sp>
            <p:nvSpPr>
              <p:cNvPr id="29" name="TextBox 28">
                <a:extLst>
                  <a:ext uri="{FF2B5EF4-FFF2-40B4-BE49-F238E27FC236}">
                    <a16:creationId xmlns:a16="http://schemas.microsoft.com/office/drawing/2014/main" xmlns="" xmlns:a14="http://schemas.microsoft.com/office/drawing/2010/main" id="{217CD946-8DFD-4E53-99CD-0D781773DD14}"/>
                  </a:ext>
                </a:extLst>
              </p:cNvPr>
              <p:cNvSpPr txBox="1">
                <a:spLocks noRot="1" noChangeAspect="1" noMove="1" noResize="1" noEditPoints="1" noAdjustHandles="1" noChangeArrowheads="1" noChangeShapeType="1" noTextEdit="1"/>
              </p:cNvSpPr>
              <p:nvPr/>
            </p:nvSpPr>
            <p:spPr>
              <a:xfrm>
                <a:off x="9290365" y="1356739"/>
                <a:ext cx="614219" cy="421268"/>
              </a:xfrm>
              <a:prstGeom prst="rect">
                <a:avLst/>
              </a:prstGeom>
              <a:blipFill rotWithShape="1">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D590C49-A219-455B-80A5-CA4BD24D6EF6}"/>
                  </a:ext>
                </a:extLst>
              </p:cNvPr>
              <p:cNvSpPr txBox="1"/>
              <p:nvPr/>
            </p:nvSpPr>
            <p:spPr>
              <a:xfrm>
                <a:off x="10023436" y="2302246"/>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𝒅</m:t>
                      </m:r>
                      <m:r>
                        <a:rPr lang="en-US" sz="2400" b="1" i="1" smtClean="0">
                          <a:latin typeface="Cambria Math" panose="02040503050406030204" pitchFamily="18" charset="0"/>
                          <a:ea typeface="Cambria Math" panose="02040503050406030204" pitchFamily="18" charset="0"/>
                        </a:rPr>
                        <m:t>𝝋</m:t>
                      </m:r>
                    </m:oMath>
                  </m:oMathPara>
                </a14:m>
                <a:endParaRPr lang="en-US" b="1" dirty="0">
                  <a:latin typeface="Montserrat SemiBold" panose="00000700000000000000" pitchFamily="2" charset="-52"/>
                </a:endParaRPr>
              </a:p>
            </p:txBody>
          </p:sp>
        </mc:Choice>
        <mc:Fallback xmlns="">
          <p:sp>
            <p:nvSpPr>
              <p:cNvPr id="32" name="TextBox 31">
                <a:extLst>
                  <a:ext uri="{FF2B5EF4-FFF2-40B4-BE49-F238E27FC236}">
                    <a16:creationId xmlns:a16="http://schemas.microsoft.com/office/drawing/2014/main" id="{FD590C49-A219-455B-80A5-CA4BD24D6EF6}"/>
                  </a:ext>
                </a:extLst>
              </p:cNvPr>
              <p:cNvSpPr txBox="1">
                <a:spLocks noRot="1" noChangeAspect="1" noMove="1" noResize="1" noEditPoints="1" noAdjustHandles="1" noChangeArrowheads="1" noChangeShapeType="1" noTextEdit="1"/>
              </p:cNvSpPr>
              <p:nvPr/>
            </p:nvSpPr>
            <p:spPr>
              <a:xfrm>
                <a:off x="10023436" y="2302246"/>
                <a:ext cx="614219" cy="421268"/>
              </a:xfrm>
              <a:prstGeom prst="rect">
                <a:avLst/>
              </a:prstGeom>
              <a:blipFill>
                <a:blip r:embed="rId6"/>
                <a:stretch>
                  <a:fillRect l="-2970" r="-2970" b="-11594"/>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2C4EF9E0-FFA8-462E-BF35-E4E75E687643}"/>
              </a:ext>
            </a:extLst>
          </p:cNvPr>
          <p:cNvCxnSpPr>
            <a:cxnSpLocks/>
            <a:endCxn id="11" idx="6"/>
          </p:cNvCxnSpPr>
          <p:nvPr/>
        </p:nvCxnSpPr>
        <p:spPr>
          <a:xfrm flipV="1">
            <a:off x="10508593" y="2769328"/>
            <a:ext cx="302730" cy="2350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449FE5-B96F-4CC1-B259-F1AA27D6CD46}"/>
              </a:ext>
            </a:extLst>
          </p:cNvPr>
          <p:cNvCxnSpPr>
            <a:cxnSpLocks/>
          </p:cNvCxnSpPr>
          <p:nvPr/>
        </p:nvCxnSpPr>
        <p:spPr>
          <a:xfrm flipV="1">
            <a:off x="10512311" y="2517730"/>
            <a:ext cx="673770" cy="49275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75A2E32-E77A-4B1E-9F1C-214A60B5766D}"/>
              </a:ext>
            </a:extLst>
          </p:cNvPr>
          <p:cNvCxnSpPr>
            <a:cxnSpLocks/>
            <a:endCxn id="11" idx="5"/>
          </p:cNvCxnSpPr>
          <p:nvPr/>
        </p:nvCxnSpPr>
        <p:spPr>
          <a:xfrm flipV="1">
            <a:off x="9866786" y="3003252"/>
            <a:ext cx="654941" cy="16367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Arc 42">
            <a:extLst>
              <a:ext uri="{FF2B5EF4-FFF2-40B4-BE49-F238E27FC236}">
                <a16:creationId xmlns:a16="http://schemas.microsoft.com/office/drawing/2014/main" id="{9BF0F7A7-DCB1-4AED-8838-D45286EFABE3}"/>
              </a:ext>
            </a:extLst>
          </p:cNvPr>
          <p:cNvSpPr/>
          <p:nvPr/>
        </p:nvSpPr>
        <p:spPr>
          <a:xfrm>
            <a:off x="10180671" y="2777768"/>
            <a:ext cx="159370" cy="116975"/>
          </a:xfrm>
          <a:prstGeom prst="arc">
            <a:avLst>
              <a:gd name="adj1" fmla="val 16200000"/>
              <a:gd name="adj2" fmla="val 649889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414C3E3-B2C5-4F2E-B1BD-32ED28202D90}"/>
                  </a:ext>
                </a:extLst>
              </p:cNvPr>
              <p:cNvSpPr txBox="1"/>
              <p:nvPr/>
            </p:nvSpPr>
            <p:spPr>
              <a:xfrm>
                <a:off x="9791580" y="2852771"/>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𝑹</m:t>
                      </m:r>
                    </m:oMath>
                  </m:oMathPara>
                </a14:m>
                <a:endParaRPr lang="en-US" sz="2000" b="1" dirty="0">
                  <a:latin typeface="Montserrat SemiBold" panose="00000700000000000000" pitchFamily="2" charset="-52"/>
                </a:endParaRPr>
              </a:p>
            </p:txBody>
          </p:sp>
        </mc:Choice>
        <mc:Fallback xmlns="">
          <p:sp>
            <p:nvSpPr>
              <p:cNvPr id="44" name="TextBox 43">
                <a:extLst>
                  <a:ext uri="{FF2B5EF4-FFF2-40B4-BE49-F238E27FC236}">
                    <a16:creationId xmlns:a16="http://schemas.microsoft.com/office/drawing/2014/main" id="{A414C3E3-B2C5-4F2E-B1BD-32ED28202D90}"/>
                  </a:ext>
                </a:extLst>
              </p:cNvPr>
              <p:cNvSpPr txBox="1">
                <a:spLocks noRot="1" noChangeAspect="1" noMove="1" noResize="1" noEditPoints="1" noAdjustHandles="1" noChangeArrowheads="1" noChangeShapeType="1" noTextEdit="1"/>
              </p:cNvSpPr>
              <p:nvPr/>
            </p:nvSpPr>
            <p:spPr>
              <a:xfrm>
                <a:off x="9791580" y="2852771"/>
                <a:ext cx="614219" cy="421268"/>
              </a:xfrm>
              <a:prstGeom prst="rect">
                <a:avLst/>
              </a:prstGeom>
              <a:blipFill>
                <a:blip r:embed="rId7"/>
                <a:stretch>
                  <a:fillRect/>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F529EDB7-370D-4A47-BEDD-23B13DB49249}"/>
              </a:ext>
            </a:extLst>
          </p:cNvPr>
          <p:cNvSpPr txBox="1"/>
          <p:nvPr/>
        </p:nvSpPr>
        <p:spPr>
          <a:xfrm>
            <a:off x="10238779" y="3920107"/>
            <a:ext cx="614219" cy="421268"/>
          </a:xfrm>
          <a:prstGeom prst="rect">
            <a:avLst/>
          </a:prstGeom>
        </p:spPr>
        <p:txBody>
          <a:bodyPr wrap="none" lIns="0" tIns="0" rIns="0" bIns="0" rtlCol="0">
            <a:noAutofit/>
          </a:bodyPr>
          <a:lstStyle/>
          <a:p>
            <a:pPr algn="l"/>
            <a:endParaRPr lang="en-US" b="1" dirty="0">
              <a:latin typeface="Montserrat SemiBold" panose="00000700000000000000" pitchFamily="2" charset="-52"/>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E0E479E-548E-45D9-9153-00099F4B7EB9}"/>
                  </a:ext>
                </a:extLst>
              </p:cNvPr>
              <p:cNvSpPr txBox="1"/>
              <p:nvPr/>
            </p:nvSpPr>
            <p:spPr>
              <a:xfrm>
                <a:off x="9408749" y="4435194"/>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𝑶</m:t>
                      </m:r>
                    </m:oMath>
                  </m:oMathPara>
                </a14:m>
                <a:endParaRPr lang="en-US" sz="2000" b="1" dirty="0">
                  <a:latin typeface="Montserrat SemiBold" panose="00000700000000000000" pitchFamily="2" charset="-52"/>
                </a:endParaRPr>
              </a:p>
            </p:txBody>
          </p:sp>
        </mc:Choice>
        <mc:Fallback xmlns="">
          <p:sp>
            <p:nvSpPr>
              <p:cNvPr id="46" name="TextBox 45">
                <a:extLst>
                  <a:ext uri="{FF2B5EF4-FFF2-40B4-BE49-F238E27FC236}">
                    <a16:creationId xmlns:a16="http://schemas.microsoft.com/office/drawing/2014/main" id="{CE0E479E-548E-45D9-9153-00099F4B7EB9}"/>
                  </a:ext>
                </a:extLst>
              </p:cNvPr>
              <p:cNvSpPr txBox="1">
                <a:spLocks noRot="1" noChangeAspect="1" noMove="1" noResize="1" noEditPoints="1" noAdjustHandles="1" noChangeArrowheads="1" noChangeShapeType="1" noTextEdit="1"/>
              </p:cNvSpPr>
              <p:nvPr/>
            </p:nvSpPr>
            <p:spPr>
              <a:xfrm>
                <a:off x="9408749" y="4435194"/>
                <a:ext cx="614219" cy="42126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981B0E2-8C5E-41B6-88E3-FF0B314C4F17}"/>
                  </a:ext>
                </a:extLst>
              </p:cNvPr>
              <p:cNvSpPr txBox="1"/>
              <p:nvPr/>
            </p:nvSpPr>
            <p:spPr>
              <a:xfrm>
                <a:off x="9341568" y="2564266"/>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𝑶</m:t>
                      </m:r>
                      <m:r>
                        <a:rPr lang="en-US" sz="2000" b="1" i="1" smtClean="0">
                          <a:latin typeface="Cambria Math" panose="02040503050406030204" pitchFamily="18" charset="0"/>
                        </a:rPr>
                        <m:t>′</m:t>
                      </m:r>
                    </m:oMath>
                  </m:oMathPara>
                </a14:m>
                <a:endParaRPr lang="en-US" sz="2000" b="1" dirty="0">
                  <a:latin typeface="Montserrat SemiBold" panose="00000700000000000000" pitchFamily="2" charset="-52"/>
                </a:endParaRPr>
              </a:p>
            </p:txBody>
          </p:sp>
        </mc:Choice>
        <mc:Fallback xmlns="">
          <p:sp>
            <p:nvSpPr>
              <p:cNvPr id="47" name="TextBox 46">
                <a:extLst>
                  <a:ext uri="{FF2B5EF4-FFF2-40B4-BE49-F238E27FC236}">
                    <a16:creationId xmlns:a16="http://schemas.microsoft.com/office/drawing/2014/main" id="{6981B0E2-8C5E-41B6-88E3-FF0B314C4F17}"/>
                  </a:ext>
                </a:extLst>
              </p:cNvPr>
              <p:cNvSpPr txBox="1">
                <a:spLocks noRot="1" noChangeAspect="1" noMove="1" noResize="1" noEditPoints="1" noAdjustHandles="1" noChangeArrowheads="1" noChangeShapeType="1" noTextEdit="1"/>
              </p:cNvSpPr>
              <p:nvPr/>
            </p:nvSpPr>
            <p:spPr>
              <a:xfrm>
                <a:off x="9341568" y="2564266"/>
                <a:ext cx="614219" cy="421268"/>
              </a:xfrm>
              <a:prstGeom prst="rect">
                <a:avLst/>
              </a:prstGeom>
              <a:blipFill>
                <a:blip r:embed="rId9"/>
                <a:stretch>
                  <a:fillRect t="-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6809874-7DC7-4244-B26D-096BE396AC1F}"/>
                  </a:ext>
                </a:extLst>
              </p:cNvPr>
              <p:cNvSpPr txBox="1"/>
              <p:nvPr/>
            </p:nvSpPr>
            <p:spPr>
              <a:xfrm>
                <a:off x="10362739" y="3044029"/>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𝑴</m:t>
                      </m:r>
                    </m:oMath>
                  </m:oMathPara>
                </a14:m>
                <a:endParaRPr lang="en-US" sz="2000" b="1" dirty="0">
                  <a:latin typeface="Montserrat SemiBold" panose="00000700000000000000" pitchFamily="2" charset="-52"/>
                </a:endParaRPr>
              </a:p>
            </p:txBody>
          </p:sp>
        </mc:Choice>
        <mc:Fallback xmlns="">
          <p:sp>
            <p:nvSpPr>
              <p:cNvPr id="48" name="TextBox 47">
                <a:extLst>
                  <a:ext uri="{FF2B5EF4-FFF2-40B4-BE49-F238E27FC236}">
                    <a16:creationId xmlns:a16="http://schemas.microsoft.com/office/drawing/2014/main" id="{76809874-7DC7-4244-B26D-096BE396AC1F}"/>
                  </a:ext>
                </a:extLst>
              </p:cNvPr>
              <p:cNvSpPr txBox="1">
                <a:spLocks noRot="1" noChangeAspect="1" noMove="1" noResize="1" noEditPoints="1" noAdjustHandles="1" noChangeArrowheads="1" noChangeShapeType="1" noTextEdit="1"/>
              </p:cNvSpPr>
              <p:nvPr/>
            </p:nvSpPr>
            <p:spPr>
              <a:xfrm>
                <a:off x="10362739" y="3044029"/>
                <a:ext cx="614219" cy="42126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4033B2D-77F5-4801-8038-4DA416158484}"/>
                  </a:ext>
                </a:extLst>
              </p:cNvPr>
              <p:cNvSpPr txBox="1"/>
              <p:nvPr/>
            </p:nvSpPr>
            <p:spPr>
              <a:xfrm>
                <a:off x="10073143" y="3643982"/>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𝒓</m:t>
                          </m:r>
                        </m:e>
                      </m:acc>
                    </m:oMath>
                  </m:oMathPara>
                </a14:m>
                <a:endParaRPr lang="en-US" b="1" dirty="0">
                  <a:latin typeface="Montserrat SemiBold" panose="00000700000000000000" pitchFamily="2" charset="-52"/>
                </a:endParaRPr>
              </a:p>
            </p:txBody>
          </p:sp>
        </mc:Choice>
        <mc:Fallback xmlns="">
          <p:sp>
            <p:nvSpPr>
              <p:cNvPr id="49" name="TextBox 48">
                <a:extLst>
                  <a:ext uri="{FF2B5EF4-FFF2-40B4-BE49-F238E27FC236}">
                    <a16:creationId xmlns:a16="http://schemas.microsoft.com/office/drawing/2014/main" id="{B4033B2D-77F5-4801-8038-4DA416158484}"/>
                  </a:ext>
                </a:extLst>
              </p:cNvPr>
              <p:cNvSpPr txBox="1">
                <a:spLocks noRot="1" noChangeAspect="1" noMove="1" noResize="1" noEditPoints="1" noAdjustHandles="1" noChangeArrowheads="1" noChangeShapeType="1" noTextEdit="1"/>
              </p:cNvSpPr>
              <p:nvPr/>
            </p:nvSpPr>
            <p:spPr>
              <a:xfrm>
                <a:off x="10073143" y="3643982"/>
                <a:ext cx="614219" cy="42126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1A1777D-AEE0-4549-BF00-950598477274}"/>
                  </a:ext>
                </a:extLst>
              </p:cNvPr>
              <p:cNvSpPr txBox="1"/>
              <p:nvPr/>
            </p:nvSpPr>
            <p:spPr>
              <a:xfrm>
                <a:off x="10673414" y="2764108"/>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𝒅</m:t>
                      </m:r>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𝒓</m:t>
                          </m:r>
                        </m:e>
                      </m:acc>
                    </m:oMath>
                  </m:oMathPara>
                </a14:m>
                <a:endParaRPr lang="en-US" b="1" dirty="0">
                  <a:latin typeface="Montserrat SemiBold" panose="00000700000000000000" pitchFamily="2" charset="-52"/>
                </a:endParaRPr>
              </a:p>
            </p:txBody>
          </p:sp>
        </mc:Choice>
        <mc:Fallback xmlns="">
          <p:sp>
            <p:nvSpPr>
              <p:cNvPr id="50" name="TextBox 49">
                <a:extLst>
                  <a:ext uri="{FF2B5EF4-FFF2-40B4-BE49-F238E27FC236}">
                    <a16:creationId xmlns:a16="http://schemas.microsoft.com/office/drawing/2014/main" id="{C1A1777D-AEE0-4549-BF00-950598477274}"/>
                  </a:ext>
                </a:extLst>
              </p:cNvPr>
              <p:cNvSpPr txBox="1">
                <a:spLocks noRot="1" noChangeAspect="1" noMove="1" noResize="1" noEditPoints="1" noAdjustHandles="1" noChangeArrowheads="1" noChangeShapeType="1" noTextEdit="1"/>
              </p:cNvSpPr>
              <p:nvPr/>
            </p:nvSpPr>
            <p:spPr>
              <a:xfrm>
                <a:off x="10673414" y="2764108"/>
                <a:ext cx="614219" cy="42126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2F5E2A3-5C32-4255-A54C-DA495D17B3B1}"/>
                  </a:ext>
                </a:extLst>
              </p:cNvPr>
              <p:cNvSpPr txBox="1"/>
              <p:nvPr/>
            </p:nvSpPr>
            <p:spPr>
              <a:xfrm>
                <a:off x="11095181" y="2347849"/>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𝒗</m:t>
                          </m:r>
                        </m:e>
                      </m:acc>
                    </m:oMath>
                  </m:oMathPara>
                </a14:m>
                <a:endParaRPr lang="en-US" b="1" dirty="0">
                  <a:latin typeface="Montserrat SemiBold" panose="00000700000000000000" pitchFamily="2" charset="-52"/>
                </a:endParaRPr>
              </a:p>
            </p:txBody>
          </p:sp>
        </mc:Choice>
        <mc:Fallback xmlns="">
          <p:sp>
            <p:nvSpPr>
              <p:cNvPr id="51" name="TextBox 50">
                <a:extLst>
                  <a:ext uri="{FF2B5EF4-FFF2-40B4-BE49-F238E27FC236}">
                    <a16:creationId xmlns:a16="http://schemas.microsoft.com/office/drawing/2014/main" id="{32F5E2A3-5C32-4255-A54C-DA495D17B3B1}"/>
                  </a:ext>
                </a:extLst>
              </p:cNvPr>
              <p:cNvSpPr txBox="1">
                <a:spLocks noRot="1" noChangeAspect="1" noMove="1" noResize="1" noEditPoints="1" noAdjustHandles="1" noChangeArrowheads="1" noChangeShapeType="1" noTextEdit="1"/>
              </p:cNvSpPr>
              <p:nvPr/>
            </p:nvSpPr>
            <p:spPr>
              <a:xfrm>
                <a:off x="11095181" y="2347849"/>
                <a:ext cx="614219" cy="421268"/>
              </a:xfrm>
              <a:prstGeom prst="rect">
                <a:avLst/>
              </a:prstGeom>
              <a:blipFill>
                <a:blip r:embed="rId13"/>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7E6C5FA-C2DB-4E1E-8969-8B9F45AE1E94}"/>
              </a:ext>
            </a:extLst>
          </p:cNvPr>
          <p:cNvSpPr>
            <a:spLocks noGrp="1"/>
          </p:cNvSpPr>
          <p:nvPr>
            <p:ph type="title"/>
          </p:nvPr>
        </p:nvSpPr>
        <p:spPr>
          <a:xfrm>
            <a:off x="479425" y="597857"/>
            <a:ext cx="11229975" cy="842742"/>
          </a:xfrm>
        </p:spPr>
        <p:txBody>
          <a:bodyPr/>
          <a:lstStyle/>
          <a:p>
            <a:r>
              <a:rPr lang="ru-RU" dirty="0"/>
              <a:t>Угловая скорость</a:t>
            </a:r>
            <a:endParaRPr lang="en-US" dirty="0"/>
          </a:p>
        </p:txBody>
      </p:sp>
      <p:sp>
        <p:nvSpPr>
          <p:cNvPr id="30" name="TextBox 29">
            <a:extLst>
              <a:ext uri="{FF2B5EF4-FFF2-40B4-BE49-F238E27FC236}">
                <a16:creationId xmlns:a16="http://schemas.microsoft.com/office/drawing/2014/main" id="{0AA95CAE-C2F3-4086-A219-C5226E806348}"/>
              </a:ext>
            </a:extLst>
          </p:cNvPr>
          <p:cNvSpPr txBox="1"/>
          <p:nvPr/>
        </p:nvSpPr>
        <p:spPr>
          <a:xfrm>
            <a:off x="7951424" y="1856857"/>
            <a:ext cx="812800" cy="369332"/>
          </a:xfrm>
          <a:prstGeom prst="rect">
            <a:avLst/>
          </a:prstGeom>
          <a:noFill/>
        </p:spPr>
        <p:txBody>
          <a:bodyPr wrap="square">
            <a:spAutoFit/>
          </a:bodyPr>
          <a:lstStyle/>
          <a:p>
            <a:r>
              <a:rPr lang="ru-RU" b="1" dirty="0">
                <a:cs typeface="Times New Roman" panose="02020603050405020304" pitchFamily="18" charset="0"/>
              </a:rPr>
              <a:t>(1</a:t>
            </a:r>
            <a:r>
              <a:rPr lang="en-US" b="1" dirty="0">
                <a:cs typeface="Times New Roman" panose="02020603050405020304" pitchFamily="18" charset="0"/>
              </a:rPr>
              <a:t>4</a:t>
            </a:r>
            <a:r>
              <a:rPr lang="ru-RU" b="1" dirty="0">
                <a:cs typeface="Times New Roman" panose="02020603050405020304" pitchFamily="18" charset="0"/>
              </a:rPr>
              <a:t>)</a:t>
            </a:r>
            <a:endParaRPr lang="en-US" dirty="0"/>
          </a:p>
        </p:txBody>
      </p:sp>
      <p:graphicFrame>
        <p:nvGraphicFramePr>
          <p:cNvPr id="6" name="Object 5">
            <a:extLst>
              <a:ext uri="{FF2B5EF4-FFF2-40B4-BE49-F238E27FC236}">
                <a16:creationId xmlns:a16="http://schemas.microsoft.com/office/drawing/2014/main" id="{4843DBE1-B4EF-475E-847D-E7B258279F44}"/>
              </a:ext>
            </a:extLst>
          </p:cNvPr>
          <p:cNvGraphicFramePr>
            <a:graphicFrameLocks noChangeAspect="1"/>
          </p:cNvGraphicFramePr>
          <p:nvPr>
            <p:extLst>
              <p:ext uri="{D42A27DB-BD31-4B8C-83A1-F6EECF244321}">
                <p14:modId xmlns:p14="http://schemas.microsoft.com/office/powerpoint/2010/main" val="149044169"/>
              </p:ext>
            </p:extLst>
          </p:nvPr>
        </p:nvGraphicFramePr>
        <p:xfrm>
          <a:off x="3338533" y="5743846"/>
          <a:ext cx="3172333" cy="958309"/>
        </p:xfrm>
        <a:graphic>
          <a:graphicData uri="http://schemas.openxmlformats.org/presentationml/2006/ole">
            <mc:AlternateContent xmlns:mc="http://schemas.openxmlformats.org/markup-compatibility/2006">
              <mc:Choice xmlns:v="urn:schemas-microsoft-com:vml" Requires="v">
                <p:oleObj spid="_x0000_s14443" name="Equation" r:id="rId14" imgW="2438280" imgH="736560" progId="Equation.DSMT4">
                  <p:embed/>
                </p:oleObj>
              </mc:Choice>
              <mc:Fallback>
                <p:oleObj name="Equation" r:id="rId14" imgW="2438280" imgH="736560" progId="Equation.DSMT4">
                  <p:embed/>
                  <p:pic>
                    <p:nvPicPr>
                      <p:cNvPr id="0" name=""/>
                      <p:cNvPicPr/>
                      <p:nvPr/>
                    </p:nvPicPr>
                    <p:blipFill>
                      <a:blip r:embed="rId15"/>
                      <a:stretch>
                        <a:fillRect/>
                      </a:stretch>
                    </p:blipFill>
                    <p:spPr>
                      <a:xfrm>
                        <a:off x="3338533" y="5743846"/>
                        <a:ext cx="3172333" cy="958309"/>
                      </a:xfrm>
                      <a:prstGeom prst="rect">
                        <a:avLst/>
                      </a:prstGeom>
                    </p:spPr>
                  </p:pic>
                </p:oleObj>
              </mc:Fallback>
            </mc:AlternateContent>
          </a:graphicData>
        </a:graphic>
      </p:graphicFrame>
      <p:graphicFrame>
        <p:nvGraphicFramePr>
          <p:cNvPr id="2" name="Объект 1"/>
          <p:cNvGraphicFramePr>
            <a:graphicFrameLocks noChangeAspect="1"/>
          </p:cNvGraphicFramePr>
          <p:nvPr>
            <p:extLst>
              <p:ext uri="{D42A27DB-BD31-4B8C-83A1-F6EECF244321}">
                <p14:modId xmlns:p14="http://schemas.microsoft.com/office/powerpoint/2010/main" val="3309512036"/>
              </p:ext>
            </p:extLst>
          </p:nvPr>
        </p:nvGraphicFramePr>
        <p:xfrm>
          <a:off x="3879014" y="1606163"/>
          <a:ext cx="1150186" cy="926539"/>
        </p:xfrm>
        <a:graphic>
          <a:graphicData uri="http://schemas.openxmlformats.org/presentationml/2006/ole">
            <mc:AlternateContent xmlns:mc="http://schemas.openxmlformats.org/markup-compatibility/2006">
              <mc:Choice xmlns:v="urn:schemas-microsoft-com:vml" Requires="v">
                <p:oleObj spid="_x0000_s14444" name="Equation" r:id="rId16" imgW="914400" imgH="736560" progId="Equation.DSMT4">
                  <p:embed/>
                </p:oleObj>
              </mc:Choice>
              <mc:Fallback>
                <p:oleObj name="Equation" r:id="rId16" imgW="914400" imgH="736560" progId="Equation.DSMT4">
                  <p:embed/>
                  <p:pic>
                    <p:nvPicPr>
                      <p:cNvPr id="0" name="Object 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79014" y="1606163"/>
                        <a:ext cx="1150186" cy="92653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4238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32415" y="1241902"/>
            <a:ext cx="7878106" cy="5029535"/>
          </a:xfrm>
        </p:spPr>
        <p:txBody>
          <a:bodyPr/>
          <a:lstStyle/>
          <a:p>
            <a:pPr algn="just"/>
            <a:r>
              <a:rPr lang="ru-RU" dirty="0"/>
              <a:t>Аналогично поступательному движению, можем ввести понятие углового ускорения, как «</a:t>
            </a:r>
            <a:r>
              <a:rPr lang="ru-RU" i="1" dirty="0"/>
              <a:t>скорости изменения скорости»</a:t>
            </a:r>
            <a:r>
              <a:rPr lang="en-US" dirty="0"/>
              <a:t>:</a:t>
            </a:r>
          </a:p>
          <a:p>
            <a:pPr algn="just"/>
            <a:endParaRPr lang="en-US" dirty="0"/>
          </a:p>
          <a:p>
            <a:pPr algn="just"/>
            <a:endParaRPr lang="ru-RU" dirty="0"/>
          </a:p>
          <a:p>
            <a:pPr algn="just"/>
            <a:endParaRPr lang="ru-RU" dirty="0"/>
          </a:p>
          <a:p>
            <a:pPr algn="just"/>
            <a:r>
              <a:rPr lang="ru-RU" dirty="0"/>
              <a:t>Угловые характеристики (14) и (15) можно записать в векторной форме</a:t>
            </a:r>
            <a:r>
              <a:rPr lang="en-US" dirty="0"/>
              <a:t>:</a:t>
            </a:r>
          </a:p>
          <a:p>
            <a:endParaRPr lang="en-US" dirty="0"/>
          </a:p>
          <a:p>
            <a:endParaRPr lang="ru-RU" dirty="0"/>
          </a:p>
          <a:p>
            <a:endParaRPr lang="ru-RU" altLang="en-US" b="1" dirty="0">
              <a:solidFill>
                <a:schemeClr val="accent5"/>
              </a:solidFill>
              <a:sym typeface="Symbol" panose="05050102010706020507" pitchFamily="18" charset="2"/>
            </a:endParaRPr>
          </a:p>
          <a:p>
            <a:endParaRPr lang="ru-RU" dirty="0"/>
          </a:p>
        </p:txBody>
      </p:sp>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твёрдого тела</a:t>
            </a:r>
          </a:p>
        </p:txBody>
      </p:sp>
      <p:sp>
        <p:nvSpPr>
          <p:cNvPr id="9" name="Arrow: Up 8">
            <a:extLst>
              <a:ext uri="{FF2B5EF4-FFF2-40B4-BE49-F238E27FC236}">
                <a16:creationId xmlns:a16="http://schemas.microsoft.com/office/drawing/2014/main" id="{451AB3A4-8351-4998-A16C-B2812D8135B0}"/>
              </a:ext>
            </a:extLst>
          </p:cNvPr>
          <p:cNvSpPr/>
          <p:nvPr/>
        </p:nvSpPr>
        <p:spPr>
          <a:xfrm>
            <a:off x="9808896" y="1338269"/>
            <a:ext cx="81776" cy="456456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807EC28-0BBE-49FC-975C-E638473F3ACC}"/>
              </a:ext>
            </a:extLst>
          </p:cNvPr>
          <p:cNvSpPr/>
          <p:nvPr/>
        </p:nvSpPr>
        <p:spPr>
          <a:xfrm>
            <a:off x="8833840" y="2438508"/>
            <a:ext cx="1977483" cy="661639"/>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7DF7EAF-9963-4822-8156-64D840B9D56D}"/>
              </a:ext>
            </a:extLst>
          </p:cNvPr>
          <p:cNvCxnSpPr>
            <a:cxnSpLocks/>
            <a:endCxn id="11" idx="5"/>
          </p:cNvCxnSpPr>
          <p:nvPr/>
        </p:nvCxnSpPr>
        <p:spPr>
          <a:xfrm>
            <a:off x="9859752" y="2769327"/>
            <a:ext cx="661975" cy="233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F141E9A-A42C-4F23-BD9E-A877D3870C2C}"/>
              </a:ext>
            </a:extLst>
          </p:cNvPr>
          <p:cNvCxnSpPr>
            <a:endCxn id="11" idx="6"/>
          </p:cNvCxnSpPr>
          <p:nvPr/>
        </p:nvCxnSpPr>
        <p:spPr>
          <a:xfrm>
            <a:off x="9859752" y="2769327"/>
            <a:ext cx="951571" cy="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5" name="Arrow: Up 24">
            <a:extLst>
              <a:ext uri="{FF2B5EF4-FFF2-40B4-BE49-F238E27FC236}">
                <a16:creationId xmlns:a16="http://schemas.microsoft.com/office/drawing/2014/main" id="{571BF109-62CD-4D1D-BCD1-76ED95BAA86E}"/>
              </a:ext>
            </a:extLst>
          </p:cNvPr>
          <p:cNvSpPr/>
          <p:nvPr/>
        </p:nvSpPr>
        <p:spPr>
          <a:xfrm>
            <a:off x="9822582" y="1856857"/>
            <a:ext cx="81776" cy="912471"/>
          </a:xfrm>
          <a:prstGeom prst="upArrow">
            <a:avLst/>
          </a:prstGeom>
          <a:solidFill>
            <a:srgbClr val="00B0F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5C83A223-21F5-4D72-B1F9-84A98DFDB53F}"/>
              </a:ext>
            </a:extLst>
          </p:cNvPr>
          <p:cNvCxnSpPr/>
          <p:nvPr/>
        </p:nvCxnSpPr>
        <p:spPr>
          <a:xfrm>
            <a:off x="9849784" y="2867323"/>
            <a:ext cx="0" cy="392165"/>
          </a:xfrm>
          <a:prstGeom prst="line">
            <a:avLst/>
          </a:prstGeom>
          <a:ln w="4762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3378341-CDAA-450C-934A-FE65B5E4849C}"/>
                  </a:ext>
                </a:extLst>
              </p:cNvPr>
              <p:cNvSpPr txBox="1"/>
              <p:nvPr/>
            </p:nvSpPr>
            <p:spPr>
              <a:xfrm>
                <a:off x="9900949" y="1891824"/>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solidFill>
                            <a:srgbClr val="002060"/>
                          </a:solidFill>
                          <a:latin typeface="Cambria Math" panose="02040503050406030204" pitchFamily="18" charset="0"/>
                        </a:rPr>
                        <m:t>𝒅</m:t>
                      </m:r>
                      <m:acc>
                        <m:accPr>
                          <m:chr m:val="⃗"/>
                          <m:ctrlPr>
                            <a:rPr lang="en-US" sz="2400" b="1" i="1" smtClean="0">
                              <a:solidFill>
                                <a:srgbClr val="002060"/>
                              </a:solidFill>
                              <a:latin typeface="Cambria Math" panose="02040503050406030204" pitchFamily="18" charset="0"/>
                            </a:rPr>
                          </m:ctrlPr>
                        </m:accPr>
                        <m:e>
                          <m:r>
                            <a:rPr lang="en-US" sz="2400" b="1" i="1" smtClean="0">
                              <a:solidFill>
                                <a:srgbClr val="002060"/>
                              </a:solidFill>
                              <a:latin typeface="Cambria Math" panose="02040503050406030204" pitchFamily="18" charset="0"/>
                              <a:ea typeface="Cambria Math" panose="02040503050406030204" pitchFamily="18" charset="0"/>
                            </a:rPr>
                            <m:t>𝝋</m:t>
                          </m:r>
                        </m:e>
                      </m:acc>
                    </m:oMath>
                  </m:oMathPara>
                </a14:m>
                <a:endParaRPr lang="en-US" b="1" dirty="0">
                  <a:solidFill>
                    <a:schemeClr val="accent2"/>
                  </a:solidFill>
                  <a:latin typeface="Montserrat SemiBold" panose="00000700000000000000" pitchFamily="2" charset="-52"/>
                </a:endParaRPr>
              </a:p>
            </p:txBody>
          </p:sp>
        </mc:Choice>
        <mc:Fallback xmlns="">
          <p:sp>
            <p:nvSpPr>
              <p:cNvPr id="28" name="TextBox 27">
                <a:extLst>
                  <a:ext uri="{FF2B5EF4-FFF2-40B4-BE49-F238E27FC236}">
                    <a16:creationId xmlns="" xmlns:a16="http://schemas.microsoft.com/office/drawing/2014/main" xmlns:a14="http://schemas.microsoft.com/office/drawing/2010/main" id="{73378341-CDAA-450C-934A-FE65B5E4849C}"/>
                  </a:ext>
                </a:extLst>
              </p:cNvPr>
              <p:cNvSpPr txBox="1">
                <a:spLocks noRot="1" noChangeAspect="1" noMove="1" noResize="1" noEditPoints="1" noAdjustHandles="1" noChangeArrowheads="1" noChangeShapeType="1" noTextEdit="1"/>
              </p:cNvSpPr>
              <p:nvPr/>
            </p:nvSpPr>
            <p:spPr>
              <a:xfrm>
                <a:off x="9900949" y="1891824"/>
                <a:ext cx="614219" cy="421268"/>
              </a:xfrm>
              <a:prstGeom prst="rect">
                <a:avLst/>
              </a:prstGeom>
              <a:blipFill rotWithShape="1">
                <a:blip r:embed="rId3"/>
                <a:stretch>
                  <a:fillRect l="-2970" r="-3960" b="-1304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17CD946-8DFD-4E53-99CD-0D781773DD14}"/>
                  </a:ext>
                </a:extLst>
              </p:cNvPr>
              <p:cNvSpPr txBox="1"/>
              <p:nvPr/>
            </p:nvSpPr>
            <p:spPr>
              <a:xfrm>
                <a:off x="9217928" y="1344580"/>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ea typeface="Cambria Math" panose="02040503050406030204" pitchFamily="18" charset="0"/>
                            </a:rPr>
                            <m:t>𝝎</m:t>
                          </m:r>
                        </m:e>
                      </m:acc>
                    </m:oMath>
                  </m:oMathPara>
                </a14:m>
                <a:endParaRPr lang="en-US" b="1" dirty="0">
                  <a:latin typeface="Montserrat SemiBold" panose="00000700000000000000" pitchFamily="2" charset="-52"/>
                </a:endParaRPr>
              </a:p>
            </p:txBody>
          </p:sp>
        </mc:Choice>
        <mc:Fallback xmlns="">
          <p:sp>
            <p:nvSpPr>
              <p:cNvPr id="29" name="TextBox 28">
                <a:extLst>
                  <a:ext uri="{FF2B5EF4-FFF2-40B4-BE49-F238E27FC236}">
                    <a16:creationId xmlns="" xmlns:a16="http://schemas.microsoft.com/office/drawing/2014/main" xmlns:a14="http://schemas.microsoft.com/office/drawing/2010/main" id="{217CD946-8DFD-4E53-99CD-0D781773DD14}"/>
                  </a:ext>
                </a:extLst>
              </p:cNvPr>
              <p:cNvSpPr txBox="1">
                <a:spLocks noRot="1" noChangeAspect="1" noMove="1" noResize="1" noEditPoints="1" noAdjustHandles="1" noChangeArrowheads="1" noChangeShapeType="1" noTextEdit="1"/>
              </p:cNvSpPr>
              <p:nvPr/>
            </p:nvSpPr>
            <p:spPr>
              <a:xfrm>
                <a:off x="9217928" y="1344580"/>
                <a:ext cx="614219" cy="421268"/>
              </a:xfrm>
              <a:prstGeom prst="rect">
                <a:avLst/>
              </a:prstGeom>
              <a:blipFill rotWithShape="1">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D590C49-A219-455B-80A5-CA4BD24D6EF6}"/>
                  </a:ext>
                </a:extLst>
              </p:cNvPr>
              <p:cNvSpPr txBox="1"/>
              <p:nvPr/>
            </p:nvSpPr>
            <p:spPr>
              <a:xfrm>
                <a:off x="10023436" y="2302246"/>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𝒅</m:t>
                      </m:r>
                      <m:r>
                        <a:rPr lang="en-US" sz="2400" b="1" i="1" smtClean="0">
                          <a:latin typeface="Cambria Math" panose="02040503050406030204" pitchFamily="18" charset="0"/>
                          <a:ea typeface="Cambria Math" panose="02040503050406030204" pitchFamily="18" charset="0"/>
                        </a:rPr>
                        <m:t>𝝋</m:t>
                      </m:r>
                    </m:oMath>
                  </m:oMathPara>
                </a14:m>
                <a:endParaRPr lang="en-US" b="1" dirty="0">
                  <a:latin typeface="Montserrat SemiBold" panose="00000700000000000000" pitchFamily="2" charset="-52"/>
                </a:endParaRPr>
              </a:p>
            </p:txBody>
          </p:sp>
        </mc:Choice>
        <mc:Fallback xmlns="">
          <p:sp>
            <p:nvSpPr>
              <p:cNvPr id="32" name="TextBox 31">
                <a:extLst>
                  <a:ext uri="{FF2B5EF4-FFF2-40B4-BE49-F238E27FC236}">
                    <a16:creationId xmlns:a16="http://schemas.microsoft.com/office/drawing/2014/main" id="{FD590C49-A219-455B-80A5-CA4BD24D6EF6}"/>
                  </a:ext>
                </a:extLst>
              </p:cNvPr>
              <p:cNvSpPr txBox="1">
                <a:spLocks noRot="1" noChangeAspect="1" noMove="1" noResize="1" noEditPoints="1" noAdjustHandles="1" noChangeArrowheads="1" noChangeShapeType="1" noTextEdit="1"/>
              </p:cNvSpPr>
              <p:nvPr/>
            </p:nvSpPr>
            <p:spPr>
              <a:xfrm>
                <a:off x="10023436" y="2302246"/>
                <a:ext cx="614219" cy="421268"/>
              </a:xfrm>
              <a:prstGeom prst="rect">
                <a:avLst/>
              </a:prstGeom>
              <a:blipFill>
                <a:blip r:embed="rId5"/>
                <a:stretch>
                  <a:fillRect l="-2970" r="-2970" b="-11594"/>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2C4EF9E0-FFA8-462E-BF35-E4E75E687643}"/>
              </a:ext>
            </a:extLst>
          </p:cNvPr>
          <p:cNvCxnSpPr>
            <a:cxnSpLocks/>
            <a:endCxn id="11" idx="6"/>
          </p:cNvCxnSpPr>
          <p:nvPr/>
        </p:nvCxnSpPr>
        <p:spPr>
          <a:xfrm flipV="1">
            <a:off x="10508593" y="2769328"/>
            <a:ext cx="302730" cy="2350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449FE5-B96F-4CC1-B259-F1AA27D6CD46}"/>
              </a:ext>
            </a:extLst>
          </p:cNvPr>
          <p:cNvCxnSpPr>
            <a:cxnSpLocks/>
          </p:cNvCxnSpPr>
          <p:nvPr/>
        </p:nvCxnSpPr>
        <p:spPr>
          <a:xfrm flipV="1">
            <a:off x="10512311" y="2517730"/>
            <a:ext cx="673770" cy="49275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75A2E32-E77A-4B1E-9F1C-214A60B5766D}"/>
              </a:ext>
            </a:extLst>
          </p:cNvPr>
          <p:cNvCxnSpPr>
            <a:cxnSpLocks/>
            <a:endCxn id="11" idx="5"/>
          </p:cNvCxnSpPr>
          <p:nvPr/>
        </p:nvCxnSpPr>
        <p:spPr>
          <a:xfrm flipV="1">
            <a:off x="9866786" y="3003252"/>
            <a:ext cx="654941" cy="163674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Arc 42">
            <a:extLst>
              <a:ext uri="{FF2B5EF4-FFF2-40B4-BE49-F238E27FC236}">
                <a16:creationId xmlns:a16="http://schemas.microsoft.com/office/drawing/2014/main" id="{9BF0F7A7-DCB1-4AED-8838-D45286EFABE3}"/>
              </a:ext>
            </a:extLst>
          </p:cNvPr>
          <p:cNvSpPr/>
          <p:nvPr/>
        </p:nvSpPr>
        <p:spPr>
          <a:xfrm>
            <a:off x="10180671" y="2777768"/>
            <a:ext cx="159370" cy="116975"/>
          </a:xfrm>
          <a:prstGeom prst="arc">
            <a:avLst>
              <a:gd name="adj1" fmla="val 16200000"/>
              <a:gd name="adj2" fmla="val 649889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414C3E3-B2C5-4F2E-B1BD-32ED28202D90}"/>
                  </a:ext>
                </a:extLst>
              </p:cNvPr>
              <p:cNvSpPr txBox="1"/>
              <p:nvPr/>
            </p:nvSpPr>
            <p:spPr>
              <a:xfrm>
                <a:off x="9791580" y="2852771"/>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𝑹</m:t>
                      </m:r>
                    </m:oMath>
                  </m:oMathPara>
                </a14:m>
                <a:endParaRPr lang="en-US" sz="2000" b="1" dirty="0">
                  <a:latin typeface="Montserrat SemiBold" panose="00000700000000000000" pitchFamily="2" charset="-52"/>
                </a:endParaRPr>
              </a:p>
            </p:txBody>
          </p:sp>
        </mc:Choice>
        <mc:Fallback xmlns="">
          <p:sp>
            <p:nvSpPr>
              <p:cNvPr id="44" name="TextBox 43">
                <a:extLst>
                  <a:ext uri="{FF2B5EF4-FFF2-40B4-BE49-F238E27FC236}">
                    <a16:creationId xmlns:a16="http://schemas.microsoft.com/office/drawing/2014/main" id="{A414C3E3-B2C5-4F2E-B1BD-32ED28202D90}"/>
                  </a:ext>
                </a:extLst>
              </p:cNvPr>
              <p:cNvSpPr txBox="1">
                <a:spLocks noRot="1" noChangeAspect="1" noMove="1" noResize="1" noEditPoints="1" noAdjustHandles="1" noChangeArrowheads="1" noChangeShapeType="1" noTextEdit="1"/>
              </p:cNvSpPr>
              <p:nvPr/>
            </p:nvSpPr>
            <p:spPr>
              <a:xfrm>
                <a:off x="9791580" y="2852771"/>
                <a:ext cx="614219" cy="421268"/>
              </a:xfrm>
              <a:prstGeom prst="rect">
                <a:avLst/>
              </a:prstGeom>
              <a:blipFill>
                <a:blip r:embed="rId6"/>
                <a:stretch>
                  <a:fillRect/>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F529EDB7-370D-4A47-BEDD-23B13DB49249}"/>
              </a:ext>
            </a:extLst>
          </p:cNvPr>
          <p:cNvSpPr txBox="1"/>
          <p:nvPr/>
        </p:nvSpPr>
        <p:spPr>
          <a:xfrm>
            <a:off x="10238779" y="3920107"/>
            <a:ext cx="614219" cy="421268"/>
          </a:xfrm>
          <a:prstGeom prst="rect">
            <a:avLst/>
          </a:prstGeom>
        </p:spPr>
        <p:txBody>
          <a:bodyPr wrap="none" lIns="0" tIns="0" rIns="0" bIns="0" rtlCol="0">
            <a:noAutofit/>
          </a:bodyPr>
          <a:lstStyle/>
          <a:p>
            <a:pPr algn="l"/>
            <a:endParaRPr lang="en-US" b="1" dirty="0">
              <a:latin typeface="Montserrat SemiBold" panose="00000700000000000000" pitchFamily="2" charset="-52"/>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E0E479E-548E-45D9-9153-00099F4B7EB9}"/>
                  </a:ext>
                </a:extLst>
              </p:cNvPr>
              <p:cNvSpPr txBox="1"/>
              <p:nvPr/>
            </p:nvSpPr>
            <p:spPr>
              <a:xfrm>
                <a:off x="9408749" y="4435194"/>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𝑶</m:t>
                      </m:r>
                    </m:oMath>
                  </m:oMathPara>
                </a14:m>
                <a:endParaRPr lang="en-US" sz="2000" b="1" dirty="0">
                  <a:latin typeface="Montserrat SemiBold" panose="00000700000000000000" pitchFamily="2" charset="-52"/>
                </a:endParaRPr>
              </a:p>
            </p:txBody>
          </p:sp>
        </mc:Choice>
        <mc:Fallback xmlns="">
          <p:sp>
            <p:nvSpPr>
              <p:cNvPr id="46" name="TextBox 45">
                <a:extLst>
                  <a:ext uri="{FF2B5EF4-FFF2-40B4-BE49-F238E27FC236}">
                    <a16:creationId xmlns:a16="http://schemas.microsoft.com/office/drawing/2014/main" id="{CE0E479E-548E-45D9-9153-00099F4B7EB9}"/>
                  </a:ext>
                </a:extLst>
              </p:cNvPr>
              <p:cNvSpPr txBox="1">
                <a:spLocks noRot="1" noChangeAspect="1" noMove="1" noResize="1" noEditPoints="1" noAdjustHandles="1" noChangeArrowheads="1" noChangeShapeType="1" noTextEdit="1"/>
              </p:cNvSpPr>
              <p:nvPr/>
            </p:nvSpPr>
            <p:spPr>
              <a:xfrm>
                <a:off x="9408749" y="4435194"/>
                <a:ext cx="614219" cy="42126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981B0E2-8C5E-41B6-88E3-FF0B314C4F17}"/>
                  </a:ext>
                </a:extLst>
              </p:cNvPr>
              <p:cNvSpPr txBox="1"/>
              <p:nvPr/>
            </p:nvSpPr>
            <p:spPr>
              <a:xfrm>
                <a:off x="9341568" y="2564266"/>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𝑶</m:t>
                      </m:r>
                      <m:r>
                        <a:rPr lang="en-US" sz="2000" b="1" i="1" smtClean="0">
                          <a:latin typeface="Cambria Math" panose="02040503050406030204" pitchFamily="18" charset="0"/>
                        </a:rPr>
                        <m:t>′</m:t>
                      </m:r>
                    </m:oMath>
                  </m:oMathPara>
                </a14:m>
                <a:endParaRPr lang="en-US" sz="2000" b="1" dirty="0">
                  <a:latin typeface="Montserrat SemiBold" panose="00000700000000000000" pitchFamily="2" charset="-52"/>
                </a:endParaRPr>
              </a:p>
            </p:txBody>
          </p:sp>
        </mc:Choice>
        <mc:Fallback xmlns="">
          <p:sp>
            <p:nvSpPr>
              <p:cNvPr id="47" name="TextBox 46">
                <a:extLst>
                  <a:ext uri="{FF2B5EF4-FFF2-40B4-BE49-F238E27FC236}">
                    <a16:creationId xmlns:a16="http://schemas.microsoft.com/office/drawing/2014/main" id="{6981B0E2-8C5E-41B6-88E3-FF0B314C4F17}"/>
                  </a:ext>
                </a:extLst>
              </p:cNvPr>
              <p:cNvSpPr txBox="1">
                <a:spLocks noRot="1" noChangeAspect="1" noMove="1" noResize="1" noEditPoints="1" noAdjustHandles="1" noChangeArrowheads="1" noChangeShapeType="1" noTextEdit="1"/>
              </p:cNvSpPr>
              <p:nvPr/>
            </p:nvSpPr>
            <p:spPr>
              <a:xfrm>
                <a:off x="9341568" y="2564266"/>
                <a:ext cx="614219" cy="421268"/>
              </a:xfrm>
              <a:prstGeom prst="rect">
                <a:avLst/>
              </a:prstGeom>
              <a:blipFill>
                <a:blip r:embed="rId8"/>
                <a:stretch>
                  <a:fillRect t="-1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76809874-7DC7-4244-B26D-096BE396AC1F}"/>
                  </a:ext>
                </a:extLst>
              </p:cNvPr>
              <p:cNvSpPr txBox="1"/>
              <p:nvPr/>
            </p:nvSpPr>
            <p:spPr>
              <a:xfrm>
                <a:off x="10362739" y="3044029"/>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𝑴</m:t>
                      </m:r>
                    </m:oMath>
                  </m:oMathPara>
                </a14:m>
                <a:endParaRPr lang="en-US" sz="2000" b="1" dirty="0">
                  <a:latin typeface="Montserrat SemiBold" panose="00000700000000000000" pitchFamily="2" charset="-52"/>
                </a:endParaRPr>
              </a:p>
            </p:txBody>
          </p:sp>
        </mc:Choice>
        <mc:Fallback xmlns="">
          <p:sp>
            <p:nvSpPr>
              <p:cNvPr id="48" name="TextBox 47">
                <a:extLst>
                  <a:ext uri="{FF2B5EF4-FFF2-40B4-BE49-F238E27FC236}">
                    <a16:creationId xmlns:a16="http://schemas.microsoft.com/office/drawing/2014/main" id="{76809874-7DC7-4244-B26D-096BE396AC1F}"/>
                  </a:ext>
                </a:extLst>
              </p:cNvPr>
              <p:cNvSpPr txBox="1">
                <a:spLocks noRot="1" noChangeAspect="1" noMove="1" noResize="1" noEditPoints="1" noAdjustHandles="1" noChangeArrowheads="1" noChangeShapeType="1" noTextEdit="1"/>
              </p:cNvSpPr>
              <p:nvPr/>
            </p:nvSpPr>
            <p:spPr>
              <a:xfrm>
                <a:off x="10362739" y="3044029"/>
                <a:ext cx="614219" cy="42126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4033B2D-77F5-4801-8038-4DA416158484}"/>
                  </a:ext>
                </a:extLst>
              </p:cNvPr>
              <p:cNvSpPr txBox="1"/>
              <p:nvPr/>
            </p:nvSpPr>
            <p:spPr>
              <a:xfrm>
                <a:off x="10073143" y="3643982"/>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𝒓</m:t>
                          </m:r>
                        </m:e>
                      </m:acc>
                    </m:oMath>
                  </m:oMathPara>
                </a14:m>
                <a:endParaRPr lang="en-US" b="1" dirty="0">
                  <a:latin typeface="Montserrat SemiBold" panose="00000700000000000000" pitchFamily="2" charset="-52"/>
                </a:endParaRPr>
              </a:p>
            </p:txBody>
          </p:sp>
        </mc:Choice>
        <mc:Fallback xmlns="">
          <p:sp>
            <p:nvSpPr>
              <p:cNvPr id="49" name="TextBox 48">
                <a:extLst>
                  <a:ext uri="{FF2B5EF4-FFF2-40B4-BE49-F238E27FC236}">
                    <a16:creationId xmlns:a16="http://schemas.microsoft.com/office/drawing/2014/main" id="{B4033B2D-77F5-4801-8038-4DA416158484}"/>
                  </a:ext>
                </a:extLst>
              </p:cNvPr>
              <p:cNvSpPr txBox="1">
                <a:spLocks noRot="1" noChangeAspect="1" noMove="1" noResize="1" noEditPoints="1" noAdjustHandles="1" noChangeArrowheads="1" noChangeShapeType="1" noTextEdit="1"/>
              </p:cNvSpPr>
              <p:nvPr/>
            </p:nvSpPr>
            <p:spPr>
              <a:xfrm>
                <a:off x="10073143" y="3643982"/>
                <a:ext cx="614219" cy="42126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1A1777D-AEE0-4549-BF00-950598477274}"/>
                  </a:ext>
                </a:extLst>
              </p:cNvPr>
              <p:cNvSpPr txBox="1"/>
              <p:nvPr/>
            </p:nvSpPr>
            <p:spPr>
              <a:xfrm>
                <a:off x="10673414" y="2764108"/>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𝒅</m:t>
                      </m:r>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𝒓</m:t>
                          </m:r>
                        </m:e>
                      </m:acc>
                    </m:oMath>
                  </m:oMathPara>
                </a14:m>
                <a:endParaRPr lang="en-US" b="1" dirty="0">
                  <a:latin typeface="Montserrat SemiBold" panose="00000700000000000000" pitchFamily="2" charset="-52"/>
                </a:endParaRPr>
              </a:p>
            </p:txBody>
          </p:sp>
        </mc:Choice>
        <mc:Fallback xmlns="">
          <p:sp>
            <p:nvSpPr>
              <p:cNvPr id="50" name="TextBox 49">
                <a:extLst>
                  <a:ext uri="{FF2B5EF4-FFF2-40B4-BE49-F238E27FC236}">
                    <a16:creationId xmlns:a16="http://schemas.microsoft.com/office/drawing/2014/main" id="{C1A1777D-AEE0-4549-BF00-950598477274}"/>
                  </a:ext>
                </a:extLst>
              </p:cNvPr>
              <p:cNvSpPr txBox="1">
                <a:spLocks noRot="1" noChangeAspect="1" noMove="1" noResize="1" noEditPoints="1" noAdjustHandles="1" noChangeArrowheads="1" noChangeShapeType="1" noTextEdit="1"/>
              </p:cNvSpPr>
              <p:nvPr/>
            </p:nvSpPr>
            <p:spPr>
              <a:xfrm>
                <a:off x="10673414" y="2764108"/>
                <a:ext cx="614219" cy="42126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2F5E2A3-5C32-4255-A54C-DA495D17B3B1}"/>
                  </a:ext>
                </a:extLst>
              </p:cNvPr>
              <p:cNvSpPr txBox="1"/>
              <p:nvPr/>
            </p:nvSpPr>
            <p:spPr>
              <a:xfrm>
                <a:off x="11095181" y="2347849"/>
                <a:ext cx="614219" cy="421268"/>
              </a:xfrm>
              <a:prstGeom prst="rect">
                <a:avLst/>
              </a:prstGeom>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𝒗</m:t>
                          </m:r>
                        </m:e>
                      </m:acc>
                    </m:oMath>
                  </m:oMathPara>
                </a14:m>
                <a:endParaRPr lang="en-US" b="1" dirty="0">
                  <a:latin typeface="Montserrat SemiBold" panose="00000700000000000000" pitchFamily="2" charset="-52"/>
                </a:endParaRPr>
              </a:p>
            </p:txBody>
          </p:sp>
        </mc:Choice>
        <mc:Fallback xmlns="">
          <p:sp>
            <p:nvSpPr>
              <p:cNvPr id="51" name="TextBox 50">
                <a:extLst>
                  <a:ext uri="{FF2B5EF4-FFF2-40B4-BE49-F238E27FC236}">
                    <a16:creationId xmlns:a16="http://schemas.microsoft.com/office/drawing/2014/main" id="{32F5E2A3-5C32-4255-A54C-DA495D17B3B1}"/>
                  </a:ext>
                </a:extLst>
              </p:cNvPr>
              <p:cNvSpPr txBox="1">
                <a:spLocks noRot="1" noChangeAspect="1" noMove="1" noResize="1" noEditPoints="1" noAdjustHandles="1" noChangeArrowheads="1" noChangeShapeType="1" noTextEdit="1"/>
              </p:cNvSpPr>
              <p:nvPr/>
            </p:nvSpPr>
            <p:spPr>
              <a:xfrm>
                <a:off x="11095181" y="2347849"/>
                <a:ext cx="614219" cy="421268"/>
              </a:xfrm>
              <a:prstGeom prst="rect">
                <a:avLst/>
              </a:prstGeom>
              <a:blipFill>
                <a:blip r:embed="rId12"/>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7E6C5FA-C2DB-4E1E-8969-8B9F45AE1E94}"/>
              </a:ext>
            </a:extLst>
          </p:cNvPr>
          <p:cNvSpPr>
            <a:spLocks noGrp="1"/>
          </p:cNvSpPr>
          <p:nvPr>
            <p:ph type="title"/>
          </p:nvPr>
        </p:nvSpPr>
        <p:spPr>
          <a:xfrm>
            <a:off x="479425" y="597857"/>
            <a:ext cx="11229975" cy="842742"/>
          </a:xfrm>
        </p:spPr>
        <p:txBody>
          <a:bodyPr/>
          <a:lstStyle/>
          <a:p>
            <a:r>
              <a:rPr lang="ru-RU" dirty="0"/>
              <a:t>Угловое ускорение</a:t>
            </a:r>
            <a:endParaRPr lang="en-US" dirty="0"/>
          </a:p>
        </p:txBody>
      </p:sp>
      <p:sp>
        <p:nvSpPr>
          <p:cNvPr id="30" name="TextBox 29">
            <a:extLst>
              <a:ext uri="{FF2B5EF4-FFF2-40B4-BE49-F238E27FC236}">
                <a16:creationId xmlns:a16="http://schemas.microsoft.com/office/drawing/2014/main" id="{0AA95CAE-C2F3-4086-A219-C5226E806348}"/>
              </a:ext>
            </a:extLst>
          </p:cNvPr>
          <p:cNvSpPr txBox="1"/>
          <p:nvPr/>
        </p:nvSpPr>
        <p:spPr>
          <a:xfrm>
            <a:off x="7774124" y="2471858"/>
            <a:ext cx="812800" cy="369332"/>
          </a:xfrm>
          <a:prstGeom prst="rect">
            <a:avLst/>
          </a:prstGeom>
          <a:noFill/>
        </p:spPr>
        <p:txBody>
          <a:bodyPr wrap="square">
            <a:spAutoFit/>
          </a:bodyPr>
          <a:lstStyle/>
          <a:p>
            <a:r>
              <a:rPr lang="ru-RU" b="1" dirty="0">
                <a:cs typeface="Times New Roman" panose="02020603050405020304" pitchFamily="18" charset="0"/>
              </a:rPr>
              <a:t>(1</a:t>
            </a:r>
            <a:r>
              <a:rPr lang="en-US" b="1" dirty="0">
                <a:cs typeface="Times New Roman" panose="02020603050405020304" pitchFamily="18" charset="0"/>
              </a:rPr>
              <a:t>5</a:t>
            </a:r>
            <a:r>
              <a:rPr lang="ru-RU" b="1" dirty="0">
                <a:cs typeface="Times New Roman" panose="02020603050405020304" pitchFamily="18" charset="0"/>
              </a:rPr>
              <a:t>)</a:t>
            </a:r>
            <a:endParaRPr lang="en-US" dirty="0"/>
          </a:p>
        </p:txBody>
      </p:sp>
      <p:sp>
        <p:nvSpPr>
          <p:cNvPr id="34" name="TextBox 33">
            <a:extLst>
              <a:ext uri="{FF2B5EF4-FFF2-40B4-BE49-F238E27FC236}">
                <a16:creationId xmlns:a16="http://schemas.microsoft.com/office/drawing/2014/main" id="{4C9203EF-25AC-4715-8A23-947BD6AE8080}"/>
              </a:ext>
            </a:extLst>
          </p:cNvPr>
          <p:cNvSpPr txBox="1"/>
          <p:nvPr/>
        </p:nvSpPr>
        <p:spPr>
          <a:xfrm>
            <a:off x="7774124" y="4865459"/>
            <a:ext cx="812800" cy="369332"/>
          </a:xfrm>
          <a:prstGeom prst="rect">
            <a:avLst/>
          </a:prstGeom>
          <a:noFill/>
        </p:spPr>
        <p:txBody>
          <a:bodyPr wrap="square">
            <a:spAutoFit/>
          </a:bodyPr>
          <a:lstStyle/>
          <a:p>
            <a:r>
              <a:rPr lang="ru-RU" b="1" dirty="0">
                <a:cs typeface="Times New Roman" panose="02020603050405020304" pitchFamily="18" charset="0"/>
              </a:rPr>
              <a:t>(1</a:t>
            </a:r>
            <a:r>
              <a:rPr lang="en-US" b="1" dirty="0">
                <a:cs typeface="Times New Roman" panose="02020603050405020304" pitchFamily="18" charset="0"/>
              </a:rPr>
              <a:t>6</a:t>
            </a:r>
            <a:r>
              <a:rPr lang="ru-RU" b="1" dirty="0">
                <a:cs typeface="Times New Roman" panose="02020603050405020304" pitchFamily="18" charset="0"/>
              </a:rPr>
              <a:t>)</a:t>
            </a:r>
            <a:endParaRPr lang="en-US" dirty="0"/>
          </a:p>
        </p:txBody>
      </p:sp>
      <p:graphicFrame>
        <p:nvGraphicFramePr>
          <p:cNvPr id="2" name="Object 1">
            <a:extLst>
              <a:ext uri="{FF2B5EF4-FFF2-40B4-BE49-F238E27FC236}">
                <a16:creationId xmlns:a16="http://schemas.microsoft.com/office/drawing/2014/main" id="{16510A17-7B2F-44DC-B1D5-76EDB7C53B7A}"/>
              </a:ext>
            </a:extLst>
          </p:cNvPr>
          <p:cNvGraphicFramePr>
            <a:graphicFrameLocks noChangeAspect="1"/>
          </p:cNvGraphicFramePr>
          <p:nvPr>
            <p:extLst>
              <p:ext uri="{D42A27DB-BD31-4B8C-83A1-F6EECF244321}">
                <p14:modId xmlns:p14="http://schemas.microsoft.com/office/powerpoint/2010/main" val="2163274937"/>
              </p:ext>
            </p:extLst>
          </p:nvPr>
        </p:nvGraphicFramePr>
        <p:xfrm>
          <a:off x="4047959" y="2395205"/>
          <a:ext cx="1404574" cy="1180657"/>
        </p:xfrm>
        <a:graphic>
          <a:graphicData uri="http://schemas.openxmlformats.org/presentationml/2006/ole">
            <mc:AlternateContent xmlns:mc="http://schemas.openxmlformats.org/markup-compatibility/2006">
              <mc:Choice xmlns:v="urn:schemas-microsoft-com:vml" Requires="v">
                <p:oleObj spid="_x0000_s15566" name="Equation" r:id="rId13" imgW="876240" imgH="736560" progId="Equation.DSMT4">
                  <p:embed/>
                </p:oleObj>
              </mc:Choice>
              <mc:Fallback>
                <p:oleObj name="Equation" r:id="rId13" imgW="876240" imgH="736560" progId="Equation.DSMT4">
                  <p:embed/>
                  <p:pic>
                    <p:nvPicPr>
                      <p:cNvPr id="0" name=""/>
                      <p:cNvPicPr/>
                      <p:nvPr/>
                    </p:nvPicPr>
                    <p:blipFill>
                      <a:blip r:embed="rId14"/>
                      <a:stretch>
                        <a:fillRect/>
                      </a:stretch>
                    </p:blipFill>
                    <p:spPr>
                      <a:xfrm>
                        <a:off x="4047959" y="2395205"/>
                        <a:ext cx="1404574" cy="118065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9AF93491-FBE6-4D09-A793-8CB4C441230F}"/>
              </a:ext>
            </a:extLst>
          </p:cNvPr>
          <p:cNvGraphicFramePr>
            <a:graphicFrameLocks noChangeAspect="1"/>
          </p:cNvGraphicFramePr>
          <p:nvPr>
            <p:extLst>
              <p:ext uri="{D42A27DB-BD31-4B8C-83A1-F6EECF244321}">
                <p14:modId xmlns:p14="http://schemas.microsoft.com/office/powerpoint/2010/main" val="4137170759"/>
              </p:ext>
            </p:extLst>
          </p:nvPr>
        </p:nvGraphicFramePr>
        <p:xfrm>
          <a:off x="2543002" y="4523909"/>
          <a:ext cx="1974533" cy="665106"/>
        </p:xfrm>
        <a:graphic>
          <a:graphicData uri="http://schemas.openxmlformats.org/presentationml/2006/ole">
            <mc:AlternateContent xmlns:mc="http://schemas.openxmlformats.org/markup-compatibility/2006">
              <mc:Choice xmlns:v="urn:schemas-microsoft-com:vml" Requires="v">
                <p:oleObj spid="_x0000_s15567" name="Equation" r:id="rId15" imgW="1206360" imgH="406080" progId="Equation.DSMT4">
                  <p:embed/>
                </p:oleObj>
              </mc:Choice>
              <mc:Fallback>
                <p:oleObj name="Equation" r:id="rId15" imgW="1206360" imgH="406080" progId="Equation.DSMT4">
                  <p:embed/>
                  <p:pic>
                    <p:nvPicPr>
                      <p:cNvPr id="0" name=""/>
                      <p:cNvPicPr/>
                      <p:nvPr/>
                    </p:nvPicPr>
                    <p:blipFill>
                      <a:blip r:embed="rId16"/>
                      <a:stretch>
                        <a:fillRect/>
                      </a:stretch>
                    </p:blipFill>
                    <p:spPr>
                      <a:xfrm>
                        <a:off x="2543002" y="4523909"/>
                        <a:ext cx="1974533" cy="665106"/>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495938A4-7B92-477D-99C6-59F8DC0A0246}"/>
              </a:ext>
            </a:extLst>
          </p:cNvPr>
          <p:cNvGraphicFramePr>
            <a:graphicFrameLocks noChangeAspect="1"/>
          </p:cNvGraphicFramePr>
          <p:nvPr>
            <p:extLst>
              <p:ext uri="{D42A27DB-BD31-4B8C-83A1-F6EECF244321}">
                <p14:modId xmlns:p14="http://schemas.microsoft.com/office/powerpoint/2010/main" val="673368317"/>
              </p:ext>
            </p:extLst>
          </p:nvPr>
        </p:nvGraphicFramePr>
        <p:xfrm>
          <a:off x="4807216" y="4472113"/>
          <a:ext cx="2227968" cy="750009"/>
        </p:xfrm>
        <a:graphic>
          <a:graphicData uri="http://schemas.openxmlformats.org/presentationml/2006/ole">
            <mc:AlternateContent xmlns:mc="http://schemas.openxmlformats.org/markup-compatibility/2006">
              <mc:Choice xmlns:v="urn:schemas-microsoft-com:vml" Requires="v">
                <p:oleObj spid="_x0000_s15568" name="Equation" r:id="rId17" imgW="1282680" imgH="431640" progId="Equation.DSMT4">
                  <p:embed/>
                </p:oleObj>
              </mc:Choice>
              <mc:Fallback>
                <p:oleObj name="Equation" r:id="rId17" imgW="1282680" imgH="431640" progId="Equation.DSMT4">
                  <p:embed/>
                  <p:pic>
                    <p:nvPicPr>
                      <p:cNvPr id="0" name=""/>
                      <p:cNvPicPr/>
                      <p:nvPr/>
                    </p:nvPicPr>
                    <p:blipFill>
                      <a:blip r:embed="rId18"/>
                      <a:stretch>
                        <a:fillRect/>
                      </a:stretch>
                    </p:blipFill>
                    <p:spPr>
                      <a:xfrm>
                        <a:off x="4807216" y="4472113"/>
                        <a:ext cx="2227968" cy="750009"/>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2020D3F0-8260-4DB5-9C41-B3FE8BED5C0D}"/>
              </a:ext>
            </a:extLst>
          </p:cNvPr>
          <p:cNvGraphicFramePr>
            <a:graphicFrameLocks noChangeAspect="1"/>
          </p:cNvGraphicFramePr>
          <p:nvPr>
            <p:extLst>
              <p:ext uri="{D42A27DB-BD31-4B8C-83A1-F6EECF244321}">
                <p14:modId xmlns:p14="http://schemas.microsoft.com/office/powerpoint/2010/main" val="1953503334"/>
              </p:ext>
            </p:extLst>
          </p:nvPr>
        </p:nvGraphicFramePr>
        <p:xfrm>
          <a:off x="3473128" y="5287131"/>
          <a:ext cx="2893805" cy="1231406"/>
        </p:xfrm>
        <a:graphic>
          <a:graphicData uri="http://schemas.openxmlformats.org/presentationml/2006/ole">
            <mc:AlternateContent xmlns:mc="http://schemas.openxmlformats.org/markup-compatibility/2006">
              <mc:Choice xmlns:v="urn:schemas-microsoft-com:vml" Requires="v">
                <p:oleObj spid="_x0000_s15569" name="Equation" r:id="rId19" imgW="1790640" imgH="761760" progId="Equation.DSMT4">
                  <p:embed/>
                </p:oleObj>
              </mc:Choice>
              <mc:Fallback>
                <p:oleObj name="Equation" r:id="rId19" imgW="1790640" imgH="761760" progId="Equation.DSMT4">
                  <p:embed/>
                  <p:pic>
                    <p:nvPicPr>
                      <p:cNvPr id="0" name=""/>
                      <p:cNvPicPr/>
                      <p:nvPr/>
                    </p:nvPicPr>
                    <p:blipFill>
                      <a:blip r:embed="rId20"/>
                      <a:stretch>
                        <a:fillRect/>
                      </a:stretch>
                    </p:blipFill>
                    <p:spPr>
                      <a:xfrm>
                        <a:off x="3473128" y="5287131"/>
                        <a:ext cx="2893805" cy="1231406"/>
                      </a:xfrm>
                      <a:prstGeom prst="rect">
                        <a:avLst/>
                      </a:prstGeom>
                    </p:spPr>
                  </p:pic>
                </p:oleObj>
              </mc:Fallback>
            </mc:AlternateContent>
          </a:graphicData>
        </a:graphic>
      </p:graphicFrame>
    </p:spTree>
    <p:extLst>
      <p:ext uri="{BB962C8B-B14F-4D97-AF65-F5344CB8AC3E}">
        <p14:creationId xmlns:p14="http://schemas.microsoft.com/office/powerpoint/2010/main" val="1243440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59473" y="1122581"/>
                <a:ext cx="11916936" cy="5466873"/>
              </a:xfrm>
            </p:spPr>
            <p:txBody>
              <a:bodyPr/>
              <a:lstStyle/>
              <a:p>
                <a:r>
                  <a:rPr lang="ru-RU" sz="1800" dirty="0"/>
                  <a:t>Вектор элементарного </a:t>
                </a:r>
                <a:r>
                  <a:rPr lang="ru-RU" sz="1800" dirty="0">
                    <a:solidFill>
                      <a:schemeClr val="accent5"/>
                    </a:solidFill>
                  </a:rPr>
                  <a:t>углового перемещения </a:t>
                </a:r>
                <a:r>
                  <a:rPr lang="ru-RU" sz="1800" dirty="0"/>
                  <a:t>– аксиальный псевдовектор, равный по величине бесконечно малому углу поворота </a:t>
                </a:r>
                <a14:m>
                  <m:oMath xmlns:m="http://schemas.openxmlformats.org/officeDocument/2006/math">
                    <m:r>
                      <a:rPr lang="en-US" sz="1800" b="0" i="1" smtClean="0">
                        <a:latin typeface="Cambria Math" panose="02040503050406030204" pitchFamily="18" charset="0"/>
                      </a:rPr>
                      <m:t>𝑑</m:t>
                    </m:r>
                    <m:r>
                      <a:rPr lang="en-US" sz="1800" b="0" i="1" smtClean="0">
                        <a:latin typeface="Cambria Math" panose="02040503050406030204" pitchFamily="18" charset="0"/>
                        <a:ea typeface="Cambria Math" panose="02040503050406030204" pitchFamily="18" charset="0"/>
                      </a:rPr>
                      <m:t>𝜑</m:t>
                    </m:r>
                  </m:oMath>
                </a14:m>
                <a:r>
                  <a:rPr lang="en-US" sz="1800" dirty="0"/>
                  <a:t> </a:t>
                </a:r>
                <a:r>
                  <a:rPr lang="ru-RU" sz="1800" dirty="0"/>
                  <a:t>и направленный в сторону движения правого винта. </a:t>
                </a:r>
                <a:endParaRPr lang="en-US" sz="1800" dirty="0"/>
              </a:p>
              <a:p>
                <a:r>
                  <a:rPr lang="ru-RU" sz="1800" dirty="0"/>
                  <a:t>Где </a:t>
                </a:r>
                <a14:m>
                  <m:oMath xmlns:m="http://schemas.openxmlformats.org/officeDocument/2006/math">
                    <m:acc>
                      <m:accPr>
                        <m:chr m:val="⃗"/>
                        <m:ctrlPr>
                          <a:rPr lang="ru-RU" sz="1800" i="1" smtClean="0">
                            <a:latin typeface="Cambria Math" panose="02040503050406030204" pitchFamily="18" charset="0"/>
                          </a:rPr>
                        </m:ctrlPr>
                      </m:accPr>
                      <m:e>
                        <m:r>
                          <a:rPr lang="en-US" sz="1800" b="0" i="1" smtClean="0">
                            <a:latin typeface="Cambria Math" panose="02040503050406030204" pitchFamily="18" charset="0"/>
                          </a:rPr>
                          <m:t>𝑘</m:t>
                        </m:r>
                      </m:e>
                    </m:acc>
                  </m:oMath>
                </a14:m>
                <a:r>
                  <a:rPr lang="en-US" sz="1800" dirty="0"/>
                  <a:t> </a:t>
                </a:r>
                <a:r>
                  <a:rPr lang="ru-RU" sz="1800" dirty="0"/>
                  <a:t>единичный вектор нормали к плоскости вращения точки. Угловая скорость и ускорение – аксиальные векторы.</a:t>
                </a:r>
              </a:p>
              <a:p>
                <a:endParaRPr lang="ru-RU" altLang="en-US" b="1" dirty="0">
                  <a:solidFill>
                    <a:schemeClr val="accent5"/>
                  </a:solidFill>
                  <a:sym typeface="Symbol" panose="05050102010706020507" pitchFamily="18" charset="2"/>
                </a:endParaRPr>
              </a:p>
              <a:p>
                <a:endParaRPr lang="en-US" dirty="0"/>
              </a:p>
              <a:p>
                <a:r>
                  <a:rPr lang="ru-RU" sz="1800" dirty="0"/>
                  <a:t>При вращении точки вокруг фиксированной оси на расстоянии </a:t>
                </a:r>
                <a14:m>
                  <m:oMath xmlns:m="http://schemas.openxmlformats.org/officeDocument/2006/math">
                    <m:r>
                      <a:rPr lang="ru-RU" sz="1800">
                        <a:latin typeface="Cambria Math" panose="02040503050406030204" pitchFamily="18" charset="0"/>
                      </a:rPr>
                      <m:t>𝜌</m:t>
                    </m:r>
                  </m:oMath>
                </a14:m>
                <a:r>
                  <a:rPr lang="ru-RU" sz="1800" dirty="0"/>
                  <a:t> от нее векторы линейного и углового элементарных перемещений связаны соотношением</a:t>
                </a:r>
                <a:r>
                  <a:rPr lang="en-US" sz="1800" dirty="0"/>
                  <a:t>:</a:t>
                </a:r>
              </a:p>
              <a:p>
                <a:endParaRPr lang="en-US" sz="1800" dirty="0"/>
              </a:p>
              <a:p>
                <a:r>
                  <a:rPr lang="ru-RU" sz="1800" dirty="0"/>
                  <a:t>Отсюда следует формула Эйлера для линейной скорости </a:t>
                </a:r>
                <a:endParaRPr lang="en-US" sz="1800" dirty="0"/>
              </a:p>
              <a:p>
                <a:endParaRPr lang="en-US" sz="1800" dirty="0"/>
              </a:p>
              <a:p>
                <a:endParaRPr lang="en-US" sz="1800" dirty="0"/>
              </a:p>
              <a:p>
                <a:r>
                  <a:rPr lang="ru-RU" sz="1800" dirty="0"/>
                  <a:t>А также для ускорения</a:t>
                </a:r>
                <a:r>
                  <a:rPr lang="en-US" sz="1800" dirty="0"/>
                  <a:t> (</a:t>
                </a:r>
                <a14:m>
                  <m:oMath xmlns:m="http://schemas.openxmlformats.org/officeDocument/2006/math">
                    <m:acc>
                      <m:accPr>
                        <m:chr m:val="⃗"/>
                        <m:ctrlPr>
                          <a:rPr lang="en-US" sz="1800" i="1" smtClean="0">
                            <a:latin typeface="Cambria Math" panose="02040503050406030204" pitchFamily="18" charset="0"/>
                          </a:rPr>
                        </m:ctrlPr>
                      </m:accPr>
                      <m:e>
                        <m:r>
                          <a:rPr lang="en-US" sz="1800" i="1" smtClean="0">
                            <a:latin typeface="Cambria Math" panose="02040503050406030204" pitchFamily="18" charset="0"/>
                            <a:ea typeface="Cambria Math" panose="02040503050406030204" pitchFamily="18" charset="0"/>
                          </a:rPr>
                          <m:t>𝜌</m:t>
                        </m:r>
                      </m:e>
                    </m:acc>
                  </m:oMath>
                </a14:m>
                <a:r>
                  <a:rPr lang="en-US" sz="1800" dirty="0"/>
                  <a:t> - </a:t>
                </a:r>
                <a:r>
                  <a:rPr lang="ru-RU" sz="1800" dirty="0"/>
                  <a:t>радиус-вектор из центра окружности)</a:t>
                </a:r>
                <a:r>
                  <a:rPr lang="en-US" sz="1800" dirty="0"/>
                  <a:t>:</a:t>
                </a:r>
                <a:endParaRPr lang="ru-RU" sz="1800" dirty="0"/>
              </a:p>
            </p:txBody>
          </p:sp>
        </mc:Choice>
        <mc:Fallback xmlns="">
          <p:sp>
            <p:nvSpPr>
              <p:cNvPr id="10" name="Текст 9">
                <a:extLst>
                  <a:ext uri="{FF2B5EF4-FFF2-40B4-BE49-F238E27FC236}">
                    <a16:creationId xmlns="" xmlns:a16="http://schemas.microsoft.com/office/drawing/2014/main" xmlns:a14="http://schemas.microsoft.com/office/drawing/2010/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59473" y="1122581"/>
                <a:ext cx="11916936" cy="5466873"/>
              </a:xfrm>
              <a:blipFill rotWithShape="1">
                <a:blip r:embed="rId3"/>
                <a:stretch>
                  <a:fillRect l="-460" t="-1003" r="-818"/>
                </a:stretch>
              </a:blipFill>
            </p:spPr>
            <p:txBody>
              <a:bodyPr/>
              <a:lstStyle/>
              <a:p>
                <a:r>
                  <a:rPr lang="ru-RU">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твёрдого тела</a:t>
            </a:r>
          </a:p>
        </p:txBody>
      </p:sp>
      <p:sp>
        <p:nvSpPr>
          <p:cNvPr id="3" name="Title 2">
            <a:extLst>
              <a:ext uri="{FF2B5EF4-FFF2-40B4-BE49-F238E27FC236}">
                <a16:creationId xmlns:a16="http://schemas.microsoft.com/office/drawing/2014/main" id="{D7E6C5FA-C2DB-4E1E-8969-8B9F45AE1E94}"/>
              </a:ext>
            </a:extLst>
          </p:cNvPr>
          <p:cNvSpPr>
            <a:spLocks noGrp="1"/>
          </p:cNvSpPr>
          <p:nvPr>
            <p:ph type="title"/>
          </p:nvPr>
        </p:nvSpPr>
        <p:spPr>
          <a:xfrm>
            <a:off x="479425" y="597857"/>
            <a:ext cx="11229975" cy="842742"/>
          </a:xfrm>
        </p:spPr>
        <p:txBody>
          <a:bodyPr/>
          <a:lstStyle/>
          <a:p>
            <a:r>
              <a:rPr lang="ru-RU" dirty="0"/>
              <a:t>Связь линейных и угловых характеристик</a:t>
            </a:r>
            <a:endParaRPr lang="en-US" dirty="0"/>
          </a:p>
        </p:txBody>
      </p:sp>
      <p:graphicFrame>
        <p:nvGraphicFramePr>
          <p:cNvPr id="4" name="Object 3">
            <a:extLst>
              <a:ext uri="{FF2B5EF4-FFF2-40B4-BE49-F238E27FC236}">
                <a16:creationId xmlns:a16="http://schemas.microsoft.com/office/drawing/2014/main" id="{54C29EFD-0904-4372-A31F-939A34F07298}"/>
              </a:ext>
            </a:extLst>
          </p:cNvPr>
          <p:cNvGraphicFramePr>
            <a:graphicFrameLocks noChangeAspect="1"/>
          </p:cNvGraphicFramePr>
          <p:nvPr>
            <p:extLst>
              <p:ext uri="{D42A27DB-BD31-4B8C-83A1-F6EECF244321}">
                <p14:modId xmlns:p14="http://schemas.microsoft.com/office/powerpoint/2010/main" val="2281297667"/>
              </p:ext>
            </p:extLst>
          </p:nvPr>
        </p:nvGraphicFramePr>
        <p:xfrm>
          <a:off x="4956175" y="1662113"/>
          <a:ext cx="1130300" cy="419100"/>
        </p:xfrm>
        <a:graphic>
          <a:graphicData uri="http://schemas.openxmlformats.org/presentationml/2006/ole">
            <mc:AlternateContent xmlns:mc="http://schemas.openxmlformats.org/markup-compatibility/2006">
              <mc:Choice xmlns:v="urn:schemas-microsoft-com:vml" Requires="v">
                <p:oleObj spid="_x0000_s20690" name="Equation" r:id="rId4" imgW="1130040" imgH="419040" progId="Equation.DSMT4">
                  <p:embed/>
                </p:oleObj>
              </mc:Choice>
              <mc:Fallback>
                <p:oleObj name="Equation" r:id="rId4" imgW="1130040" imgH="419040" progId="Equation.DSMT4">
                  <p:embed/>
                  <p:pic>
                    <p:nvPicPr>
                      <p:cNvPr id="0" name=""/>
                      <p:cNvPicPr/>
                      <p:nvPr/>
                    </p:nvPicPr>
                    <p:blipFill>
                      <a:blip r:embed="rId5"/>
                      <a:stretch>
                        <a:fillRect/>
                      </a:stretch>
                    </p:blipFill>
                    <p:spPr>
                      <a:xfrm>
                        <a:off x="4956175" y="1662113"/>
                        <a:ext cx="1130300" cy="4191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642702A7-F758-432D-9890-8D1BF13B50DB}"/>
              </a:ext>
            </a:extLst>
          </p:cNvPr>
          <p:cNvGraphicFramePr>
            <a:graphicFrameLocks noChangeAspect="1"/>
          </p:cNvGraphicFramePr>
          <p:nvPr>
            <p:extLst>
              <p:ext uri="{D42A27DB-BD31-4B8C-83A1-F6EECF244321}">
                <p14:modId xmlns:p14="http://schemas.microsoft.com/office/powerpoint/2010/main" val="376959706"/>
              </p:ext>
            </p:extLst>
          </p:nvPr>
        </p:nvGraphicFramePr>
        <p:xfrm>
          <a:off x="3875087" y="2598654"/>
          <a:ext cx="1574800" cy="736600"/>
        </p:xfrm>
        <a:graphic>
          <a:graphicData uri="http://schemas.openxmlformats.org/presentationml/2006/ole">
            <mc:AlternateContent xmlns:mc="http://schemas.openxmlformats.org/markup-compatibility/2006">
              <mc:Choice xmlns:v="urn:schemas-microsoft-com:vml" Requires="v">
                <p:oleObj spid="_x0000_s20691" name="Equation" r:id="rId6" imgW="1574640" imgH="736560" progId="Equation.DSMT4">
                  <p:embed/>
                </p:oleObj>
              </mc:Choice>
              <mc:Fallback>
                <p:oleObj name="Equation" r:id="rId6" imgW="1574640" imgH="736560" progId="Equation.DSMT4">
                  <p:embed/>
                  <p:pic>
                    <p:nvPicPr>
                      <p:cNvPr id="0" name=""/>
                      <p:cNvPicPr/>
                      <p:nvPr/>
                    </p:nvPicPr>
                    <p:blipFill>
                      <a:blip r:embed="rId7"/>
                      <a:stretch>
                        <a:fillRect/>
                      </a:stretch>
                    </p:blipFill>
                    <p:spPr>
                      <a:xfrm>
                        <a:off x="3875087" y="2598654"/>
                        <a:ext cx="1574800" cy="7366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FA71C590-DB6F-4A4D-9BC7-D40D895D1204}"/>
              </a:ext>
            </a:extLst>
          </p:cNvPr>
          <p:cNvGraphicFramePr>
            <a:graphicFrameLocks noChangeAspect="1"/>
          </p:cNvGraphicFramePr>
          <p:nvPr>
            <p:extLst>
              <p:ext uri="{D42A27DB-BD31-4B8C-83A1-F6EECF244321}">
                <p14:modId xmlns:p14="http://schemas.microsoft.com/office/powerpoint/2010/main" val="1937903066"/>
              </p:ext>
            </p:extLst>
          </p:nvPr>
        </p:nvGraphicFramePr>
        <p:xfrm>
          <a:off x="5684272" y="2591724"/>
          <a:ext cx="1574800" cy="736600"/>
        </p:xfrm>
        <a:graphic>
          <a:graphicData uri="http://schemas.openxmlformats.org/presentationml/2006/ole">
            <mc:AlternateContent xmlns:mc="http://schemas.openxmlformats.org/markup-compatibility/2006">
              <mc:Choice xmlns:v="urn:schemas-microsoft-com:vml" Requires="v">
                <p:oleObj spid="_x0000_s20692" name="Equation" r:id="rId8" imgW="1574640" imgH="736560" progId="Equation.DSMT4">
                  <p:embed/>
                </p:oleObj>
              </mc:Choice>
              <mc:Fallback>
                <p:oleObj name="Equation" r:id="rId8" imgW="1574640" imgH="736560" progId="Equation.DSMT4">
                  <p:embed/>
                  <p:pic>
                    <p:nvPicPr>
                      <p:cNvPr id="0" name=""/>
                      <p:cNvPicPr/>
                      <p:nvPr/>
                    </p:nvPicPr>
                    <p:blipFill>
                      <a:blip r:embed="rId9"/>
                      <a:stretch>
                        <a:fillRect/>
                      </a:stretch>
                    </p:blipFill>
                    <p:spPr>
                      <a:xfrm>
                        <a:off x="5684272" y="2591724"/>
                        <a:ext cx="1574800" cy="7366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B925F4B2-44D4-43F0-AEFE-13AC943ADD21}"/>
              </a:ext>
            </a:extLst>
          </p:cNvPr>
          <p:cNvGraphicFramePr>
            <a:graphicFrameLocks noChangeAspect="1"/>
          </p:cNvGraphicFramePr>
          <p:nvPr>
            <p:extLst>
              <p:ext uri="{D42A27DB-BD31-4B8C-83A1-F6EECF244321}">
                <p14:modId xmlns:p14="http://schemas.microsoft.com/office/powerpoint/2010/main" val="1475971339"/>
              </p:ext>
            </p:extLst>
          </p:nvPr>
        </p:nvGraphicFramePr>
        <p:xfrm>
          <a:off x="4771677" y="4137709"/>
          <a:ext cx="1460500" cy="355600"/>
        </p:xfrm>
        <a:graphic>
          <a:graphicData uri="http://schemas.openxmlformats.org/presentationml/2006/ole">
            <mc:AlternateContent xmlns:mc="http://schemas.openxmlformats.org/markup-compatibility/2006">
              <mc:Choice xmlns:v="urn:schemas-microsoft-com:vml" Requires="v">
                <p:oleObj spid="_x0000_s20693" name="Equation" r:id="rId10" imgW="1460160" imgH="355320" progId="Equation.DSMT4">
                  <p:embed/>
                </p:oleObj>
              </mc:Choice>
              <mc:Fallback>
                <p:oleObj name="Equation" r:id="rId10" imgW="1460160" imgH="355320" progId="Equation.DSMT4">
                  <p:embed/>
                  <p:pic>
                    <p:nvPicPr>
                      <p:cNvPr id="0" name=""/>
                      <p:cNvPicPr/>
                      <p:nvPr/>
                    </p:nvPicPr>
                    <p:blipFill>
                      <a:blip r:embed="rId11"/>
                      <a:stretch>
                        <a:fillRect/>
                      </a:stretch>
                    </p:blipFill>
                    <p:spPr>
                      <a:xfrm>
                        <a:off x="4771677" y="4137709"/>
                        <a:ext cx="1460500" cy="3556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A15980FB-9DDA-48B0-A45D-8883E9931E8F}"/>
              </a:ext>
            </a:extLst>
          </p:cNvPr>
          <p:cNvGraphicFramePr>
            <a:graphicFrameLocks noChangeAspect="1"/>
          </p:cNvGraphicFramePr>
          <p:nvPr>
            <p:extLst>
              <p:ext uri="{D42A27DB-BD31-4B8C-83A1-F6EECF244321}">
                <p14:modId xmlns:p14="http://schemas.microsoft.com/office/powerpoint/2010/main" val="4061911594"/>
              </p:ext>
            </p:extLst>
          </p:nvPr>
        </p:nvGraphicFramePr>
        <p:xfrm>
          <a:off x="4123592" y="4887170"/>
          <a:ext cx="3048000" cy="736600"/>
        </p:xfrm>
        <a:graphic>
          <a:graphicData uri="http://schemas.openxmlformats.org/presentationml/2006/ole">
            <mc:AlternateContent xmlns:mc="http://schemas.openxmlformats.org/markup-compatibility/2006">
              <mc:Choice xmlns:v="urn:schemas-microsoft-com:vml" Requires="v">
                <p:oleObj spid="_x0000_s20694" name="Equation" r:id="rId12" imgW="3047760" imgH="736560" progId="Equation.DSMT4">
                  <p:embed/>
                </p:oleObj>
              </mc:Choice>
              <mc:Fallback>
                <p:oleObj name="Equation" r:id="rId12" imgW="3047760" imgH="736560" progId="Equation.DSMT4">
                  <p:embed/>
                  <p:pic>
                    <p:nvPicPr>
                      <p:cNvPr id="0" name=""/>
                      <p:cNvPicPr/>
                      <p:nvPr/>
                    </p:nvPicPr>
                    <p:blipFill>
                      <a:blip r:embed="rId13"/>
                      <a:stretch>
                        <a:fillRect/>
                      </a:stretch>
                    </p:blipFill>
                    <p:spPr>
                      <a:xfrm>
                        <a:off x="4123592" y="4887170"/>
                        <a:ext cx="3048000" cy="7366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8027A13B-9511-4B29-800F-2F773956D5A9}"/>
              </a:ext>
            </a:extLst>
          </p:cNvPr>
          <p:cNvGraphicFramePr>
            <a:graphicFrameLocks noChangeAspect="1"/>
          </p:cNvGraphicFramePr>
          <p:nvPr>
            <p:extLst>
              <p:ext uri="{D42A27DB-BD31-4B8C-83A1-F6EECF244321}">
                <p14:modId xmlns:p14="http://schemas.microsoft.com/office/powerpoint/2010/main" val="1775497643"/>
              </p:ext>
            </p:extLst>
          </p:nvPr>
        </p:nvGraphicFramePr>
        <p:xfrm>
          <a:off x="3120292" y="6017631"/>
          <a:ext cx="5054600" cy="736600"/>
        </p:xfrm>
        <a:graphic>
          <a:graphicData uri="http://schemas.openxmlformats.org/presentationml/2006/ole">
            <mc:AlternateContent xmlns:mc="http://schemas.openxmlformats.org/markup-compatibility/2006">
              <mc:Choice xmlns:v="urn:schemas-microsoft-com:vml" Requires="v">
                <p:oleObj spid="_x0000_s20695" name="Equation" r:id="rId14" imgW="5054400" imgH="736560" progId="Equation.DSMT4">
                  <p:embed/>
                </p:oleObj>
              </mc:Choice>
              <mc:Fallback>
                <p:oleObj name="Equation" r:id="rId14" imgW="5054400" imgH="736560" progId="Equation.DSMT4">
                  <p:embed/>
                  <p:pic>
                    <p:nvPicPr>
                      <p:cNvPr id="0" name=""/>
                      <p:cNvPicPr/>
                      <p:nvPr/>
                    </p:nvPicPr>
                    <p:blipFill>
                      <a:blip r:embed="rId15"/>
                      <a:stretch>
                        <a:fillRect/>
                      </a:stretch>
                    </p:blipFill>
                    <p:spPr>
                      <a:xfrm>
                        <a:off x="3120292" y="6017631"/>
                        <a:ext cx="5054600" cy="736600"/>
                      </a:xfrm>
                      <a:prstGeom prst="rect">
                        <a:avLst/>
                      </a:prstGeom>
                    </p:spPr>
                  </p:pic>
                </p:oleObj>
              </mc:Fallback>
            </mc:AlternateContent>
          </a:graphicData>
        </a:graphic>
      </p:graphicFrame>
      <p:pic>
        <p:nvPicPr>
          <p:cNvPr id="38" name="Picture 2">
            <a:extLst>
              <a:ext uri="{FF2B5EF4-FFF2-40B4-BE49-F238E27FC236}">
                <a16:creationId xmlns:a16="http://schemas.microsoft.com/office/drawing/2014/main" id="{7188289B-165B-41A3-A8C2-4BF53D346CCD}"/>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67587" t="13732" b="49602"/>
          <a:stretch/>
        </p:blipFill>
        <p:spPr bwMode="auto">
          <a:xfrm>
            <a:off x="8756023" y="4032621"/>
            <a:ext cx="3118750" cy="2400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0735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Текст 9">
                <a:extLst>
                  <a:ext uri="{FF2B5EF4-FFF2-40B4-BE49-F238E27FC236}">
                    <a16:creationId xmlns:a16="http://schemas.microsoft.com/office/drawing/2014/main" id="{18B6051F-5062-B08B-6B69-0EAF50DEE65A}"/>
                  </a:ext>
                </a:extLst>
              </p:cNvPr>
              <p:cNvSpPr>
                <a:spLocks noGrp="1"/>
              </p:cNvSpPr>
              <p:nvPr>
                <p:ph type="body" sz="quarter" idx="14"/>
              </p:nvPr>
            </p:nvSpPr>
            <p:spPr>
              <a:xfrm>
                <a:off x="478824" y="1679240"/>
                <a:ext cx="11229974" cy="5029535"/>
              </a:xfrm>
            </p:spPr>
            <p:txBody>
              <a:bodyPr/>
              <a:lstStyle/>
              <a:p>
                <a:pPr algn="just"/>
                <a:r>
                  <a:rPr lang="ru-RU" dirty="0"/>
                  <a:t>Кинематические формулы для простейших случаев</a:t>
                </a:r>
                <a:r>
                  <a:rPr lang="en-US" dirty="0"/>
                  <a:t>:</a:t>
                </a:r>
              </a:p>
              <a:p>
                <a:pPr algn="just"/>
                <a:r>
                  <a:rPr lang="en-US" dirty="0"/>
                  <a:t>1. </a:t>
                </a:r>
                <a:r>
                  <a:rPr lang="ru-RU" dirty="0"/>
                  <a:t>Р</a:t>
                </a:r>
                <a:r>
                  <a:rPr lang="ru-RU" b="1" dirty="0"/>
                  <a:t>авномерное вращение</a:t>
                </a:r>
                <a:r>
                  <a:rPr lang="en-US" b="1" dirty="0">
                    <a:ea typeface="Cambria Math" panose="02040503050406030204" pitchFamily="18" charset="0"/>
                  </a:rPr>
                  <a:t> </a:t>
                </a:r>
                <a14:m>
                  <m:oMath xmlns:m="http://schemas.openxmlformats.org/officeDocument/2006/math">
                    <m:r>
                      <a:rPr lang="en-US" b="1" i="1">
                        <a:latin typeface="Cambria Math" panose="02040503050406030204" pitchFamily="18" charset="0"/>
                        <a:ea typeface="Cambria Math" panose="02040503050406030204" pitchFamily="18" charset="0"/>
                      </a:rPr>
                      <m:t>𝜺</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𝟎</m:t>
                    </m:r>
                  </m:oMath>
                </a14:m>
                <a:r>
                  <a:rPr lang="en-US" b="1" dirty="0"/>
                  <a:t>:</a:t>
                </a:r>
              </a:p>
              <a:p>
                <a:pPr algn="just"/>
                <a:endParaRPr lang="ru-RU" dirty="0"/>
              </a:p>
              <a:p>
                <a:endParaRPr lang="en-US" dirty="0"/>
              </a:p>
              <a:p>
                <a:r>
                  <a:rPr lang="en-US" dirty="0"/>
                  <a:t>2. </a:t>
                </a:r>
                <a:r>
                  <a:rPr lang="ru-RU" dirty="0"/>
                  <a:t>Равнопеременное вращение</a:t>
                </a:r>
                <a:r>
                  <a:rPr lang="en-US" dirty="0"/>
                  <a:t> </a:t>
                </a:r>
                <a14:m>
                  <m:oMath xmlns:m="http://schemas.openxmlformats.org/officeDocument/2006/math">
                    <m:r>
                      <a:rPr lang="en-US" b="1" i="1" smtClean="0">
                        <a:latin typeface="Cambria Math" panose="02040503050406030204" pitchFamily="18" charset="0"/>
                        <a:ea typeface="Cambria Math" panose="02040503050406030204" pitchFamily="18" charset="0"/>
                      </a:rPr>
                      <m:t>𝜺</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𝒄𝒐𝒏𝒔𝒕</m:t>
                    </m:r>
                  </m:oMath>
                </a14:m>
                <a:r>
                  <a:rPr lang="en-US" dirty="0"/>
                  <a:t>:</a:t>
                </a:r>
              </a:p>
              <a:p>
                <a:endParaRPr lang="en-US" dirty="0"/>
              </a:p>
              <a:p>
                <a:endParaRPr lang="ru-RU" dirty="0"/>
              </a:p>
              <a:p>
                <a:endParaRPr lang="ru-RU" altLang="en-US" b="1" dirty="0">
                  <a:solidFill>
                    <a:schemeClr val="accent5"/>
                  </a:solidFill>
                  <a:sym typeface="Symbol" panose="05050102010706020507" pitchFamily="18" charset="2"/>
                </a:endParaRPr>
              </a:p>
              <a:p>
                <a:endParaRPr lang="ru-RU" dirty="0"/>
              </a:p>
            </p:txBody>
          </p:sp>
        </mc:Choice>
        <mc:Fallback xmlns="">
          <p:sp>
            <p:nvSpPr>
              <p:cNvPr id="10" name="Текст 9">
                <a:extLst>
                  <a:ext uri="{FF2B5EF4-FFF2-40B4-BE49-F238E27FC236}">
                    <a16:creationId xmlns:a16="http://schemas.microsoft.com/office/drawing/2014/main" id="{18B6051F-5062-B08B-6B69-0EAF50DEE65A}"/>
                  </a:ext>
                </a:extLst>
              </p:cNvPr>
              <p:cNvSpPr>
                <a:spLocks noGrp="1" noRot="1" noChangeAspect="1" noMove="1" noResize="1" noEditPoints="1" noAdjustHandles="1" noChangeArrowheads="1" noChangeShapeType="1" noTextEdit="1"/>
              </p:cNvSpPr>
              <p:nvPr>
                <p:ph type="body" sz="quarter" idx="14"/>
              </p:nvPr>
            </p:nvSpPr>
            <p:spPr>
              <a:xfrm>
                <a:off x="478824" y="1679240"/>
                <a:ext cx="11229974" cy="5029535"/>
              </a:xfrm>
              <a:blipFill>
                <a:blip r:embed="rId3"/>
                <a:stretch>
                  <a:fillRect l="-869" t="-1574"/>
                </a:stretch>
              </a:blipFill>
            </p:spPr>
            <p:txBody>
              <a:bodyPr/>
              <a:lstStyle/>
              <a:p>
                <a:r>
                  <a:rPr lang="en-US">
                    <a:noFill/>
                  </a:rPr>
                  <a:t> </a:t>
                </a:r>
              </a:p>
            </p:txBody>
          </p:sp>
        </mc:Fallback>
      </mc:AlternateContent>
      <p:sp>
        <p:nvSpPr>
          <p:cNvPr id="14" name="Текст 13">
            <a:extLst>
              <a:ext uri="{FF2B5EF4-FFF2-40B4-BE49-F238E27FC236}">
                <a16:creationId xmlns:a16="http://schemas.microsoft.com/office/drawing/2014/main" id="{C4E4DC2F-E729-F3E2-59DC-8FCB366C2EFB}"/>
              </a:ext>
            </a:extLst>
          </p:cNvPr>
          <p:cNvSpPr>
            <a:spLocks noGrp="1"/>
          </p:cNvSpPr>
          <p:nvPr>
            <p:ph type="body" sz="quarter" idx="20"/>
          </p:nvPr>
        </p:nvSpPr>
        <p:spPr/>
        <p:txBody>
          <a:bodyPr/>
          <a:lstStyle/>
          <a:p>
            <a:r>
              <a:rPr lang="ru-RU" dirty="0"/>
              <a:t>Кинематика твёрдого тела</a:t>
            </a:r>
          </a:p>
        </p:txBody>
      </p:sp>
      <p:sp>
        <p:nvSpPr>
          <p:cNvPr id="3" name="Title 2">
            <a:extLst>
              <a:ext uri="{FF2B5EF4-FFF2-40B4-BE49-F238E27FC236}">
                <a16:creationId xmlns:a16="http://schemas.microsoft.com/office/drawing/2014/main" id="{D7E6C5FA-C2DB-4E1E-8969-8B9F45AE1E94}"/>
              </a:ext>
            </a:extLst>
          </p:cNvPr>
          <p:cNvSpPr>
            <a:spLocks noGrp="1"/>
          </p:cNvSpPr>
          <p:nvPr>
            <p:ph type="title"/>
          </p:nvPr>
        </p:nvSpPr>
        <p:spPr>
          <a:xfrm>
            <a:off x="479425" y="597857"/>
            <a:ext cx="11229975" cy="842742"/>
          </a:xfrm>
        </p:spPr>
        <p:txBody>
          <a:bodyPr/>
          <a:lstStyle/>
          <a:p>
            <a:r>
              <a:rPr lang="ru-RU" dirty="0"/>
              <a:t>Формулы для описания вращательного движения</a:t>
            </a:r>
            <a:endParaRPr lang="en-US" dirty="0"/>
          </a:p>
        </p:txBody>
      </p:sp>
      <p:sp>
        <p:nvSpPr>
          <p:cNvPr id="30" name="TextBox 29">
            <a:extLst>
              <a:ext uri="{FF2B5EF4-FFF2-40B4-BE49-F238E27FC236}">
                <a16:creationId xmlns:a16="http://schemas.microsoft.com/office/drawing/2014/main" id="{0AA95CAE-C2F3-4086-A219-C5226E806348}"/>
              </a:ext>
            </a:extLst>
          </p:cNvPr>
          <p:cNvSpPr txBox="1"/>
          <p:nvPr/>
        </p:nvSpPr>
        <p:spPr>
          <a:xfrm>
            <a:off x="10420350" y="2741588"/>
            <a:ext cx="812800" cy="369332"/>
          </a:xfrm>
          <a:prstGeom prst="rect">
            <a:avLst/>
          </a:prstGeom>
          <a:noFill/>
        </p:spPr>
        <p:txBody>
          <a:bodyPr wrap="square">
            <a:spAutoFit/>
          </a:bodyPr>
          <a:lstStyle/>
          <a:p>
            <a:r>
              <a:rPr lang="ru-RU" b="1" dirty="0">
                <a:cs typeface="Times New Roman" panose="02020603050405020304" pitchFamily="18" charset="0"/>
              </a:rPr>
              <a:t>(1</a:t>
            </a:r>
            <a:r>
              <a:rPr lang="en-US" b="1" dirty="0">
                <a:cs typeface="Times New Roman" panose="02020603050405020304" pitchFamily="18" charset="0"/>
              </a:rPr>
              <a:t>7</a:t>
            </a:r>
            <a:r>
              <a:rPr lang="ru-RU" b="1" dirty="0">
                <a:cs typeface="Times New Roman" panose="02020603050405020304" pitchFamily="18" charset="0"/>
              </a:rPr>
              <a:t>)</a:t>
            </a:r>
            <a:endParaRPr lang="en-US" dirty="0"/>
          </a:p>
        </p:txBody>
      </p:sp>
      <p:sp>
        <p:nvSpPr>
          <p:cNvPr id="34" name="TextBox 33">
            <a:extLst>
              <a:ext uri="{FF2B5EF4-FFF2-40B4-BE49-F238E27FC236}">
                <a16:creationId xmlns:a16="http://schemas.microsoft.com/office/drawing/2014/main" id="{4C9203EF-25AC-4715-8A23-947BD6AE8080}"/>
              </a:ext>
            </a:extLst>
          </p:cNvPr>
          <p:cNvSpPr txBox="1"/>
          <p:nvPr/>
        </p:nvSpPr>
        <p:spPr>
          <a:xfrm>
            <a:off x="10420350" y="4629389"/>
            <a:ext cx="812800" cy="369332"/>
          </a:xfrm>
          <a:prstGeom prst="rect">
            <a:avLst/>
          </a:prstGeom>
          <a:noFill/>
        </p:spPr>
        <p:txBody>
          <a:bodyPr wrap="square">
            <a:spAutoFit/>
          </a:bodyPr>
          <a:lstStyle/>
          <a:p>
            <a:r>
              <a:rPr lang="ru-RU" b="1" dirty="0">
                <a:cs typeface="Times New Roman" panose="02020603050405020304" pitchFamily="18" charset="0"/>
              </a:rPr>
              <a:t>(1</a:t>
            </a:r>
            <a:r>
              <a:rPr lang="en-US" b="1" dirty="0">
                <a:cs typeface="Times New Roman" panose="02020603050405020304" pitchFamily="18" charset="0"/>
              </a:rPr>
              <a:t>8</a:t>
            </a:r>
            <a:r>
              <a:rPr lang="ru-RU" b="1" dirty="0">
                <a:cs typeface="Times New Roman" panose="02020603050405020304" pitchFamily="18" charset="0"/>
              </a:rPr>
              <a:t>)</a:t>
            </a:r>
            <a:endParaRPr lang="en-US" dirty="0"/>
          </a:p>
        </p:txBody>
      </p:sp>
      <p:graphicFrame>
        <p:nvGraphicFramePr>
          <p:cNvPr id="4" name="Object 3">
            <a:extLst>
              <a:ext uri="{FF2B5EF4-FFF2-40B4-BE49-F238E27FC236}">
                <a16:creationId xmlns:a16="http://schemas.microsoft.com/office/drawing/2014/main" id="{A887F5B9-0A6B-47E7-8C01-6520EDAAFB73}"/>
              </a:ext>
            </a:extLst>
          </p:cNvPr>
          <p:cNvGraphicFramePr>
            <a:graphicFrameLocks noChangeAspect="1"/>
          </p:cNvGraphicFramePr>
          <p:nvPr>
            <p:extLst>
              <p:ext uri="{D42A27DB-BD31-4B8C-83A1-F6EECF244321}">
                <p14:modId xmlns:p14="http://schemas.microsoft.com/office/powerpoint/2010/main" val="2028965293"/>
              </p:ext>
            </p:extLst>
          </p:nvPr>
        </p:nvGraphicFramePr>
        <p:xfrm>
          <a:off x="5006245" y="2741588"/>
          <a:ext cx="1783792" cy="490952"/>
        </p:xfrm>
        <a:graphic>
          <a:graphicData uri="http://schemas.openxmlformats.org/presentationml/2006/ole">
            <mc:AlternateContent xmlns:mc="http://schemas.openxmlformats.org/markup-compatibility/2006">
              <mc:Choice xmlns:v="urn:schemas-microsoft-com:vml" Requires="v">
                <p:oleObj spid="_x0000_s17548" name="Equation" r:id="rId4" imgW="1384200" imgH="380880" progId="Equation.DSMT4">
                  <p:embed/>
                </p:oleObj>
              </mc:Choice>
              <mc:Fallback>
                <p:oleObj name="Equation" r:id="rId4" imgW="1384200" imgH="380880" progId="Equation.DSMT4">
                  <p:embed/>
                  <p:pic>
                    <p:nvPicPr>
                      <p:cNvPr id="0" name=""/>
                      <p:cNvPicPr/>
                      <p:nvPr/>
                    </p:nvPicPr>
                    <p:blipFill>
                      <a:blip r:embed="rId5"/>
                      <a:stretch>
                        <a:fillRect/>
                      </a:stretch>
                    </p:blipFill>
                    <p:spPr>
                      <a:xfrm>
                        <a:off x="5006245" y="2741588"/>
                        <a:ext cx="1783792" cy="490952"/>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65620F7C-6766-41F1-B873-5FBE332844E4}"/>
              </a:ext>
            </a:extLst>
          </p:cNvPr>
          <p:cNvGraphicFramePr>
            <a:graphicFrameLocks noChangeAspect="1"/>
          </p:cNvGraphicFramePr>
          <p:nvPr>
            <p:extLst>
              <p:ext uri="{D42A27DB-BD31-4B8C-83A1-F6EECF244321}">
                <p14:modId xmlns:p14="http://schemas.microsoft.com/office/powerpoint/2010/main" val="3349827861"/>
              </p:ext>
            </p:extLst>
          </p:nvPr>
        </p:nvGraphicFramePr>
        <p:xfrm>
          <a:off x="5018602" y="4109293"/>
          <a:ext cx="1889682" cy="520096"/>
        </p:xfrm>
        <a:graphic>
          <a:graphicData uri="http://schemas.openxmlformats.org/presentationml/2006/ole">
            <mc:AlternateContent xmlns:mc="http://schemas.openxmlformats.org/markup-compatibility/2006">
              <mc:Choice xmlns:v="urn:schemas-microsoft-com:vml" Requires="v">
                <p:oleObj spid="_x0000_s17549" name="Equation" r:id="rId6" imgW="1384200" imgH="380880" progId="Equation.DSMT4">
                  <p:embed/>
                </p:oleObj>
              </mc:Choice>
              <mc:Fallback>
                <p:oleObj name="Equation" r:id="rId6" imgW="1384200" imgH="380880" progId="Equation.DSMT4">
                  <p:embed/>
                  <p:pic>
                    <p:nvPicPr>
                      <p:cNvPr id="0" name=""/>
                      <p:cNvPicPr/>
                      <p:nvPr/>
                    </p:nvPicPr>
                    <p:blipFill>
                      <a:blip r:embed="rId7"/>
                      <a:stretch>
                        <a:fillRect/>
                      </a:stretch>
                    </p:blipFill>
                    <p:spPr>
                      <a:xfrm>
                        <a:off x="5018602" y="4109293"/>
                        <a:ext cx="1889682" cy="520096"/>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18D0C8B9-803C-4BCB-B3CF-D3F40E879A70}"/>
              </a:ext>
            </a:extLst>
          </p:cNvPr>
          <p:cNvGraphicFramePr>
            <a:graphicFrameLocks noChangeAspect="1"/>
          </p:cNvGraphicFramePr>
          <p:nvPr>
            <p:extLst>
              <p:ext uri="{D42A27DB-BD31-4B8C-83A1-F6EECF244321}">
                <p14:modId xmlns:p14="http://schemas.microsoft.com/office/powerpoint/2010/main" val="1342842230"/>
              </p:ext>
            </p:extLst>
          </p:nvPr>
        </p:nvGraphicFramePr>
        <p:xfrm>
          <a:off x="5001611" y="4896094"/>
          <a:ext cx="2630912" cy="917760"/>
        </p:xfrm>
        <a:graphic>
          <a:graphicData uri="http://schemas.openxmlformats.org/presentationml/2006/ole">
            <mc:AlternateContent xmlns:mc="http://schemas.openxmlformats.org/markup-compatibility/2006">
              <mc:Choice xmlns:v="urn:schemas-microsoft-com:vml" Requires="v">
                <p:oleObj spid="_x0000_s17550" name="Equation" r:id="rId8" imgW="2184120" imgH="761760" progId="Equation.DSMT4">
                  <p:embed/>
                </p:oleObj>
              </mc:Choice>
              <mc:Fallback>
                <p:oleObj name="Equation" r:id="rId8" imgW="2184120" imgH="761760" progId="Equation.DSMT4">
                  <p:embed/>
                  <p:pic>
                    <p:nvPicPr>
                      <p:cNvPr id="0" name=""/>
                      <p:cNvPicPr/>
                      <p:nvPr/>
                    </p:nvPicPr>
                    <p:blipFill>
                      <a:blip r:embed="rId9"/>
                      <a:stretch>
                        <a:fillRect/>
                      </a:stretch>
                    </p:blipFill>
                    <p:spPr>
                      <a:xfrm>
                        <a:off x="5001611" y="4896094"/>
                        <a:ext cx="2630912" cy="917760"/>
                      </a:xfrm>
                      <a:prstGeom prst="rect">
                        <a:avLst/>
                      </a:prstGeom>
                    </p:spPr>
                  </p:pic>
                </p:oleObj>
              </mc:Fallback>
            </mc:AlternateContent>
          </a:graphicData>
        </a:graphic>
      </p:graphicFrame>
    </p:spTree>
    <p:extLst>
      <p:ext uri="{BB962C8B-B14F-4D97-AF65-F5344CB8AC3E}">
        <p14:creationId xmlns:p14="http://schemas.microsoft.com/office/powerpoint/2010/main" val="1691826131"/>
      </p:ext>
    </p:extLst>
  </p:cSld>
  <p:clrMapOvr>
    <a:masterClrMapping/>
  </p:clrMapOvr>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
        <a:cs typeface=""/>
      </a:majorFont>
      <a:minorFont>
        <a:latin typeface="Montserra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oAutofit/>
      </a:bodyPr>
      <a:lstStyle>
        <a:defPPr algn="l">
          <a:defRPr dirty="0">
            <a:latin typeface="Montserrat SemiBold" panose="00000700000000000000" pitchFamily="2" charset="-5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20031</TotalTime>
  <Words>1784</Words>
  <Application>Microsoft Office PowerPoint</Application>
  <PresentationFormat>Широкоэкранный</PresentationFormat>
  <Paragraphs>255</Paragraphs>
  <Slides>29</Slides>
  <Notes>17</Notes>
  <HiddenSlides>0</HiddenSlides>
  <MMClips>0</MMClips>
  <ScaleCrop>false</ScaleCrop>
  <HeadingPairs>
    <vt:vector size="8" baseType="variant">
      <vt:variant>
        <vt:lpstr>Использованные шрифты</vt:lpstr>
      </vt:variant>
      <vt:variant>
        <vt:i4>6</vt:i4>
      </vt:variant>
      <vt:variant>
        <vt:lpstr>Тема</vt:lpstr>
      </vt:variant>
      <vt:variant>
        <vt:i4>1</vt:i4>
      </vt:variant>
      <vt:variant>
        <vt:lpstr>Внедренные серверы OLE</vt:lpstr>
      </vt:variant>
      <vt:variant>
        <vt:i4>1</vt:i4>
      </vt:variant>
      <vt:variant>
        <vt:lpstr>Заголовки слайдов</vt:lpstr>
      </vt:variant>
      <vt:variant>
        <vt:i4>29</vt:i4>
      </vt:variant>
    </vt:vector>
  </HeadingPairs>
  <TitlesOfParts>
    <vt:vector size="37" baseType="lpstr">
      <vt:lpstr>Cambria Math</vt:lpstr>
      <vt:lpstr>Times New Roman</vt:lpstr>
      <vt:lpstr>Calibri</vt:lpstr>
      <vt:lpstr>Montserrat SemiBold</vt:lpstr>
      <vt:lpstr>Montserrat</vt:lpstr>
      <vt:lpstr>Arial</vt:lpstr>
      <vt:lpstr>Тема Office</vt:lpstr>
      <vt:lpstr>Equation</vt:lpstr>
      <vt:lpstr>1. Введение. Физика как наука о природе</vt:lpstr>
      <vt:lpstr>Понятие физики</vt:lpstr>
      <vt:lpstr>2. Механика Кинематика </vt:lpstr>
      <vt:lpstr>Понятие механики, основные модели.</vt:lpstr>
      <vt:lpstr>Презентация PowerPoint</vt:lpstr>
      <vt:lpstr>Презентация PowerPoint</vt:lpstr>
      <vt:lpstr>Презентация PowerPoint</vt:lpstr>
      <vt:lpstr>Основные понятия кинематики</vt:lpstr>
      <vt:lpstr>Системы координат</vt:lpstr>
      <vt:lpstr>Уравнения движения</vt:lpstr>
      <vt:lpstr>Презентация PowerPoint</vt:lpstr>
      <vt:lpstr>Презентация PowerPoint</vt:lpstr>
      <vt:lpstr>Кинематика материальной точки.  Путь и перемещение </vt:lpstr>
      <vt:lpstr>Презентация PowerPoint</vt:lpstr>
      <vt:lpstr>Презентация PowerPoint</vt:lpstr>
      <vt:lpstr>Скорость</vt:lpstr>
      <vt:lpstr>Мгновенная скорость</vt:lpstr>
      <vt:lpstr>Путь </vt:lpstr>
      <vt:lpstr>Геометрическая интерпретация</vt:lpstr>
      <vt:lpstr>Ускорение</vt:lpstr>
      <vt:lpstr>Презентация PowerPoint</vt:lpstr>
      <vt:lpstr>Вывод уравнения для нормальной компоненты</vt:lpstr>
      <vt:lpstr>Обратная задача кинематики</vt:lpstr>
      <vt:lpstr>Кинематика твердого тела</vt:lpstr>
      <vt:lpstr>Вращательное движение вокруг оси</vt:lpstr>
      <vt:lpstr>Угловая скорость</vt:lpstr>
      <vt:lpstr>Угловое ускорение</vt:lpstr>
      <vt:lpstr>Связь линейных и угловых характеристик</vt:lpstr>
      <vt:lpstr>Формулы для описания вращательного движения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 [v4]</dc:creator>
  <cp:lastModifiedBy>Катя .</cp:lastModifiedBy>
  <cp:revision>124</cp:revision>
  <dcterms:created xsi:type="dcterms:W3CDTF">2023-04-19T21:39:12Z</dcterms:created>
  <dcterms:modified xsi:type="dcterms:W3CDTF">2026-09-16T09:02:31Z</dcterms:modified>
</cp:coreProperties>
</file>